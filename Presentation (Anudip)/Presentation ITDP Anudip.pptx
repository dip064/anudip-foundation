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00"/>
  </p:notesMasterIdLst>
  <p:sldIdLst>
    <p:sldId id="256" r:id="rId2"/>
    <p:sldId id="282"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356"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58" r:id="rId74"/>
    <p:sldId id="327" r:id="rId75"/>
    <p:sldId id="332" r:id="rId76"/>
    <p:sldId id="329" r:id="rId77"/>
    <p:sldId id="330" r:id="rId78"/>
    <p:sldId id="357" r:id="rId79"/>
    <p:sldId id="331"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90" autoAdjust="0"/>
    <p:restoredTop sz="92015" autoAdjust="0"/>
  </p:normalViewPr>
  <p:slideViewPr>
    <p:cSldViewPr snapToGrid="0">
      <p:cViewPr>
        <p:scale>
          <a:sx n="79" d="100"/>
          <a:sy n="79" d="100"/>
        </p:scale>
        <p:origin x="667"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A3C1E9-26E3-47E9-ABE3-C4CCD0BBCF57}" type="datetimeFigureOut">
              <a:rPr lang="en-US" smtClean="0"/>
              <a:t>5/11/2026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076829-C24E-41F4-AE24-67DAAD6FD20F}" type="slidenum">
              <a:rPr lang="en-US" smtClean="0"/>
              <a:t>‹#›</a:t>
            </a:fld>
            <a:endParaRPr lang="en-US"/>
          </a:p>
        </p:txBody>
      </p:sp>
    </p:spTree>
    <p:extLst>
      <p:ext uri="{BB962C8B-B14F-4D97-AF65-F5344CB8AC3E}">
        <p14:creationId xmlns:p14="http://schemas.microsoft.com/office/powerpoint/2010/main" val="542745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to IT and Business Systems</a:t>
            </a:r>
          </a:p>
          <a:p>
            <a:endParaRPr lang="en-US" dirty="0"/>
          </a:p>
        </p:txBody>
      </p:sp>
      <p:sp>
        <p:nvSpPr>
          <p:cNvPr id="4" name="Slide Number Placeholder 3"/>
          <p:cNvSpPr>
            <a:spLocks noGrp="1"/>
          </p:cNvSpPr>
          <p:nvPr>
            <p:ph type="sldNum" sz="quarter" idx="5"/>
          </p:nvPr>
        </p:nvSpPr>
        <p:spPr/>
        <p:txBody>
          <a:bodyPr/>
          <a:lstStyle/>
          <a:p>
            <a:fld id="{C0076829-C24E-41F4-AE24-67DAAD6FD20F}" type="slidenum">
              <a:rPr lang="en-US" smtClean="0"/>
              <a:t>2</a:t>
            </a:fld>
            <a:endParaRPr lang="en-US"/>
          </a:p>
        </p:txBody>
      </p:sp>
    </p:spTree>
    <p:extLst>
      <p:ext uri="{BB962C8B-B14F-4D97-AF65-F5344CB8AC3E}">
        <p14:creationId xmlns:p14="http://schemas.microsoft.com/office/powerpoint/2010/main" val="1323099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Fundamentals of Information Technology	</a:t>
            </a:r>
          </a:p>
          <a:p>
            <a:r>
              <a:rPr lang="en-US" dirty="0"/>
              <a:t>https://www.ninjaone.com/blog/information-technology-it-fundamentals-core-concepts/</a:t>
            </a:r>
          </a:p>
        </p:txBody>
      </p:sp>
      <p:sp>
        <p:nvSpPr>
          <p:cNvPr id="4" name="Slide Number Placeholder 3"/>
          <p:cNvSpPr>
            <a:spLocks noGrp="1"/>
          </p:cNvSpPr>
          <p:nvPr>
            <p:ph type="sldNum" sz="quarter" idx="5"/>
          </p:nvPr>
        </p:nvSpPr>
        <p:spPr/>
        <p:txBody>
          <a:bodyPr/>
          <a:lstStyle/>
          <a:p>
            <a:fld id="{C0076829-C24E-41F4-AE24-67DAAD6FD20F}" type="slidenum">
              <a:rPr lang="en-US" smtClean="0"/>
              <a:t>3</a:t>
            </a:fld>
            <a:endParaRPr lang="en-US"/>
          </a:p>
        </p:txBody>
      </p:sp>
    </p:spTree>
    <p:extLst>
      <p:ext uri="{BB962C8B-B14F-4D97-AF65-F5344CB8AC3E}">
        <p14:creationId xmlns:p14="http://schemas.microsoft.com/office/powerpoint/2010/main" val="383697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Fundamentals of Information Technology	</a:t>
            </a:r>
          </a:p>
          <a:p>
            <a:r>
              <a:rPr lang="en-US" dirty="0"/>
              <a:t>https://www.ninjaone.com/blog/information-technology-it-fundamentals-core-concepts/</a:t>
            </a:r>
          </a:p>
        </p:txBody>
      </p:sp>
      <p:sp>
        <p:nvSpPr>
          <p:cNvPr id="4" name="Slide Number Placeholder 3"/>
          <p:cNvSpPr>
            <a:spLocks noGrp="1"/>
          </p:cNvSpPr>
          <p:nvPr>
            <p:ph type="sldNum" sz="quarter" idx="5"/>
          </p:nvPr>
        </p:nvSpPr>
        <p:spPr/>
        <p:txBody>
          <a:bodyPr/>
          <a:lstStyle/>
          <a:p>
            <a:fld id="{C0076829-C24E-41F4-AE24-67DAAD6FD20F}" type="slidenum">
              <a:rPr lang="en-US" smtClean="0"/>
              <a:t>4</a:t>
            </a:fld>
            <a:endParaRPr lang="en-US"/>
          </a:p>
        </p:txBody>
      </p:sp>
    </p:spTree>
    <p:extLst>
      <p:ext uri="{BB962C8B-B14F-4D97-AF65-F5344CB8AC3E}">
        <p14:creationId xmlns:p14="http://schemas.microsoft.com/office/powerpoint/2010/main" val="17082207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Fundamentals of Information Technology	</a:t>
            </a:r>
          </a:p>
          <a:p>
            <a:r>
              <a:rPr lang="en-US" dirty="0"/>
              <a:t>https://www.ninjaone.com/blog/information-technology-it-fundamentals-core-concepts/</a:t>
            </a:r>
          </a:p>
        </p:txBody>
      </p:sp>
      <p:sp>
        <p:nvSpPr>
          <p:cNvPr id="4" name="Slide Number Placeholder 3"/>
          <p:cNvSpPr>
            <a:spLocks noGrp="1"/>
          </p:cNvSpPr>
          <p:nvPr>
            <p:ph type="sldNum" sz="quarter" idx="5"/>
          </p:nvPr>
        </p:nvSpPr>
        <p:spPr/>
        <p:txBody>
          <a:bodyPr/>
          <a:lstStyle/>
          <a:p>
            <a:fld id="{C0076829-C24E-41F4-AE24-67DAAD6FD20F}" type="slidenum">
              <a:rPr lang="en-US" smtClean="0"/>
              <a:t>5</a:t>
            </a:fld>
            <a:endParaRPr lang="en-US"/>
          </a:p>
        </p:txBody>
      </p:sp>
    </p:spTree>
    <p:extLst>
      <p:ext uri="{BB962C8B-B14F-4D97-AF65-F5344CB8AC3E}">
        <p14:creationId xmlns:p14="http://schemas.microsoft.com/office/powerpoint/2010/main" val="13939838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of IT in Business Operations	</a:t>
            </a:r>
          </a:p>
          <a:p>
            <a:r>
              <a:rPr lang="en-US" dirty="0"/>
              <a:t>https://www.mzuonline.in/blog/the-role-of-information-technology-in-modern-business.html</a:t>
            </a:r>
          </a:p>
        </p:txBody>
      </p:sp>
      <p:sp>
        <p:nvSpPr>
          <p:cNvPr id="4" name="Slide Number Placeholder 3"/>
          <p:cNvSpPr>
            <a:spLocks noGrp="1"/>
          </p:cNvSpPr>
          <p:nvPr>
            <p:ph type="sldNum" sz="quarter" idx="5"/>
          </p:nvPr>
        </p:nvSpPr>
        <p:spPr/>
        <p:txBody>
          <a:bodyPr/>
          <a:lstStyle/>
          <a:p>
            <a:fld id="{C0076829-C24E-41F4-AE24-67DAAD6FD20F}" type="slidenum">
              <a:rPr lang="en-US" smtClean="0"/>
              <a:t>6</a:t>
            </a:fld>
            <a:endParaRPr lang="en-US"/>
          </a:p>
        </p:txBody>
      </p:sp>
    </p:spTree>
    <p:extLst>
      <p:ext uri="{BB962C8B-B14F-4D97-AF65-F5344CB8AC3E}">
        <p14:creationId xmlns:p14="http://schemas.microsoft.com/office/powerpoint/2010/main" val="25096086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of IT in Business Operations	</a:t>
            </a:r>
          </a:p>
          <a:p>
            <a:r>
              <a:rPr lang="en-US" dirty="0"/>
              <a:t>https://www.mzuonline.in/blog/the-role-of-information-technology-in-modern-business.html</a:t>
            </a:r>
          </a:p>
        </p:txBody>
      </p:sp>
      <p:sp>
        <p:nvSpPr>
          <p:cNvPr id="4" name="Slide Number Placeholder 3"/>
          <p:cNvSpPr>
            <a:spLocks noGrp="1"/>
          </p:cNvSpPr>
          <p:nvPr>
            <p:ph type="sldNum" sz="quarter" idx="5"/>
          </p:nvPr>
        </p:nvSpPr>
        <p:spPr/>
        <p:txBody>
          <a:bodyPr/>
          <a:lstStyle/>
          <a:p>
            <a:fld id="{C0076829-C24E-41F4-AE24-67DAAD6FD20F}" type="slidenum">
              <a:rPr lang="en-US" smtClean="0"/>
              <a:t>7</a:t>
            </a:fld>
            <a:endParaRPr lang="en-US"/>
          </a:p>
        </p:txBody>
      </p:sp>
    </p:spTree>
    <p:extLst>
      <p:ext uri="{BB962C8B-B14F-4D97-AF65-F5344CB8AC3E}">
        <p14:creationId xmlns:p14="http://schemas.microsoft.com/office/powerpoint/2010/main" val="34873194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of IT in Business Operations	</a:t>
            </a:r>
          </a:p>
          <a:p>
            <a:r>
              <a:rPr lang="en-US" dirty="0"/>
              <a:t>https://www.mzuonline.in/blog/the-role-of-information-technology-in-modern-business.html</a:t>
            </a:r>
          </a:p>
        </p:txBody>
      </p:sp>
      <p:sp>
        <p:nvSpPr>
          <p:cNvPr id="4" name="Slide Number Placeholder 3"/>
          <p:cNvSpPr>
            <a:spLocks noGrp="1"/>
          </p:cNvSpPr>
          <p:nvPr>
            <p:ph type="sldNum" sz="quarter" idx="5"/>
          </p:nvPr>
        </p:nvSpPr>
        <p:spPr/>
        <p:txBody>
          <a:bodyPr/>
          <a:lstStyle/>
          <a:p>
            <a:fld id="{C0076829-C24E-41F4-AE24-67DAAD6FD20F}" type="slidenum">
              <a:rPr lang="en-US" smtClean="0"/>
              <a:t>8</a:t>
            </a:fld>
            <a:endParaRPr lang="en-US"/>
          </a:p>
        </p:txBody>
      </p:sp>
    </p:spTree>
    <p:extLst>
      <p:ext uri="{BB962C8B-B14F-4D97-AF65-F5344CB8AC3E}">
        <p14:creationId xmlns:p14="http://schemas.microsoft.com/office/powerpoint/2010/main" val="16389768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Business Systems (e.g., ERP, CRM)</a:t>
            </a:r>
          </a:p>
          <a:p>
            <a:r>
              <a:rPr lang="en-US" dirty="0"/>
              <a:t>https://www.investopedia.com/terms/e/erp.asp</a:t>
            </a:r>
          </a:p>
        </p:txBody>
      </p:sp>
      <p:sp>
        <p:nvSpPr>
          <p:cNvPr id="4" name="Slide Number Placeholder 3"/>
          <p:cNvSpPr>
            <a:spLocks noGrp="1"/>
          </p:cNvSpPr>
          <p:nvPr>
            <p:ph type="sldNum" sz="quarter" idx="5"/>
          </p:nvPr>
        </p:nvSpPr>
        <p:spPr/>
        <p:txBody>
          <a:bodyPr/>
          <a:lstStyle/>
          <a:p>
            <a:fld id="{C0076829-C24E-41F4-AE24-67DAAD6FD20F}" type="slidenum">
              <a:rPr lang="en-US" smtClean="0"/>
              <a:t>9</a:t>
            </a:fld>
            <a:endParaRPr lang="en-US"/>
          </a:p>
        </p:txBody>
      </p:sp>
    </p:spTree>
    <p:extLst>
      <p:ext uri="{BB962C8B-B14F-4D97-AF65-F5344CB8AC3E}">
        <p14:creationId xmlns:p14="http://schemas.microsoft.com/office/powerpoint/2010/main" val="38718089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Business Systems (e.g., ERP, CRM)</a:t>
            </a:r>
          </a:p>
          <a:p>
            <a:r>
              <a:rPr lang="en-US" dirty="0"/>
              <a:t>https://www.investopedia.com/terms/e/erp.asp</a:t>
            </a:r>
          </a:p>
          <a:p>
            <a:endParaRPr lang="en-US" dirty="0"/>
          </a:p>
        </p:txBody>
      </p:sp>
      <p:sp>
        <p:nvSpPr>
          <p:cNvPr id="4" name="Slide Number Placeholder 3"/>
          <p:cNvSpPr>
            <a:spLocks noGrp="1"/>
          </p:cNvSpPr>
          <p:nvPr>
            <p:ph type="sldNum" sz="quarter" idx="5"/>
          </p:nvPr>
        </p:nvSpPr>
        <p:spPr/>
        <p:txBody>
          <a:bodyPr/>
          <a:lstStyle/>
          <a:p>
            <a:fld id="{C0076829-C24E-41F4-AE24-67DAAD6FD20F}" type="slidenum">
              <a:rPr lang="en-US" smtClean="0"/>
              <a:t>10</a:t>
            </a:fld>
            <a:endParaRPr lang="en-US"/>
          </a:p>
        </p:txBody>
      </p:sp>
    </p:spTree>
    <p:extLst>
      <p:ext uri="{BB962C8B-B14F-4D97-AF65-F5344CB8AC3E}">
        <p14:creationId xmlns:p14="http://schemas.microsoft.com/office/powerpoint/2010/main" val="34990580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Business Systems (e.g., ERP, CRM)</a:t>
            </a:r>
          </a:p>
          <a:p>
            <a:r>
              <a:rPr lang="en-US" dirty="0"/>
              <a:t>https://www.investopedia.com/terms/e/erp.asp</a:t>
            </a:r>
          </a:p>
          <a:p>
            <a:endParaRPr lang="en-US" dirty="0"/>
          </a:p>
        </p:txBody>
      </p:sp>
      <p:sp>
        <p:nvSpPr>
          <p:cNvPr id="4" name="Slide Number Placeholder 3"/>
          <p:cNvSpPr>
            <a:spLocks noGrp="1"/>
          </p:cNvSpPr>
          <p:nvPr>
            <p:ph type="sldNum" sz="quarter" idx="5"/>
          </p:nvPr>
        </p:nvSpPr>
        <p:spPr/>
        <p:txBody>
          <a:bodyPr/>
          <a:lstStyle/>
          <a:p>
            <a:fld id="{C0076829-C24E-41F4-AE24-67DAAD6FD20F}" type="slidenum">
              <a:rPr lang="en-US" smtClean="0"/>
              <a:t>11</a:t>
            </a:fld>
            <a:endParaRPr lang="en-US"/>
          </a:p>
        </p:txBody>
      </p:sp>
    </p:spTree>
    <p:extLst>
      <p:ext uri="{BB962C8B-B14F-4D97-AF65-F5344CB8AC3E}">
        <p14:creationId xmlns:p14="http://schemas.microsoft.com/office/powerpoint/2010/main" val="40484207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Interplay between IT and Business Strategy</a:t>
            </a:r>
          </a:p>
          <a:p>
            <a:r>
              <a:rPr lang="en-US" dirty="0"/>
              <a:t>https://www.researchgate.net/publication/254776573_The_Relationship_between_Business_Strategy_IT_Strategy_and_Alignment_Capability</a:t>
            </a:r>
          </a:p>
        </p:txBody>
      </p:sp>
      <p:sp>
        <p:nvSpPr>
          <p:cNvPr id="4" name="Slide Number Placeholder 3"/>
          <p:cNvSpPr>
            <a:spLocks noGrp="1"/>
          </p:cNvSpPr>
          <p:nvPr>
            <p:ph type="sldNum" sz="quarter" idx="5"/>
          </p:nvPr>
        </p:nvSpPr>
        <p:spPr/>
        <p:txBody>
          <a:bodyPr/>
          <a:lstStyle/>
          <a:p>
            <a:fld id="{C0076829-C24E-41F4-AE24-67DAAD6FD20F}" type="slidenum">
              <a:rPr lang="en-US" smtClean="0"/>
              <a:t>12</a:t>
            </a:fld>
            <a:endParaRPr lang="en-US"/>
          </a:p>
        </p:txBody>
      </p:sp>
    </p:spTree>
    <p:extLst>
      <p:ext uri="{BB962C8B-B14F-4D97-AF65-F5344CB8AC3E}">
        <p14:creationId xmlns:p14="http://schemas.microsoft.com/office/powerpoint/2010/main" val="22005233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Interplay between IT and Business Strategy</a:t>
            </a:r>
          </a:p>
          <a:p>
            <a:r>
              <a:rPr lang="en-US" dirty="0"/>
              <a:t>https://www.researchgate.net/publication/254776573_The_Relationship_between_Business_Strategy_IT_Strategy_and_Alignment_Capability</a:t>
            </a:r>
          </a:p>
          <a:p>
            <a:endParaRPr lang="en-US" dirty="0"/>
          </a:p>
        </p:txBody>
      </p:sp>
      <p:sp>
        <p:nvSpPr>
          <p:cNvPr id="4" name="Slide Number Placeholder 3"/>
          <p:cNvSpPr>
            <a:spLocks noGrp="1"/>
          </p:cNvSpPr>
          <p:nvPr>
            <p:ph type="sldNum" sz="quarter" idx="5"/>
          </p:nvPr>
        </p:nvSpPr>
        <p:spPr/>
        <p:txBody>
          <a:bodyPr/>
          <a:lstStyle/>
          <a:p>
            <a:fld id="{C0076829-C24E-41F4-AE24-67DAAD6FD20F}" type="slidenum">
              <a:rPr lang="en-US" smtClean="0"/>
              <a:t>13</a:t>
            </a:fld>
            <a:endParaRPr lang="en-US"/>
          </a:p>
        </p:txBody>
      </p:sp>
    </p:spTree>
    <p:extLst>
      <p:ext uri="{BB962C8B-B14F-4D97-AF65-F5344CB8AC3E}">
        <p14:creationId xmlns:p14="http://schemas.microsoft.com/office/powerpoint/2010/main" val="14761475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Interplay between IT and Business Strategy</a:t>
            </a:r>
          </a:p>
          <a:p>
            <a:r>
              <a:rPr lang="en-US" dirty="0"/>
              <a:t>https://www.researchgate.net/publication/254776573_The_Relationship_between_Business_Strategy_IT_Strategy_and_Alignment_Capability</a:t>
            </a:r>
          </a:p>
          <a:p>
            <a:endParaRPr lang="en-US" dirty="0"/>
          </a:p>
        </p:txBody>
      </p:sp>
      <p:sp>
        <p:nvSpPr>
          <p:cNvPr id="4" name="Slide Number Placeholder 3"/>
          <p:cNvSpPr>
            <a:spLocks noGrp="1"/>
          </p:cNvSpPr>
          <p:nvPr>
            <p:ph type="sldNum" sz="quarter" idx="5"/>
          </p:nvPr>
        </p:nvSpPr>
        <p:spPr/>
        <p:txBody>
          <a:bodyPr/>
          <a:lstStyle/>
          <a:p>
            <a:fld id="{C0076829-C24E-41F4-AE24-67DAAD6FD20F}" type="slidenum">
              <a:rPr lang="en-US" smtClean="0"/>
              <a:t>14</a:t>
            </a:fld>
            <a:endParaRPr lang="en-US"/>
          </a:p>
        </p:txBody>
      </p:sp>
    </p:spTree>
    <p:extLst>
      <p:ext uri="{BB962C8B-B14F-4D97-AF65-F5344CB8AC3E}">
        <p14:creationId xmlns:p14="http://schemas.microsoft.com/office/powerpoint/2010/main" val="12484414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Types, Sources, and Lifecycle</a:t>
            </a:r>
          </a:p>
          <a:p>
            <a:endParaRPr lang="en-US" dirty="0"/>
          </a:p>
        </p:txBody>
      </p:sp>
      <p:sp>
        <p:nvSpPr>
          <p:cNvPr id="4" name="Slide Number Placeholder 3"/>
          <p:cNvSpPr>
            <a:spLocks noGrp="1"/>
          </p:cNvSpPr>
          <p:nvPr>
            <p:ph type="sldNum" sz="quarter" idx="5"/>
          </p:nvPr>
        </p:nvSpPr>
        <p:spPr/>
        <p:txBody>
          <a:bodyPr/>
          <a:lstStyle/>
          <a:p>
            <a:fld id="{C0076829-C24E-41F4-AE24-67DAAD6FD20F}" type="slidenum">
              <a:rPr lang="en-US" smtClean="0"/>
              <a:t>15</a:t>
            </a:fld>
            <a:endParaRPr lang="en-US"/>
          </a:p>
        </p:txBody>
      </p:sp>
    </p:spTree>
    <p:extLst>
      <p:ext uri="{BB962C8B-B14F-4D97-AF65-F5344CB8AC3E}">
        <p14:creationId xmlns:p14="http://schemas.microsoft.com/office/powerpoint/2010/main" val="8909282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Types, Sources, and Lifecycle</a:t>
            </a:r>
          </a:p>
          <a:p>
            <a:endParaRPr lang="en-US" dirty="0"/>
          </a:p>
        </p:txBody>
      </p:sp>
      <p:sp>
        <p:nvSpPr>
          <p:cNvPr id="4" name="Slide Number Placeholder 3"/>
          <p:cNvSpPr>
            <a:spLocks noGrp="1"/>
          </p:cNvSpPr>
          <p:nvPr>
            <p:ph type="sldNum" sz="quarter" idx="5"/>
          </p:nvPr>
        </p:nvSpPr>
        <p:spPr/>
        <p:txBody>
          <a:bodyPr/>
          <a:lstStyle/>
          <a:p>
            <a:fld id="{C0076829-C24E-41F4-AE24-67DAAD6FD20F}" type="slidenum">
              <a:rPr lang="en-US" smtClean="0"/>
              <a:t>16</a:t>
            </a:fld>
            <a:endParaRPr lang="en-US"/>
          </a:p>
        </p:txBody>
      </p:sp>
    </p:spTree>
    <p:extLst>
      <p:ext uri="{BB962C8B-B14F-4D97-AF65-F5344CB8AC3E}">
        <p14:creationId xmlns:p14="http://schemas.microsoft.com/office/powerpoint/2010/main" val="34866400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Understanding Different Data Types (Structured, Unstructured, Semi-structured)</a:t>
            </a:r>
          </a:p>
          <a:p>
            <a:r>
              <a:rPr lang="en-US" dirty="0"/>
              <a:t>https://www.geeksforgeeks.org/dbms/difference-between-structured-semi-structured-and-unstructured-data/</a:t>
            </a:r>
          </a:p>
        </p:txBody>
      </p:sp>
      <p:sp>
        <p:nvSpPr>
          <p:cNvPr id="4" name="Slide Number Placeholder 3"/>
          <p:cNvSpPr>
            <a:spLocks noGrp="1"/>
          </p:cNvSpPr>
          <p:nvPr>
            <p:ph type="sldNum" sz="quarter" idx="5"/>
          </p:nvPr>
        </p:nvSpPr>
        <p:spPr/>
        <p:txBody>
          <a:bodyPr/>
          <a:lstStyle/>
          <a:p>
            <a:fld id="{C0076829-C24E-41F4-AE24-67DAAD6FD20F}" type="slidenum">
              <a:rPr lang="en-US" smtClean="0"/>
              <a:t>17</a:t>
            </a:fld>
            <a:endParaRPr lang="en-US"/>
          </a:p>
        </p:txBody>
      </p:sp>
    </p:spTree>
    <p:extLst>
      <p:ext uri="{BB962C8B-B14F-4D97-AF65-F5344CB8AC3E}">
        <p14:creationId xmlns:p14="http://schemas.microsoft.com/office/powerpoint/2010/main" val="19933957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Understanding Different Data Types (Structured, Unstructured, Semi-structured)</a:t>
            </a:r>
          </a:p>
          <a:p>
            <a:r>
              <a:rPr lang="en-US" dirty="0"/>
              <a:t>https://www.geeksforgeeks.org/dbms/difference-between-structured-semi-structured-and-unstructured-data/</a:t>
            </a:r>
          </a:p>
          <a:p>
            <a:endParaRPr lang="en-US" dirty="0"/>
          </a:p>
        </p:txBody>
      </p:sp>
      <p:sp>
        <p:nvSpPr>
          <p:cNvPr id="4" name="Slide Number Placeholder 3"/>
          <p:cNvSpPr>
            <a:spLocks noGrp="1"/>
          </p:cNvSpPr>
          <p:nvPr>
            <p:ph type="sldNum" sz="quarter" idx="5"/>
          </p:nvPr>
        </p:nvSpPr>
        <p:spPr/>
        <p:txBody>
          <a:bodyPr/>
          <a:lstStyle/>
          <a:p>
            <a:fld id="{C0076829-C24E-41F4-AE24-67DAAD6FD20F}" type="slidenum">
              <a:rPr lang="en-US" smtClean="0"/>
              <a:t>18</a:t>
            </a:fld>
            <a:endParaRPr lang="en-US"/>
          </a:p>
        </p:txBody>
      </p:sp>
    </p:spTree>
    <p:extLst>
      <p:ext uri="{BB962C8B-B14F-4D97-AF65-F5344CB8AC3E}">
        <p14:creationId xmlns:p14="http://schemas.microsoft.com/office/powerpoint/2010/main" val="23548868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Understanding Different Data Types (Structured, Unstructured, Semi-structured)</a:t>
            </a:r>
          </a:p>
          <a:p>
            <a:r>
              <a:rPr lang="en-US" dirty="0"/>
              <a:t>https://www.geeksforgeeks.org/dbms/difference-between-structured-semi-structured-and-unstructured-data/</a:t>
            </a:r>
          </a:p>
          <a:p>
            <a:endParaRPr lang="en-US" dirty="0"/>
          </a:p>
        </p:txBody>
      </p:sp>
      <p:sp>
        <p:nvSpPr>
          <p:cNvPr id="4" name="Slide Number Placeholder 3"/>
          <p:cNvSpPr>
            <a:spLocks noGrp="1"/>
          </p:cNvSpPr>
          <p:nvPr>
            <p:ph type="sldNum" sz="quarter" idx="5"/>
          </p:nvPr>
        </p:nvSpPr>
        <p:spPr/>
        <p:txBody>
          <a:bodyPr/>
          <a:lstStyle/>
          <a:p>
            <a:fld id="{C0076829-C24E-41F4-AE24-67DAAD6FD20F}" type="slidenum">
              <a:rPr lang="en-US" smtClean="0"/>
              <a:t>19</a:t>
            </a:fld>
            <a:endParaRPr lang="en-US"/>
          </a:p>
        </p:txBody>
      </p:sp>
    </p:spTree>
    <p:extLst>
      <p:ext uri="{BB962C8B-B14F-4D97-AF65-F5344CB8AC3E}">
        <p14:creationId xmlns:p14="http://schemas.microsoft.com/office/powerpoint/2010/main" val="274094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Data Sources (Internal, External, Databases, APIs)</a:t>
            </a:r>
          </a:p>
          <a:p>
            <a:r>
              <a:rPr lang="en-US" dirty="0"/>
              <a:t>https://www.futurelearn.com/info/courses/data-analytics-for-business-basic-analysis-and-statistics/0/steps/177282</a:t>
            </a:r>
          </a:p>
        </p:txBody>
      </p:sp>
      <p:sp>
        <p:nvSpPr>
          <p:cNvPr id="4" name="Slide Number Placeholder 3"/>
          <p:cNvSpPr>
            <a:spLocks noGrp="1"/>
          </p:cNvSpPr>
          <p:nvPr>
            <p:ph type="sldNum" sz="quarter" idx="5"/>
          </p:nvPr>
        </p:nvSpPr>
        <p:spPr/>
        <p:txBody>
          <a:bodyPr/>
          <a:lstStyle/>
          <a:p>
            <a:fld id="{C0076829-C24E-41F4-AE24-67DAAD6FD20F}" type="slidenum">
              <a:rPr lang="en-US" smtClean="0"/>
              <a:t>20</a:t>
            </a:fld>
            <a:endParaRPr lang="en-US"/>
          </a:p>
        </p:txBody>
      </p:sp>
    </p:spTree>
    <p:extLst>
      <p:ext uri="{BB962C8B-B14F-4D97-AF65-F5344CB8AC3E}">
        <p14:creationId xmlns:p14="http://schemas.microsoft.com/office/powerpoint/2010/main" val="30051615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Data Sources (Internal, External, Databases, APIs)</a:t>
            </a:r>
          </a:p>
          <a:p>
            <a:r>
              <a:rPr lang="en-US" dirty="0"/>
              <a:t>https://www.futurelearn.com/info/courses/data-analytics-for-business-basic-analysis-and-statistics/0/steps/177282</a:t>
            </a:r>
          </a:p>
          <a:p>
            <a:endParaRPr lang="en-US" dirty="0"/>
          </a:p>
        </p:txBody>
      </p:sp>
      <p:sp>
        <p:nvSpPr>
          <p:cNvPr id="4" name="Slide Number Placeholder 3"/>
          <p:cNvSpPr>
            <a:spLocks noGrp="1"/>
          </p:cNvSpPr>
          <p:nvPr>
            <p:ph type="sldNum" sz="quarter" idx="5"/>
          </p:nvPr>
        </p:nvSpPr>
        <p:spPr/>
        <p:txBody>
          <a:bodyPr/>
          <a:lstStyle/>
          <a:p>
            <a:fld id="{C0076829-C24E-41F4-AE24-67DAAD6FD20F}" type="slidenum">
              <a:rPr lang="en-US" smtClean="0"/>
              <a:t>21</a:t>
            </a:fld>
            <a:endParaRPr lang="en-US"/>
          </a:p>
        </p:txBody>
      </p:sp>
    </p:spTree>
    <p:extLst>
      <p:ext uri="{BB962C8B-B14F-4D97-AF65-F5344CB8AC3E}">
        <p14:creationId xmlns:p14="http://schemas.microsoft.com/office/powerpoint/2010/main" val="32893714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Data Sources (Internal, External, Databases, APIs)</a:t>
            </a:r>
          </a:p>
          <a:p>
            <a:r>
              <a:rPr lang="en-US" dirty="0"/>
              <a:t>https://www.futurelearn.com/info/courses/data-analytics-for-business-basic-analysis-and-statistics/0/steps/177282</a:t>
            </a:r>
          </a:p>
          <a:p>
            <a:endParaRPr lang="en-US" dirty="0"/>
          </a:p>
        </p:txBody>
      </p:sp>
      <p:sp>
        <p:nvSpPr>
          <p:cNvPr id="4" name="Slide Number Placeholder 3"/>
          <p:cNvSpPr>
            <a:spLocks noGrp="1"/>
          </p:cNvSpPr>
          <p:nvPr>
            <p:ph type="sldNum" sz="quarter" idx="5"/>
          </p:nvPr>
        </p:nvSpPr>
        <p:spPr/>
        <p:txBody>
          <a:bodyPr/>
          <a:lstStyle/>
          <a:p>
            <a:fld id="{C0076829-C24E-41F4-AE24-67DAAD6FD20F}" type="slidenum">
              <a:rPr lang="en-US" smtClean="0"/>
              <a:t>22</a:t>
            </a:fld>
            <a:endParaRPr lang="en-US"/>
          </a:p>
        </p:txBody>
      </p:sp>
    </p:spTree>
    <p:extLst>
      <p:ext uri="{BB962C8B-B14F-4D97-AF65-F5344CB8AC3E}">
        <p14:creationId xmlns:p14="http://schemas.microsoft.com/office/powerpoint/2010/main" val="35685796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Collection Methods	</a:t>
            </a:r>
          </a:p>
          <a:p>
            <a:r>
              <a:rPr lang="en-US" dirty="0"/>
              <a:t>https://www.simplilearn.com/what-is-data-collection-article</a:t>
            </a:r>
          </a:p>
        </p:txBody>
      </p:sp>
      <p:sp>
        <p:nvSpPr>
          <p:cNvPr id="4" name="Slide Number Placeholder 3"/>
          <p:cNvSpPr>
            <a:spLocks noGrp="1"/>
          </p:cNvSpPr>
          <p:nvPr>
            <p:ph type="sldNum" sz="quarter" idx="5"/>
          </p:nvPr>
        </p:nvSpPr>
        <p:spPr/>
        <p:txBody>
          <a:bodyPr/>
          <a:lstStyle/>
          <a:p>
            <a:fld id="{C0076829-C24E-41F4-AE24-67DAAD6FD20F}" type="slidenum">
              <a:rPr lang="en-US" smtClean="0"/>
              <a:t>23</a:t>
            </a:fld>
            <a:endParaRPr lang="en-US"/>
          </a:p>
        </p:txBody>
      </p:sp>
    </p:spTree>
    <p:extLst>
      <p:ext uri="{BB962C8B-B14F-4D97-AF65-F5344CB8AC3E}">
        <p14:creationId xmlns:p14="http://schemas.microsoft.com/office/powerpoint/2010/main" val="14475737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Collection Methods	</a:t>
            </a:r>
          </a:p>
          <a:p>
            <a:r>
              <a:rPr lang="en-US" dirty="0"/>
              <a:t>https://www.simplilearn.com/what-is-data-collection-article</a:t>
            </a:r>
          </a:p>
        </p:txBody>
      </p:sp>
      <p:sp>
        <p:nvSpPr>
          <p:cNvPr id="4" name="Slide Number Placeholder 3"/>
          <p:cNvSpPr>
            <a:spLocks noGrp="1"/>
          </p:cNvSpPr>
          <p:nvPr>
            <p:ph type="sldNum" sz="quarter" idx="5"/>
          </p:nvPr>
        </p:nvSpPr>
        <p:spPr/>
        <p:txBody>
          <a:bodyPr/>
          <a:lstStyle/>
          <a:p>
            <a:fld id="{C0076829-C24E-41F4-AE24-67DAAD6FD20F}" type="slidenum">
              <a:rPr lang="en-US" smtClean="0"/>
              <a:t>24</a:t>
            </a:fld>
            <a:endParaRPr lang="en-US"/>
          </a:p>
        </p:txBody>
      </p:sp>
    </p:spTree>
    <p:extLst>
      <p:ext uri="{BB962C8B-B14F-4D97-AF65-F5344CB8AC3E}">
        <p14:creationId xmlns:p14="http://schemas.microsoft.com/office/powerpoint/2010/main" val="13749534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Collection Methods	</a:t>
            </a:r>
          </a:p>
          <a:p>
            <a:r>
              <a:rPr lang="en-US" dirty="0"/>
              <a:t>https://www.simplilearn.com/what-is-data-collection-article</a:t>
            </a:r>
          </a:p>
        </p:txBody>
      </p:sp>
      <p:sp>
        <p:nvSpPr>
          <p:cNvPr id="4" name="Slide Number Placeholder 3"/>
          <p:cNvSpPr>
            <a:spLocks noGrp="1"/>
          </p:cNvSpPr>
          <p:nvPr>
            <p:ph type="sldNum" sz="quarter" idx="5"/>
          </p:nvPr>
        </p:nvSpPr>
        <p:spPr/>
        <p:txBody>
          <a:bodyPr/>
          <a:lstStyle/>
          <a:p>
            <a:fld id="{C0076829-C24E-41F4-AE24-67DAAD6FD20F}" type="slidenum">
              <a:rPr lang="en-US" smtClean="0"/>
              <a:t>25</a:t>
            </a:fld>
            <a:endParaRPr lang="en-US"/>
          </a:p>
        </p:txBody>
      </p:sp>
    </p:spTree>
    <p:extLst>
      <p:ext uri="{BB962C8B-B14F-4D97-AF65-F5344CB8AC3E}">
        <p14:creationId xmlns:p14="http://schemas.microsoft.com/office/powerpoint/2010/main" val="35796978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Lifecycle Management (Creation, Storage, Usage, Archiving, Deletion)</a:t>
            </a:r>
          </a:p>
          <a:p>
            <a:r>
              <a:rPr lang="en-US" dirty="0"/>
              <a:t>https://www.splunk.com/en_us/blog/learn/dlm-data-lifecycle-management.html</a:t>
            </a:r>
          </a:p>
        </p:txBody>
      </p:sp>
      <p:sp>
        <p:nvSpPr>
          <p:cNvPr id="4" name="Slide Number Placeholder 3"/>
          <p:cNvSpPr>
            <a:spLocks noGrp="1"/>
          </p:cNvSpPr>
          <p:nvPr>
            <p:ph type="sldNum" sz="quarter" idx="5"/>
          </p:nvPr>
        </p:nvSpPr>
        <p:spPr/>
        <p:txBody>
          <a:bodyPr/>
          <a:lstStyle/>
          <a:p>
            <a:fld id="{C0076829-C24E-41F4-AE24-67DAAD6FD20F}" type="slidenum">
              <a:rPr lang="en-US" smtClean="0"/>
              <a:t>26</a:t>
            </a:fld>
            <a:endParaRPr lang="en-US"/>
          </a:p>
        </p:txBody>
      </p:sp>
    </p:spTree>
    <p:extLst>
      <p:ext uri="{BB962C8B-B14F-4D97-AF65-F5344CB8AC3E}">
        <p14:creationId xmlns:p14="http://schemas.microsoft.com/office/powerpoint/2010/main" val="38160961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Lifecycle Management (Creation, Storage, Usage, Archiving, Deletion)</a:t>
            </a:r>
          </a:p>
          <a:p>
            <a:r>
              <a:rPr lang="en-US" dirty="0"/>
              <a:t>https://www.splunk.com/en_us/blog/learn/dlm-data-lifecycle-management.html</a:t>
            </a:r>
          </a:p>
        </p:txBody>
      </p:sp>
      <p:sp>
        <p:nvSpPr>
          <p:cNvPr id="4" name="Slide Number Placeholder 3"/>
          <p:cNvSpPr>
            <a:spLocks noGrp="1"/>
          </p:cNvSpPr>
          <p:nvPr>
            <p:ph type="sldNum" sz="quarter" idx="5"/>
          </p:nvPr>
        </p:nvSpPr>
        <p:spPr/>
        <p:txBody>
          <a:bodyPr/>
          <a:lstStyle/>
          <a:p>
            <a:fld id="{C0076829-C24E-41F4-AE24-67DAAD6FD20F}" type="slidenum">
              <a:rPr lang="en-US" smtClean="0"/>
              <a:t>27</a:t>
            </a:fld>
            <a:endParaRPr lang="en-US"/>
          </a:p>
        </p:txBody>
      </p:sp>
    </p:spTree>
    <p:extLst>
      <p:ext uri="{BB962C8B-B14F-4D97-AF65-F5344CB8AC3E}">
        <p14:creationId xmlns:p14="http://schemas.microsoft.com/office/powerpoint/2010/main" val="36834786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Lifecycle Management (Creation, Storage, Usage, Archiving, Deletion)</a:t>
            </a:r>
          </a:p>
          <a:p>
            <a:r>
              <a:rPr lang="en-US" dirty="0"/>
              <a:t>https://www.splunk.com/en_us/blog/learn/dlm-data-lifecycle-management.html</a:t>
            </a:r>
          </a:p>
        </p:txBody>
      </p:sp>
      <p:sp>
        <p:nvSpPr>
          <p:cNvPr id="4" name="Slide Number Placeholder 3"/>
          <p:cNvSpPr>
            <a:spLocks noGrp="1"/>
          </p:cNvSpPr>
          <p:nvPr>
            <p:ph type="sldNum" sz="quarter" idx="5"/>
          </p:nvPr>
        </p:nvSpPr>
        <p:spPr/>
        <p:txBody>
          <a:bodyPr/>
          <a:lstStyle/>
          <a:p>
            <a:fld id="{C0076829-C24E-41F4-AE24-67DAAD6FD20F}" type="slidenum">
              <a:rPr lang="en-US" smtClean="0"/>
              <a:t>28</a:t>
            </a:fld>
            <a:endParaRPr lang="en-US"/>
          </a:p>
        </p:txBody>
      </p:sp>
    </p:spTree>
    <p:extLst>
      <p:ext uri="{BB962C8B-B14F-4D97-AF65-F5344CB8AC3E}">
        <p14:creationId xmlns:p14="http://schemas.microsoft.com/office/powerpoint/2010/main" val="19169589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Quality and Integrity 	</a:t>
            </a:r>
          </a:p>
          <a:p>
            <a:r>
              <a:rPr lang="en-US" dirty="0"/>
              <a:t>https://lakefs.io/data-quality/data-integrity-vs-data-quality/</a:t>
            </a:r>
          </a:p>
        </p:txBody>
      </p:sp>
      <p:sp>
        <p:nvSpPr>
          <p:cNvPr id="4" name="Slide Number Placeholder 3"/>
          <p:cNvSpPr>
            <a:spLocks noGrp="1"/>
          </p:cNvSpPr>
          <p:nvPr>
            <p:ph type="sldNum" sz="quarter" idx="5"/>
          </p:nvPr>
        </p:nvSpPr>
        <p:spPr/>
        <p:txBody>
          <a:bodyPr/>
          <a:lstStyle/>
          <a:p>
            <a:fld id="{C0076829-C24E-41F4-AE24-67DAAD6FD20F}" type="slidenum">
              <a:rPr lang="en-US" smtClean="0"/>
              <a:t>29</a:t>
            </a:fld>
            <a:endParaRPr lang="en-US"/>
          </a:p>
        </p:txBody>
      </p:sp>
    </p:spTree>
    <p:extLst>
      <p:ext uri="{BB962C8B-B14F-4D97-AF65-F5344CB8AC3E}">
        <p14:creationId xmlns:p14="http://schemas.microsoft.com/office/powerpoint/2010/main" val="29698509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Quality and Integrity 	</a:t>
            </a:r>
          </a:p>
          <a:p>
            <a:r>
              <a:rPr lang="en-US" dirty="0"/>
              <a:t>https://lakefs.io/data-quality/data-integrity-vs-data-quality/</a:t>
            </a:r>
          </a:p>
        </p:txBody>
      </p:sp>
      <p:sp>
        <p:nvSpPr>
          <p:cNvPr id="4" name="Slide Number Placeholder 3"/>
          <p:cNvSpPr>
            <a:spLocks noGrp="1"/>
          </p:cNvSpPr>
          <p:nvPr>
            <p:ph type="sldNum" sz="quarter" idx="5"/>
          </p:nvPr>
        </p:nvSpPr>
        <p:spPr/>
        <p:txBody>
          <a:bodyPr/>
          <a:lstStyle/>
          <a:p>
            <a:fld id="{C0076829-C24E-41F4-AE24-67DAAD6FD20F}" type="slidenum">
              <a:rPr lang="en-US" smtClean="0"/>
              <a:t>30</a:t>
            </a:fld>
            <a:endParaRPr lang="en-US"/>
          </a:p>
        </p:txBody>
      </p:sp>
    </p:spTree>
    <p:extLst>
      <p:ext uri="{BB962C8B-B14F-4D97-AF65-F5344CB8AC3E}">
        <p14:creationId xmlns:p14="http://schemas.microsoft.com/office/powerpoint/2010/main" val="16819014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Quality and Integrity 	</a:t>
            </a:r>
          </a:p>
          <a:p>
            <a:r>
              <a:rPr lang="en-US" dirty="0"/>
              <a:t>https://lakefs.io/data-quality/data-integrity-vs-data-quality/</a:t>
            </a:r>
          </a:p>
        </p:txBody>
      </p:sp>
      <p:sp>
        <p:nvSpPr>
          <p:cNvPr id="4" name="Slide Number Placeholder 3"/>
          <p:cNvSpPr>
            <a:spLocks noGrp="1"/>
          </p:cNvSpPr>
          <p:nvPr>
            <p:ph type="sldNum" sz="quarter" idx="5"/>
          </p:nvPr>
        </p:nvSpPr>
        <p:spPr/>
        <p:txBody>
          <a:bodyPr/>
          <a:lstStyle/>
          <a:p>
            <a:fld id="{C0076829-C24E-41F4-AE24-67DAAD6FD20F}" type="slidenum">
              <a:rPr lang="en-US" smtClean="0"/>
              <a:t>31</a:t>
            </a:fld>
            <a:endParaRPr lang="en-US"/>
          </a:p>
        </p:txBody>
      </p:sp>
    </p:spTree>
    <p:extLst>
      <p:ext uri="{BB962C8B-B14F-4D97-AF65-F5344CB8AC3E}">
        <p14:creationId xmlns:p14="http://schemas.microsoft.com/office/powerpoint/2010/main" val="23777841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to Business Analyst Role</a:t>
            </a:r>
          </a:p>
          <a:p>
            <a:endParaRPr lang="en-US" dirty="0"/>
          </a:p>
        </p:txBody>
      </p:sp>
      <p:sp>
        <p:nvSpPr>
          <p:cNvPr id="4" name="Slide Number Placeholder 3"/>
          <p:cNvSpPr>
            <a:spLocks noGrp="1"/>
          </p:cNvSpPr>
          <p:nvPr>
            <p:ph type="sldNum" sz="quarter" idx="5"/>
          </p:nvPr>
        </p:nvSpPr>
        <p:spPr/>
        <p:txBody>
          <a:bodyPr/>
          <a:lstStyle/>
          <a:p>
            <a:fld id="{C0076829-C24E-41F4-AE24-67DAAD6FD20F}" type="slidenum">
              <a:rPr lang="en-US" smtClean="0"/>
              <a:t>32</a:t>
            </a:fld>
            <a:endParaRPr lang="en-US"/>
          </a:p>
        </p:txBody>
      </p:sp>
    </p:spTree>
    <p:extLst>
      <p:ext uri="{BB962C8B-B14F-4D97-AF65-F5344CB8AC3E}">
        <p14:creationId xmlns:p14="http://schemas.microsoft.com/office/powerpoint/2010/main" val="24972956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and Responsibilities of a Business Analyst</a:t>
            </a:r>
          </a:p>
          <a:p>
            <a:r>
              <a:rPr lang="en-US" dirty="0"/>
              <a:t>https://www.productleadership.com/resources/guides/what-do-business-analysts-do/</a:t>
            </a:r>
          </a:p>
        </p:txBody>
      </p:sp>
      <p:sp>
        <p:nvSpPr>
          <p:cNvPr id="4" name="Slide Number Placeholder 3"/>
          <p:cNvSpPr>
            <a:spLocks noGrp="1"/>
          </p:cNvSpPr>
          <p:nvPr>
            <p:ph type="sldNum" sz="quarter" idx="5"/>
          </p:nvPr>
        </p:nvSpPr>
        <p:spPr/>
        <p:txBody>
          <a:bodyPr/>
          <a:lstStyle/>
          <a:p>
            <a:fld id="{C0076829-C24E-41F4-AE24-67DAAD6FD20F}" type="slidenum">
              <a:rPr lang="en-US" smtClean="0"/>
              <a:t>33</a:t>
            </a:fld>
            <a:endParaRPr lang="en-US"/>
          </a:p>
        </p:txBody>
      </p:sp>
    </p:spTree>
    <p:extLst>
      <p:ext uri="{BB962C8B-B14F-4D97-AF65-F5344CB8AC3E}">
        <p14:creationId xmlns:p14="http://schemas.microsoft.com/office/powerpoint/2010/main" val="22717821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and Responsibilities of a Business Analyst</a:t>
            </a:r>
          </a:p>
          <a:p>
            <a:r>
              <a:rPr lang="en-US" dirty="0"/>
              <a:t>https://www.productleadership.com/resources/guides/what-do-business-analysts-do/</a:t>
            </a:r>
          </a:p>
          <a:p>
            <a:endParaRPr lang="en-US" dirty="0"/>
          </a:p>
        </p:txBody>
      </p:sp>
      <p:sp>
        <p:nvSpPr>
          <p:cNvPr id="4" name="Slide Number Placeholder 3"/>
          <p:cNvSpPr>
            <a:spLocks noGrp="1"/>
          </p:cNvSpPr>
          <p:nvPr>
            <p:ph type="sldNum" sz="quarter" idx="5"/>
          </p:nvPr>
        </p:nvSpPr>
        <p:spPr/>
        <p:txBody>
          <a:bodyPr/>
          <a:lstStyle/>
          <a:p>
            <a:fld id="{C0076829-C24E-41F4-AE24-67DAAD6FD20F}" type="slidenum">
              <a:rPr lang="en-US" smtClean="0"/>
              <a:t>34</a:t>
            </a:fld>
            <a:endParaRPr lang="en-US"/>
          </a:p>
        </p:txBody>
      </p:sp>
    </p:spTree>
    <p:extLst>
      <p:ext uri="{BB962C8B-B14F-4D97-AF65-F5344CB8AC3E}">
        <p14:creationId xmlns:p14="http://schemas.microsoft.com/office/powerpoint/2010/main" val="32830317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and Responsibilities of a Business Analyst</a:t>
            </a:r>
          </a:p>
          <a:p>
            <a:r>
              <a:rPr lang="en-US" dirty="0"/>
              <a:t>https://www.productleadership.com/resources/guides/what-do-business-analysts-do/</a:t>
            </a:r>
          </a:p>
          <a:p>
            <a:endParaRPr lang="en-US" dirty="0"/>
          </a:p>
        </p:txBody>
      </p:sp>
      <p:sp>
        <p:nvSpPr>
          <p:cNvPr id="4" name="Slide Number Placeholder 3"/>
          <p:cNvSpPr>
            <a:spLocks noGrp="1"/>
          </p:cNvSpPr>
          <p:nvPr>
            <p:ph type="sldNum" sz="quarter" idx="5"/>
          </p:nvPr>
        </p:nvSpPr>
        <p:spPr/>
        <p:txBody>
          <a:bodyPr/>
          <a:lstStyle/>
          <a:p>
            <a:fld id="{C0076829-C24E-41F4-AE24-67DAAD6FD20F}" type="slidenum">
              <a:rPr lang="en-US" smtClean="0"/>
              <a:t>35</a:t>
            </a:fld>
            <a:endParaRPr lang="en-US"/>
          </a:p>
        </p:txBody>
      </p:sp>
    </p:spTree>
    <p:extLst>
      <p:ext uri="{BB962C8B-B14F-4D97-AF65-F5344CB8AC3E}">
        <p14:creationId xmlns:p14="http://schemas.microsoft.com/office/powerpoint/2010/main" val="8818364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Skills for Business Analysts (Communication, Analytical Thinking, Problem-Solving)</a:t>
            </a:r>
          </a:p>
          <a:p>
            <a:r>
              <a:rPr lang="en-US" dirty="0"/>
              <a:t>https://analytics.hbs.edu/admissions/top-business-analytics-skills/</a:t>
            </a:r>
          </a:p>
        </p:txBody>
      </p:sp>
      <p:sp>
        <p:nvSpPr>
          <p:cNvPr id="4" name="Slide Number Placeholder 3"/>
          <p:cNvSpPr>
            <a:spLocks noGrp="1"/>
          </p:cNvSpPr>
          <p:nvPr>
            <p:ph type="sldNum" sz="quarter" idx="5"/>
          </p:nvPr>
        </p:nvSpPr>
        <p:spPr/>
        <p:txBody>
          <a:bodyPr/>
          <a:lstStyle/>
          <a:p>
            <a:fld id="{C0076829-C24E-41F4-AE24-67DAAD6FD20F}" type="slidenum">
              <a:rPr lang="en-US" smtClean="0"/>
              <a:t>36</a:t>
            </a:fld>
            <a:endParaRPr lang="en-US"/>
          </a:p>
        </p:txBody>
      </p:sp>
    </p:spTree>
    <p:extLst>
      <p:ext uri="{BB962C8B-B14F-4D97-AF65-F5344CB8AC3E}">
        <p14:creationId xmlns:p14="http://schemas.microsoft.com/office/powerpoint/2010/main" val="20261278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Skills for Business Analysts (Communication, Analytical Thinking, Problem-Solving)</a:t>
            </a:r>
          </a:p>
          <a:p>
            <a:r>
              <a:rPr lang="en-US" dirty="0"/>
              <a:t>https://analytics.hbs.edu/admissions/top-business-analytics-skills/</a:t>
            </a:r>
          </a:p>
        </p:txBody>
      </p:sp>
      <p:sp>
        <p:nvSpPr>
          <p:cNvPr id="4" name="Slide Number Placeholder 3"/>
          <p:cNvSpPr>
            <a:spLocks noGrp="1"/>
          </p:cNvSpPr>
          <p:nvPr>
            <p:ph type="sldNum" sz="quarter" idx="5"/>
          </p:nvPr>
        </p:nvSpPr>
        <p:spPr/>
        <p:txBody>
          <a:bodyPr/>
          <a:lstStyle/>
          <a:p>
            <a:fld id="{C0076829-C24E-41F4-AE24-67DAAD6FD20F}" type="slidenum">
              <a:rPr lang="en-US" smtClean="0"/>
              <a:t>37</a:t>
            </a:fld>
            <a:endParaRPr lang="en-US"/>
          </a:p>
        </p:txBody>
      </p:sp>
    </p:spTree>
    <p:extLst>
      <p:ext uri="{BB962C8B-B14F-4D97-AF65-F5344CB8AC3E}">
        <p14:creationId xmlns:p14="http://schemas.microsoft.com/office/powerpoint/2010/main" val="20856594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Skills for Business Analysts (Communication, Analytical Thinking, Problem-Solving)</a:t>
            </a:r>
          </a:p>
          <a:p>
            <a:r>
              <a:rPr lang="en-US" dirty="0"/>
              <a:t>https://analytics.hbs.edu/admissions/top-business-analytics-skills/</a:t>
            </a:r>
          </a:p>
        </p:txBody>
      </p:sp>
      <p:sp>
        <p:nvSpPr>
          <p:cNvPr id="4" name="Slide Number Placeholder 3"/>
          <p:cNvSpPr>
            <a:spLocks noGrp="1"/>
          </p:cNvSpPr>
          <p:nvPr>
            <p:ph type="sldNum" sz="quarter" idx="5"/>
          </p:nvPr>
        </p:nvSpPr>
        <p:spPr/>
        <p:txBody>
          <a:bodyPr/>
          <a:lstStyle/>
          <a:p>
            <a:fld id="{C0076829-C24E-41F4-AE24-67DAAD6FD20F}" type="slidenum">
              <a:rPr lang="en-US" smtClean="0"/>
              <a:t>38</a:t>
            </a:fld>
            <a:endParaRPr lang="en-US"/>
          </a:p>
        </p:txBody>
      </p:sp>
    </p:spTree>
    <p:extLst>
      <p:ext uri="{BB962C8B-B14F-4D97-AF65-F5344CB8AC3E}">
        <p14:creationId xmlns:p14="http://schemas.microsoft.com/office/powerpoint/2010/main" val="18805653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Analysis Methodologies (e.g., Agile, Waterfall)</a:t>
            </a:r>
          </a:p>
          <a:p>
            <a:r>
              <a:rPr lang="en-US" dirty="0"/>
              <a:t>https://www.float.com/resources/agile-vs-waterfall</a:t>
            </a:r>
          </a:p>
        </p:txBody>
      </p:sp>
      <p:sp>
        <p:nvSpPr>
          <p:cNvPr id="4" name="Slide Number Placeholder 3"/>
          <p:cNvSpPr>
            <a:spLocks noGrp="1"/>
          </p:cNvSpPr>
          <p:nvPr>
            <p:ph type="sldNum" sz="quarter" idx="5"/>
          </p:nvPr>
        </p:nvSpPr>
        <p:spPr/>
        <p:txBody>
          <a:bodyPr/>
          <a:lstStyle/>
          <a:p>
            <a:fld id="{C0076829-C24E-41F4-AE24-67DAAD6FD20F}" type="slidenum">
              <a:rPr lang="en-US" smtClean="0"/>
              <a:t>39</a:t>
            </a:fld>
            <a:endParaRPr lang="en-US"/>
          </a:p>
        </p:txBody>
      </p:sp>
    </p:spTree>
    <p:extLst>
      <p:ext uri="{BB962C8B-B14F-4D97-AF65-F5344CB8AC3E}">
        <p14:creationId xmlns:p14="http://schemas.microsoft.com/office/powerpoint/2010/main" val="8673652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Analysis Methodologies (e.g., Agile, Waterfall)</a:t>
            </a:r>
          </a:p>
          <a:p>
            <a:r>
              <a:rPr lang="en-US" dirty="0"/>
              <a:t>https://www.float.com/resources/agile-vs-waterfall</a:t>
            </a:r>
          </a:p>
        </p:txBody>
      </p:sp>
      <p:sp>
        <p:nvSpPr>
          <p:cNvPr id="4" name="Slide Number Placeholder 3"/>
          <p:cNvSpPr>
            <a:spLocks noGrp="1"/>
          </p:cNvSpPr>
          <p:nvPr>
            <p:ph type="sldNum" sz="quarter" idx="5"/>
          </p:nvPr>
        </p:nvSpPr>
        <p:spPr/>
        <p:txBody>
          <a:bodyPr/>
          <a:lstStyle/>
          <a:p>
            <a:fld id="{C0076829-C24E-41F4-AE24-67DAAD6FD20F}" type="slidenum">
              <a:rPr lang="en-US" smtClean="0"/>
              <a:t>40</a:t>
            </a:fld>
            <a:endParaRPr lang="en-US"/>
          </a:p>
        </p:txBody>
      </p:sp>
    </p:spTree>
    <p:extLst>
      <p:ext uri="{BB962C8B-B14F-4D97-AF65-F5344CB8AC3E}">
        <p14:creationId xmlns:p14="http://schemas.microsoft.com/office/powerpoint/2010/main" val="34604002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Analysis Methodologies (e.g., Agile, Waterfall)</a:t>
            </a:r>
          </a:p>
          <a:p>
            <a:r>
              <a:rPr lang="en-US" dirty="0"/>
              <a:t>https://www.float.com/resources/agile-vs-waterfall</a:t>
            </a:r>
          </a:p>
        </p:txBody>
      </p:sp>
      <p:sp>
        <p:nvSpPr>
          <p:cNvPr id="4" name="Slide Number Placeholder 3"/>
          <p:cNvSpPr>
            <a:spLocks noGrp="1"/>
          </p:cNvSpPr>
          <p:nvPr>
            <p:ph type="sldNum" sz="quarter" idx="5"/>
          </p:nvPr>
        </p:nvSpPr>
        <p:spPr/>
        <p:txBody>
          <a:bodyPr/>
          <a:lstStyle/>
          <a:p>
            <a:fld id="{C0076829-C24E-41F4-AE24-67DAAD6FD20F}" type="slidenum">
              <a:rPr lang="en-US" smtClean="0"/>
              <a:t>41</a:t>
            </a:fld>
            <a:endParaRPr lang="en-US"/>
          </a:p>
        </p:txBody>
      </p:sp>
    </p:spTree>
    <p:extLst>
      <p:ext uri="{BB962C8B-B14F-4D97-AF65-F5344CB8AC3E}">
        <p14:creationId xmlns:p14="http://schemas.microsoft.com/office/powerpoint/2010/main" val="35780019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dirty="0"/>
              <a:t>Stakeholder Management</a:t>
            </a:r>
          </a:p>
          <a:p>
            <a:r>
              <a:rPr lang="nb-NO" dirty="0"/>
              <a:t>https://simplystakeholders.com/resources/guides/stakeholder-management/</a:t>
            </a:r>
            <a:endParaRPr lang="en-US" dirty="0"/>
          </a:p>
        </p:txBody>
      </p:sp>
      <p:sp>
        <p:nvSpPr>
          <p:cNvPr id="4" name="Slide Number Placeholder 3"/>
          <p:cNvSpPr>
            <a:spLocks noGrp="1"/>
          </p:cNvSpPr>
          <p:nvPr>
            <p:ph type="sldNum" sz="quarter" idx="5"/>
          </p:nvPr>
        </p:nvSpPr>
        <p:spPr/>
        <p:txBody>
          <a:bodyPr/>
          <a:lstStyle/>
          <a:p>
            <a:fld id="{C0076829-C24E-41F4-AE24-67DAAD6FD20F}" type="slidenum">
              <a:rPr lang="en-US" smtClean="0"/>
              <a:t>42</a:t>
            </a:fld>
            <a:endParaRPr lang="en-US"/>
          </a:p>
        </p:txBody>
      </p:sp>
    </p:spTree>
    <p:extLst>
      <p:ext uri="{BB962C8B-B14F-4D97-AF65-F5344CB8AC3E}">
        <p14:creationId xmlns:p14="http://schemas.microsoft.com/office/powerpoint/2010/main" val="246035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dirty="0"/>
              <a:t>Stakeholder Management</a:t>
            </a:r>
          </a:p>
          <a:p>
            <a:r>
              <a:rPr lang="nb-NO" dirty="0"/>
              <a:t>https://simplystakeholders.com/resources/guides/stakeholder-management/</a:t>
            </a:r>
            <a:endParaRPr lang="en-US" dirty="0"/>
          </a:p>
        </p:txBody>
      </p:sp>
      <p:sp>
        <p:nvSpPr>
          <p:cNvPr id="4" name="Slide Number Placeholder 3"/>
          <p:cNvSpPr>
            <a:spLocks noGrp="1"/>
          </p:cNvSpPr>
          <p:nvPr>
            <p:ph type="sldNum" sz="quarter" idx="5"/>
          </p:nvPr>
        </p:nvSpPr>
        <p:spPr/>
        <p:txBody>
          <a:bodyPr/>
          <a:lstStyle/>
          <a:p>
            <a:fld id="{C0076829-C24E-41F4-AE24-67DAAD6FD20F}" type="slidenum">
              <a:rPr lang="en-US" smtClean="0"/>
              <a:t>43</a:t>
            </a:fld>
            <a:endParaRPr lang="en-US"/>
          </a:p>
        </p:txBody>
      </p:sp>
    </p:spTree>
    <p:extLst>
      <p:ext uri="{BB962C8B-B14F-4D97-AF65-F5344CB8AC3E}">
        <p14:creationId xmlns:p14="http://schemas.microsoft.com/office/powerpoint/2010/main" val="2089217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dirty="0"/>
              <a:t>Stakeholder Management</a:t>
            </a:r>
          </a:p>
          <a:p>
            <a:r>
              <a:rPr lang="nb-NO" dirty="0"/>
              <a:t>https://simplystakeholders.com/resources/guides/stakeholder-management/</a:t>
            </a:r>
            <a:endParaRPr lang="en-US" dirty="0"/>
          </a:p>
        </p:txBody>
      </p:sp>
      <p:sp>
        <p:nvSpPr>
          <p:cNvPr id="4" name="Slide Number Placeholder 3"/>
          <p:cNvSpPr>
            <a:spLocks noGrp="1"/>
          </p:cNvSpPr>
          <p:nvPr>
            <p:ph type="sldNum" sz="quarter" idx="5"/>
          </p:nvPr>
        </p:nvSpPr>
        <p:spPr/>
        <p:txBody>
          <a:bodyPr/>
          <a:lstStyle/>
          <a:p>
            <a:fld id="{C0076829-C24E-41F4-AE24-67DAAD6FD20F}" type="slidenum">
              <a:rPr lang="en-US" smtClean="0"/>
              <a:t>44</a:t>
            </a:fld>
            <a:endParaRPr lang="en-US"/>
          </a:p>
        </p:txBody>
      </p:sp>
    </p:spTree>
    <p:extLst>
      <p:ext uri="{BB962C8B-B14F-4D97-AF65-F5344CB8AC3E}">
        <p14:creationId xmlns:p14="http://schemas.microsoft.com/office/powerpoint/2010/main" val="30845141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vs. Information</a:t>
            </a:r>
          </a:p>
          <a:p>
            <a:endParaRPr lang="en-US" dirty="0"/>
          </a:p>
        </p:txBody>
      </p:sp>
      <p:sp>
        <p:nvSpPr>
          <p:cNvPr id="4" name="Slide Number Placeholder 3"/>
          <p:cNvSpPr>
            <a:spLocks noGrp="1"/>
          </p:cNvSpPr>
          <p:nvPr>
            <p:ph type="sldNum" sz="quarter" idx="5"/>
          </p:nvPr>
        </p:nvSpPr>
        <p:spPr/>
        <p:txBody>
          <a:bodyPr/>
          <a:lstStyle/>
          <a:p>
            <a:fld id="{C0076829-C24E-41F4-AE24-67DAAD6FD20F}" type="slidenum">
              <a:rPr lang="en-US" smtClean="0"/>
              <a:t>45</a:t>
            </a:fld>
            <a:endParaRPr lang="en-US"/>
          </a:p>
        </p:txBody>
      </p:sp>
    </p:spTree>
    <p:extLst>
      <p:ext uri="{BB962C8B-B14F-4D97-AF65-F5344CB8AC3E}">
        <p14:creationId xmlns:p14="http://schemas.microsoft.com/office/powerpoint/2010/main" val="24909686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Distinguishing Raw Data from Processed Information</a:t>
            </a:r>
          </a:p>
          <a:p>
            <a:r>
              <a:rPr lang="en-US" dirty="0"/>
              <a:t>https://blog.mindforceresearch.com/raw-data-vs-processed-data-key-differences-explained/</a:t>
            </a:r>
          </a:p>
        </p:txBody>
      </p:sp>
      <p:sp>
        <p:nvSpPr>
          <p:cNvPr id="4" name="Slide Number Placeholder 3"/>
          <p:cNvSpPr>
            <a:spLocks noGrp="1"/>
          </p:cNvSpPr>
          <p:nvPr>
            <p:ph type="sldNum" sz="quarter" idx="5"/>
          </p:nvPr>
        </p:nvSpPr>
        <p:spPr/>
        <p:txBody>
          <a:bodyPr/>
          <a:lstStyle/>
          <a:p>
            <a:fld id="{C0076829-C24E-41F4-AE24-67DAAD6FD20F}" type="slidenum">
              <a:rPr lang="en-US" smtClean="0"/>
              <a:t>46</a:t>
            </a:fld>
            <a:endParaRPr lang="en-US"/>
          </a:p>
        </p:txBody>
      </p:sp>
    </p:spTree>
    <p:extLst>
      <p:ext uri="{BB962C8B-B14F-4D97-AF65-F5344CB8AC3E}">
        <p14:creationId xmlns:p14="http://schemas.microsoft.com/office/powerpoint/2010/main" val="20892039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Distinguishing Raw Data from Processed Information</a:t>
            </a:r>
          </a:p>
          <a:p>
            <a:r>
              <a:rPr lang="en-US" dirty="0"/>
              <a:t>https://blog.mindforceresearch.com/raw-data-vs-processed-data-key-differences-explained/</a:t>
            </a:r>
          </a:p>
        </p:txBody>
      </p:sp>
      <p:sp>
        <p:nvSpPr>
          <p:cNvPr id="4" name="Slide Number Placeholder 3"/>
          <p:cNvSpPr>
            <a:spLocks noGrp="1"/>
          </p:cNvSpPr>
          <p:nvPr>
            <p:ph type="sldNum" sz="quarter" idx="5"/>
          </p:nvPr>
        </p:nvSpPr>
        <p:spPr/>
        <p:txBody>
          <a:bodyPr/>
          <a:lstStyle/>
          <a:p>
            <a:fld id="{C0076829-C24E-41F4-AE24-67DAAD6FD20F}" type="slidenum">
              <a:rPr lang="en-US" smtClean="0"/>
              <a:t>47</a:t>
            </a:fld>
            <a:endParaRPr lang="en-US"/>
          </a:p>
        </p:txBody>
      </p:sp>
    </p:spTree>
    <p:extLst>
      <p:ext uri="{BB962C8B-B14F-4D97-AF65-F5344CB8AC3E}">
        <p14:creationId xmlns:p14="http://schemas.microsoft.com/office/powerpoint/2010/main" val="516496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Distinguishing Raw Data from Processed Information</a:t>
            </a:r>
          </a:p>
          <a:p>
            <a:r>
              <a:rPr lang="en-US" dirty="0"/>
              <a:t>https://blog.mindforceresearch.com/raw-data-vs-processed-data-key-differences-explained/</a:t>
            </a:r>
          </a:p>
        </p:txBody>
      </p:sp>
      <p:sp>
        <p:nvSpPr>
          <p:cNvPr id="4" name="Slide Number Placeholder 3"/>
          <p:cNvSpPr>
            <a:spLocks noGrp="1"/>
          </p:cNvSpPr>
          <p:nvPr>
            <p:ph type="sldNum" sz="quarter" idx="5"/>
          </p:nvPr>
        </p:nvSpPr>
        <p:spPr/>
        <p:txBody>
          <a:bodyPr/>
          <a:lstStyle/>
          <a:p>
            <a:fld id="{C0076829-C24E-41F4-AE24-67DAAD6FD20F}" type="slidenum">
              <a:rPr lang="en-US" smtClean="0"/>
              <a:t>48</a:t>
            </a:fld>
            <a:endParaRPr lang="en-US"/>
          </a:p>
        </p:txBody>
      </p:sp>
    </p:spTree>
    <p:extLst>
      <p:ext uri="{BB962C8B-B14F-4D97-AF65-F5344CB8AC3E}">
        <p14:creationId xmlns:p14="http://schemas.microsoft.com/office/powerpoint/2010/main" val="2679673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Transformation Process: Data to Information to Knowledge</a:t>
            </a:r>
          </a:p>
          <a:p>
            <a:r>
              <a:rPr lang="en-US" dirty="0"/>
              <a:t>https://www.earley.com/insights/transforming-information-knowledge-part-i</a:t>
            </a:r>
          </a:p>
        </p:txBody>
      </p:sp>
      <p:sp>
        <p:nvSpPr>
          <p:cNvPr id="4" name="Slide Number Placeholder 3"/>
          <p:cNvSpPr>
            <a:spLocks noGrp="1"/>
          </p:cNvSpPr>
          <p:nvPr>
            <p:ph type="sldNum" sz="quarter" idx="5"/>
          </p:nvPr>
        </p:nvSpPr>
        <p:spPr/>
        <p:txBody>
          <a:bodyPr/>
          <a:lstStyle/>
          <a:p>
            <a:fld id="{C0076829-C24E-41F4-AE24-67DAAD6FD20F}" type="slidenum">
              <a:rPr lang="en-US" smtClean="0"/>
              <a:t>49</a:t>
            </a:fld>
            <a:endParaRPr lang="en-US"/>
          </a:p>
        </p:txBody>
      </p:sp>
    </p:spTree>
    <p:extLst>
      <p:ext uri="{BB962C8B-B14F-4D97-AF65-F5344CB8AC3E}">
        <p14:creationId xmlns:p14="http://schemas.microsoft.com/office/powerpoint/2010/main" val="8355488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Transformation Process: Data to Information to Knowledge</a:t>
            </a:r>
          </a:p>
          <a:p>
            <a:r>
              <a:rPr lang="en-US" dirty="0"/>
              <a:t>https://www.earley.com/insights/transforming-information-knowledge-part-i</a:t>
            </a:r>
          </a:p>
        </p:txBody>
      </p:sp>
      <p:sp>
        <p:nvSpPr>
          <p:cNvPr id="4" name="Slide Number Placeholder 3"/>
          <p:cNvSpPr>
            <a:spLocks noGrp="1"/>
          </p:cNvSpPr>
          <p:nvPr>
            <p:ph type="sldNum" sz="quarter" idx="5"/>
          </p:nvPr>
        </p:nvSpPr>
        <p:spPr/>
        <p:txBody>
          <a:bodyPr/>
          <a:lstStyle/>
          <a:p>
            <a:fld id="{C0076829-C24E-41F4-AE24-67DAAD6FD20F}" type="slidenum">
              <a:rPr lang="en-US" smtClean="0"/>
              <a:t>50</a:t>
            </a:fld>
            <a:endParaRPr lang="en-US"/>
          </a:p>
        </p:txBody>
      </p:sp>
    </p:spTree>
    <p:extLst>
      <p:ext uri="{BB962C8B-B14F-4D97-AF65-F5344CB8AC3E}">
        <p14:creationId xmlns:p14="http://schemas.microsoft.com/office/powerpoint/2010/main" val="38884134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Transformation Process: Data to Information to Knowledge</a:t>
            </a:r>
          </a:p>
          <a:p>
            <a:r>
              <a:rPr lang="en-US" dirty="0"/>
              <a:t>https://www.earley.com/insights/transforming-information-knowledge-part-i</a:t>
            </a:r>
          </a:p>
        </p:txBody>
      </p:sp>
      <p:sp>
        <p:nvSpPr>
          <p:cNvPr id="4" name="Slide Number Placeholder 3"/>
          <p:cNvSpPr>
            <a:spLocks noGrp="1"/>
          </p:cNvSpPr>
          <p:nvPr>
            <p:ph type="sldNum" sz="quarter" idx="5"/>
          </p:nvPr>
        </p:nvSpPr>
        <p:spPr/>
        <p:txBody>
          <a:bodyPr/>
          <a:lstStyle/>
          <a:p>
            <a:fld id="{C0076829-C24E-41F4-AE24-67DAAD6FD20F}" type="slidenum">
              <a:rPr lang="en-US" smtClean="0"/>
              <a:t>51</a:t>
            </a:fld>
            <a:endParaRPr lang="en-US"/>
          </a:p>
        </p:txBody>
      </p:sp>
    </p:spTree>
    <p:extLst>
      <p:ext uri="{BB962C8B-B14F-4D97-AF65-F5344CB8AC3E}">
        <p14:creationId xmlns:p14="http://schemas.microsoft.com/office/powerpoint/2010/main" val="6367920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of Information in Decision Making</a:t>
            </a:r>
          </a:p>
          <a:p>
            <a:r>
              <a:rPr lang="en-US" dirty="0"/>
              <a:t>https://www.tutor2u.net/economics/reference/4-1-2-2-the-importance-of-information-for-decision-making</a:t>
            </a:r>
          </a:p>
        </p:txBody>
      </p:sp>
      <p:sp>
        <p:nvSpPr>
          <p:cNvPr id="4" name="Slide Number Placeholder 3"/>
          <p:cNvSpPr>
            <a:spLocks noGrp="1"/>
          </p:cNvSpPr>
          <p:nvPr>
            <p:ph type="sldNum" sz="quarter" idx="5"/>
          </p:nvPr>
        </p:nvSpPr>
        <p:spPr/>
        <p:txBody>
          <a:bodyPr/>
          <a:lstStyle/>
          <a:p>
            <a:fld id="{C0076829-C24E-41F4-AE24-67DAAD6FD20F}" type="slidenum">
              <a:rPr lang="en-US" smtClean="0"/>
              <a:t>52</a:t>
            </a:fld>
            <a:endParaRPr lang="en-US"/>
          </a:p>
        </p:txBody>
      </p:sp>
    </p:spTree>
    <p:extLst>
      <p:ext uri="{BB962C8B-B14F-4D97-AF65-F5344CB8AC3E}">
        <p14:creationId xmlns:p14="http://schemas.microsoft.com/office/powerpoint/2010/main" val="405651516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of Information in Decision Making</a:t>
            </a:r>
          </a:p>
          <a:p>
            <a:r>
              <a:rPr lang="en-US" dirty="0"/>
              <a:t>https://www.tutor2u.net/economics/reference/4-1-2-2-the-importance-of-information-for-decision-making</a:t>
            </a:r>
          </a:p>
        </p:txBody>
      </p:sp>
      <p:sp>
        <p:nvSpPr>
          <p:cNvPr id="4" name="Slide Number Placeholder 3"/>
          <p:cNvSpPr>
            <a:spLocks noGrp="1"/>
          </p:cNvSpPr>
          <p:nvPr>
            <p:ph type="sldNum" sz="quarter" idx="5"/>
          </p:nvPr>
        </p:nvSpPr>
        <p:spPr/>
        <p:txBody>
          <a:bodyPr/>
          <a:lstStyle/>
          <a:p>
            <a:fld id="{C0076829-C24E-41F4-AE24-67DAAD6FD20F}" type="slidenum">
              <a:rPr lang="en-US" smtClean="0"/>
              <a:t>53</a:t>
            </a:fld>
            <a:endParaRPr lang="en-US"/>
          </a:p>
        </p:txBody>
      </p:sp>
    </p:spTree>
    <p:extLst>
      <p:ext uri="{BB962C8B-B14F-4D97-AF65-F5344CB8AC3E}">
        <p14:creationId xmlns:p14="http://schemas.microsoft.com/office/powerpoint/2010/main" val="10148780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of Information in Decision Making</a:t>
            </a:r>
          </a:p>
          <a:p>
            <a:r>
              <a:rPr lang="en-US" dirty="0"/>
              <a:t>https://www.tutor2u.net/economics/reference/4-1-2-2-the-importance-of-information-for-decision-making</a:t>
            </a:r>
          </a:p>
        </p:txBody>
      </p:sp>
      <p:sp>
        <p:nvSpPr>
          <p:cNvPr id="4" name="Slide Number Placeholder 3"/>
          <p:cNvSpPr>
            <a:spLocks noGrp="1"/>
          </p:cNvSpPr>
          <p:nvPr>
            <p:ph type="sldNum" sz="quarter" idx="5"/>
          </p:nvPr>
        </p:nvSpPr>
        <p:spPr/>
        <p:txBody>
          <a:bodyPr/>
          <a:lstStyle/>
          <a:p>
            <a:fld id="{C0076829-C24E-41F4-AE24-67DAAD6FD20F}" type="slidenum">
              <a:rPr lang="en-US" smtClean="0"/>
              <a:t>54</a:t>
            </a:fld>
            <a:endParaRPr lang="en-US"/>
          </a:p>
        </p:txBody>
      </p:sp>
    </p:spTree>
    <p:extLst>
      <p:ext uri="{BB962C8B-B14F-4D97-AF65-F5344CB8AC3E}">
        <p14:creationId xmlns:p14="http://schemas.microsoft.com/office/powerpoint/2010/main" val="331145799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Data-Driven Decision Making</a:t>
            </a:r>
          </a:p>
          <a:p>
            <a:endParaRPr lang="en-US" dirty="0"/>
          </a:p>
        </p:txBody>
      </p:sp>
      <p:sp>
        <p:nvSpPr>
          <p:cNvPr id="4" name="Slide Number Placeholder 3"/>
          <p:cNvSpPr>
            <a:spLocks noGrp="1"/>
          </p:cNvSpPr>
          <p:nvPr>
            <p:ph type="sldNum" sz="quarter" idx="5"/>
          </p:nvPr>
        </p:nvSpPr>
        <p:spPr/>
        <p:txBody>
          <a:bodyPr/>
          <a:lstStyle/>
          <a:p>
            <a:fld id="{C0076829-C24E-41F4-AE24-67DAAD6FD20F}" type="slidenum">
              <a:rPr lang="en-US" smtClean="0"/>
              <a:t>55</a:t>
            </a:fld>
            <a:endParaRPr lang="en-US"/>
          </a:p>
        </p:txBody>
      </p:sp>
    </p:spTree>
    <p:extLst>
      <p:ext uri="{BB962C8B-B14F-4D97-AF65-F5344CB8AC3E}">
        <p14:creationId xmlns:p14="http://schemas.microsoft.com/office/powerpoint/2010/main" val="62951700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Principles of Data-Driven Decision Making</a:t>
            </a:r>
          </a:p>
          <a:p>
            <a:r>
              <a:rPr lang="en-US" dirty="0"/>
              <a:t>https://www.newhorizons.com/resources/blog/data-driven-decision-making</a:t>
            </a:r>
          </a:p>
        </p:txBody>
      </p:sp>
      <p:sp>
        <p:nvSpPr>
          <p:cNvPr id="4" name="Slide Number Placeholder 3"/>
          <p:cNvSpPr>
            <a:spLocks noGrp="1"/>
          </p:cNvSpPr>
          <p:nvPr>
            <p:ph type="sldNum" sz="quarter" idx="5"/>
          </p:nvPr>
        </p:nvSpPr>
        <p:spPr/>
        <p:txBody>
          <a:bodyPr/>
          <a:lstStyle/>
          <a:p>
            <a:fld id="{C0076829-C24E-41F4-AE24-67DAAD6FD20F}" type="slidenum">
              <a:rPr lang="en-US" smtClean="0"/>
              <a:t>56</a:t>
            </a:fld>
            <a:endParaRPr lang="en-US"/>
          </a:p>
        </p:txBody>
      </p:sp>
    </p:spTree>
    <p:extLst>
      <p:ext uri="{BB962C8B-B14F-4D97-AF65-F5344CB8AC3E}">
        <p14:creationId xmlns:p14="http://schemas.microsoft.com/office/powerpoint/2010/main" val="186300337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Principles of Data-Driven Decision Making</a:t>
            </a:r>
          </a:p>
          <a:p>
            <a:r>
              <a:rPr lang="en-US" dirty="0"/>
              <a:t>https://www.newhorizons.com/resources/blog/data-driven-decision-making</a:t>
            </a:r>
          </a:p>
        </p:txBody>
      </p:sp>
      <p:sp>
        <p:nvSpPr>
          <p:cNvPr id="4" name="Slide Number Placeholder 3"/>
          <p:cNvSpPr>
            <a:spLocks noGrp="1"/>
          </p:cNvSpPr>
          <p:nvPr>
            <p:ph type="sldNum" sz="quarter" idx="5"/>
          </p:nvPr>
        </p:nvSpPr>
        <p:spPr/>
        <p:txBody>
          <a:bodyPr/>
          <a:lstStyle/>
          <a:p>
            <a:fld id="{C0076829-C24E-41F4-AE24-67DAAD6FD20F}" type="slidenum">
              <a:rPr lang="en-US" smtClean="0"/>
              <a:t>57</a:t>
            </a:fld>
            <a:endParaRPr lang="en-US"/>
          </a:p>
        </p:txBody>
      </p:sp>
    </p:spTree>
    <p:extLst>
      <p:ext uri="{BB962C8B-B14F-4D97-AF65-F5344CB8AC3E}">
        <p14:creationId xmlns:p14="http://schemas.microsoft.com/office/powerpoint/2010/main" val="340641473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Principles of Data-Driven Decision Making</a:t>
            </a:r>
          </a:p>
          <a:p>
            <a:r>
              <a:rPr lang="en-US" dirty="0"/>
              <a:t>https://www.newhorizons.com/resources/blog/data-driven-decision-making</a:t>
            </a:r>
          </a:p>
        </p:txBody>
      </p:sp>
      <p:sp>
        <p:nvSpPr>
          <p:cNvPr id="4" name="Slide Number Placeholder 3"/>
          <p:cNvSpPr>
            <a:spLocks noGrp="1"/>
          </p:cNvSpPr>
          <p:nvPr>
            <p:ph type="sldNum" sz="quarter" idx="5"/>
          </p:nvPr>
        </p:nvSpPr>
        <p:spPr/>
        <p:txBody>
          <a:bodyPr/>
          <a:lstStyle/>
          <a:p>
            <a:fld id="{C0076829-C24E-41F4-AE24-67DAAD6FD20F}" type="slidenum">
              <a:rPr lang="en-US" smtClean="0"/>
              <a:t>58</a:t>
            </a:fld>
            <a:endParaRPr lang="en-US"/>
          </a:p>
        </p:txBody>
      </p:sp>
    </p:spTree>
    <p:extLst>
      <p:ext uri="{BB962C8B-B14F-4D97-AF65-F5344CB8AC3E}">
        <p14:creationId xmlns:p14="http://schemas.microsoft.com/office/powerpoint/2010/main" val="309654098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Benefits of Using Data for Decisions	</a:t>
            </a:r>
          </a:p>
          <a:p>
            <a:r>
              <a:rPr lang="en-US" dirty="0"/>
              <a:t>https://www.visioneerit.com/blog/data-driven-decision-making</a:t>
            </a:r>
          </a:p>
        </p:txBody>
      </p:sp>
      <p:sp>
        <p:nvSpPr>
          <p:cNvPr id="4" name="Slide Number Placeholder 3"/>
          <p:cNvSpPr>
            <a:spLocks noGrp="1"/>
          </p:cNvSpPr>
          <p:nvPr>
            <p:ph type="sldNum" sz="quarter" idx="5"/>
          </p:nvPr>
        </p:nvSpPr>
        <p:spPr/>
        <p:txBody>
          <a:bodyPr/>
          <a:lstStyle/>
          <a:p>
            <a:fld id="{C0076829-C24E-41F4-AE24-67DAAD6FD20F}" type="slidenum">
              <a:rPr lang="en-US" smtClean="0"/>
              <a:t>59</a:t>
            </a:fld>
            <a:endParaRPr lang="en-US"/>
          </a:p>
        </p:txBody>
      </p:sp>
    </p:spTree>
    <p:extLst>
      <p:ext uri="{BB962C8B-B14F-4D97-AF65-F5344CB8AC3E}">
        <p14:creationId xmlns:p14="http://schemas.microsoft.com/office/powerpoint/2010/main" val="136233528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Benefits of Using Data for Decisions	</a:t>
            </a:r>
          </a:p>
          <a:p>
            <a:r>
              <a:rPr lang="en-US" dirty="0"/>
              <a:t>https://www.visioneerit.com/blog/data-driven-decision-making</a:t>
            </a:r>
          </a:p>
        </p:txBody>
      </p:sp>
      <p:sp>
        <p:nvSpPr>
          <p:cNvPr id="4" name="Slide Number Placeholder 3"/>
          <p:cNvSpPr>
            <a:spLocks noGrp="1"/>
          </p:cNvSpPr>
          <p:nvPr>
            <p:ph type="sldNum" sz="quarter" idx="5"/>
          </p:nvPr>
        </p:nvSpPr>
        <p:spPr/>
        <p:txBody>
          <a:bodyPr/>
          <a:lstStyle/>
          <a:p>
            <a:fld id="{C0076829-C24E-41F4-AE24-67DAAD6FD20F}" type="slidenum">
              <a:rPr lang="en-US" smtClean="0"/>
              <a:t>60</a:t>
            </a:fld>
            <a:endParaRPr lang="en-US"/>
          </a:p>
        </p:txBody>
      </p:sp>
    </p:spTree>
    <p:extLst>
      <p:ext uri="{BB962C8B-B14F-4D97-AF65-F5344CB8AC3E}">
        <p14:creationId xmlns:p14="http://schemas.microsoft.com/office/powerpoint/2010/main" val="75942805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Benefits of Using Data for Decisions	</a:t>
            </a:r>
          </a:p>
          <a:p>
            <a:r>
              <a:rPr lang="en-US" dirty="0"/>
              <a:t>https://www.visioneerit.com/blog/data-driven-decision-making</a:t>
            </a:r>
          </a:p>
        </p:txBody>
      </p:sp>
      <p:sp>
        <p:nvSpPr>
          <p:cNvPr id="4" name="Slide Number Placeholder 3"/>
          <p:cNvSpPr>
            <a:spLocks noGrp="1"/>
          </p:cNvSpPr>
          <p:nvPr>
            <p:ph type="sldNum" sz="quarter" idx="5"/>
          </p:nvPr>
        </p:nvSpPr>
        <p:spPr/>
        <p:txBody>
          <a:bodyPr/>
          <a:lstStyle/>
          <a:p>
            <a:fld id="{C0076829-C24E-41F4-AE24-67DAAD6FD20F}" type="slidenum">
              <a:rPr lang="en-US" smtClean="0"/>
              <a:t>61</a:t>
            </a:fld>
            <a:endParaRPr lang="en-US"/>
          </a:p>
        </p:txBody>
      </p:sp>
    </p:spTree>
    <p:extLst>
      <p:ext uri="{BB962C8B-B14F-4D97-AF65-F5344CB8AC3E}">
        <p14:creationId xmlns:p14="http://schemas.microsoft.com/office/powerpoint/2010/main" val="318289106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in the Data-Driven Decision Process</a:t>
            </a:r>
          </a:p>
          <a:p>
            <a:r>
              <a:rPr lang="en-US" dirty="0"/>
              <a:t>https://www.ohio.edu/business/academics/graduate/online-masters-business-analytics/resources/data-driven-decision-making</a:t>
            </a:r>
          </a:p>
        </p:txBody>
      </p:sp>
      <p:sp>
        <p:nvSpPr>
          <p:cNvPr id="4" name="Slide Number Placeholder 3"/>
          <p:cNvSpPr>
            <a:spLocks noGrp="1"/>
          </p:cNvSpPr>
          <p:nvPr>
            <p:ph type="sldNum" sz="quarter" idx="5"/>
          </p:nvPr>
        </p:nvSpPr>
        <p:spPr/>
        <p:txBody>
          <a:bodyPr/>
          <a:lstStyle/>
          <a:p>
            <a:fld id="{C0076829-C24E-41F4-AE24-67DAAD6FD20F}" type="slidenum">
              <a:rPr lang="en-US" smtClean="0"/>
              <a:t>62</a:t>
            </a:fld>
            <a:endParaRPr lang="en-US"/>
          </a:p>
        </p:txBody>
      </p:sp>
    </p:spTree>
    <p:extLst>
      <p:ext uri="{BB962C8B-B14F-4D97-AF65-F5344CB8AC3E}">
        <p14:creationId xmlns:p14="http://schemas.microsoft.com/office/powerpoint/2010/main" val="257349964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in the Data-Driven Decision Process</a:t>
            </a:r>
          </a:p>
          <a:p>
            <a:r>
              <a:rPr lang="en-US" dirty="0"/>
              <a:t>https://www.ohio.edu/business/academics/graduate/online-masters-business-analytics/resources/data-driven-decision-making</a:t>
            </a:r>
          </a:p>
        </p:txBody>
      </p:sp>
      <p:sp>
        <p:nvSpPr>
          <p:cNvPr id="4" name="Slide Number Placeholder 3"/>
          <p:cNvSpPr>
            <a:spLocks noGrp="1"/>
          </p:cNvSpPr>
          <p:nvPr>
            <p:ph type="sldNum" sz="quarter" idx="5"/>
          </p:nvPr>
        </p:nvSpPr>
        <p:spPr/>
        <p:txBody>
          <a:bodyPr/>
          <a:lstStyle/>
          <a:p>
            <a:fld id="{C0076829-C24E-41F4-AE24-67DAAD6FD20F}" type="slidenum">
              <a:rPr lang="en-US" smtClean="0"/>
              <a:t>63</a:t>
            </a:fld>
            <a:endParaRPr lang="en-US"/>
          </a:p>
        </p:txBody>
      </p:sp>
    </p:spTree>
    <p:extLst>
      <p:ext uri="{BB962C8B-B14F-4D97-AF65-F5344CB8AC3E}">
        <p14:creationId xmlns:p14="http://schemas.microsoft.com/office/powerpoint/2010/main" val="51038410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in the Data-Driven Decision Process</a:t>
            </a:r>
          </a:p>
          <a:p>
            <a:r>
              <a:rPr lang="en-US" dirty="0"/>
              <a:t>https://www.ohio.edu/business/academics/graduate/online-masters-business-analytics/resources/data-driven-decision-making</a:t>
            </a:r>
          </a:p>
        </p:txBody>
      </p:sp>
      <p:sp>
        <p:nvSpPr>
          <p:cNvPr id="4" name="Slide Number Placeholder 3"/>
          <p:cNvSpPr>
            <a:spLocks noGrp="1"/>
          </p:cNvSpPr>
          <p:nvPr>
            <p:ph type="sldNum" sz="quarter" idx="5"/>
          </p:nvPr>
        </p:nvSpPr>
        <p:spPr/>
        <p:txBody>
          <a:bodyPr/>
          <a:lstStyle/>
          <a:p>
            <a:fld id="{C0076829-C24E-41F4-AE24-67DAAD6FD20F}" type="slidenum">
              <a:rPr lang="en-US" smtClean="0"/>
              <a:t>64</a:t>
            </a:fld>
            <a:endParaRPr lang="en-US"/>
          </a:p>
        </p:txBody>
      </p:sp>
    </p:spTree>
    <p:extLst>
      <p:ext uri="{BB962C8B-B14F-4D97-AF65-F5344CB8AC3E}">
        <p14:creationId xmlns:p14="http://schemas.microsoft.com/office/powerpoint/2010/main" val="317559856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and Pitfalls in Data-Driven Approaches</a:t>
            </a:r>
          </a:p>
          <a:p>
            <a:r>
              <a:rPr lang="en-US" dirty="0"/>
              <a:t>https://www.forbes.com/sites/brentdykes/2022/08/31/8-pitfalls-in-the-data-driven-decision-making-dddm-process/</a:t>
            </a:r>
          </a:p>
        </p:txBody>
      </p:sp>
      <p:sp>
        <p:nvSpPr>
          <p:cNvPr id="4" name="Slide Number Placeholder 3"/>
          <p:cNvSpPr>
            <a:spLocks noGrp="1"/>
          </p:cNvSpPr>
          <p:nvPr>
            <p:ph type="sldNum" sz="quarter" idx="5"/>
          </p:nvPr>
        </p:nvSpPr>
        <p:spPr/>
        <p:txBody>
          <a:bodyPr/>
          <a:lstStyle/>
          <a:p>
            <a:fld id="{C0076829-C24E-41F4-AE24-67DAAD6FD20F}" type="slidenum">
              <a:rPr lang="en-US" smtClean="0"/>
              <a:t>65</a:t>
            </a:fld>
            <a:endParaRPr lang="en-US"/>
          </a:p>
        </p:txBody>
      </p:sp>
    </p:spTree>
    <p:extLst>
      <p:ext uri="{BB962C8B-B14F-4D97-AF65-F5344CB8AC3E}">
        <p14:creationId xmlns:p14="http://schemas.microsoft.com/office/powerpoint/2010/main" val="107941084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and Pitfalls in Data-Driven Approaches</a:t>
            </a:r>
          </a:p>
          <a:p>
            <a:r>
              <a:rPr lang="en-US" dirty="0"/>
              <a:t>https://www.forbes.com/sites/brentdykes/2022/08/31/8-pitfalls-in-the-data-driven-decision-making-dddm-process/</a:t>
            </a:r>
          </a:p>
        </p:txBody>
      </p:sp>
      <p:sp>
        <p:nvSpPr>
          <p:cNvPr id="4" name="Slide Number Placeholder 3"/>
          <p:cNvSpPr>
            <a:spLocks noGrp="1"/>
          </p:cNvSpPr>
          <p:nvPr>
            <p:ph type="sldNum" sz="quarter" idx="5"/>
          </p:nvPr>
        </p:nvSpPr>
        <p:spPr/>
        <p:txBody>
          <a:bodyPr/>
          <a:lstStyle/>
          <a:p>
            <a:fld id="{C0076829-C24E-41F4-AE24-67DAAD6FD20F}" type="slidenum">
              <a:rPr lang="en-US" smtClean="0"/>
              <a:t>66</a:t>
            </a:fld>
            <a:endParaRPr lang="en-US"/>
          </a:p>
        </p:txBody>
      </p:sp>
    </p:spTree>
    <p:extLst>
      <p:ext uri="{BB962C8B-B14F-4D97-AF65-F5344CB8AC3E}">
        <p14:creationId xmlns:p14="http://schemas.microsoft.com/office/powerpoint/2010/main" val="36970899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and Pitfalls in Data-Driven Approaches</a:t>
            </a:r>
          </a:p>
          <a:p>
            <a:r>
              <a:rPr lang="en-US" dirty="0"/>
              <a:t>https://www.forbes.com/sites/brentdykes/2022/08/31/8-pitfalls-in-the-data-driven-decision-making-dddm-process/</a:t>
            </a:r>
          </a:p>
        </p:txBody>
      </p:sp>
      <p:sp>
        <p:nvSpPr>
          <p:cNvPr id="4" name="Slide Number Placeholder 3"/>
          <p:cNvSpPr>
            <a:spLocks noGrp="1"/>
          </p:cNvSpPr>
          <p:nvPr>
            <p:ph type="sldNum" sz="quarter" idx="5"/>
          </p:nvPr>
        </p:nvSpPr>
        <p:spPr/>
        <p:txBody>
          <a:bodyPr/>
          <a:lstStyle/>
          <a:p>
            <a:fld id="{C0076829-C24E-41F4-AE24-67DAAD6FD20F}" type="slidenum">
              <a:rPr lang="en-US" smtClean="0"/>
              <a:t>67</a:t>
            </a:fld>
            <a:endParaRPr lang="en-US"/>
          </a:p>
        </p:txBody>
      </p:sp>
    </p:spTree>
    <p:extLst>
      <p:ext uri="{BB962C8B-B14F-4D97-AF65-F5344CB8AC3E}">
        <p14:creationId xmlns:p14="http://schemas.microsoft.com/office/powerpoint/2010/main" val="243908280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Discussions / Real-Life Examples</a:t>
            </a:r>
          </a:p>
          <a:p>
            <a:endParaRPr lang="en-US" dirty="0"/>
          </a:p>
        </p:txBody>
      </p:sp>
      <p:sp>
        <p:nvSpPr>
          <p:cNvPr id="4" name="Slide Number Placeholder 3"/>
          <p:cNvSpPr>
            <a:spLocks noGrp="1"/>
          </p:cNvSpPr>
          <p:nvPr>
            <p:ph type="sldNum" sz="quarter" idx="5"/>
          </p:nvPr>
        </p:nvSpPr>
        <p:spPr/>
        <p:txBody>
          <a:bodyPr/>
          <a:lstStyle/>
          <a:p>
            <a:fld id="{C0076829-C24E-41F4-AE24-67DAAD6FD20F}" type="slidenum">
              <a:rPr lang="en-US" smtClean="0"/>
              <a:t>68</a:t>
            </a:fld>
            <a:endParaRPr lang="en-US"/>
          </a:p>
        </p:txBody>
      </p:sp>
    </p:spTree>
    <p:extLst>
      <p:ext uri="{BB962C8B-B14F-4D97-AF65-F5344CB8AC3E}">
        <p14:creationId xmlns:p14="http://schemas.microsoft.com/office/powerpoint/2010/main" val="125078193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Analysis of Business Scenarios</a:t>
            </a:r>
          </a:p>
          <a:p>
            <a:r>
              <a:rPr lang="en-US" dirty="0"/>
              <a:t>https://www.investopedia.com/terms/s/scenario_analysis.asp</a:t>
            </a:r>
          </a:p>
        </p:txBody>
      </p:sp>
      <p:sp>
        <p:nvSpPr>
          <p:cNvPr id="4" name="Slide Number Placeholder 3"/>
          <p:cNvSpPr>
            <a:spLocks noGrp="1"/>
          </p:cNvSpPr>
          <p:nvPr>
            <p:ph type="sldNum" sz="quarter" idx="5"/>
          </p:nvPr>
        </p:nvSpPr>
        <p:spPr/>
        <p:txBody>
          <a:bodyPr/>
          <a:lstStyle/>
          <a:p>
            <a:fld id="{C0076829-C24E-41F4-AE24-67DAAD6FD20F}" type="slidenum">
              <a:rPr lang="en-US" smtClean="0"/>
              <a:t>69</a:t>
            </a:fld>
            <a:endParaRPr lang="en-US"/>
          </a:p>
        </p:txBody>
      </p:sp>
    </p:spTree>
    <p:extLst>
      <p:ext uri="{BB962C8B-B14F-4D97-AF65-F5344CB8AC3E}">
        <p14:creationId xmlns:p14="http://schemas.microsoft.com/office/powerpoint/2010/main" val="213009416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Analysis of Business Scenarios</a:t>
            </a:r>
          </a:p>
          <a:p>
            <a:r>
              <a:rPr lang="en-US" dirty="0"/>
              <a:t>https://www.investopedia.com/terms/s/scenario_analysis.asp</a:t>
            </a:r>
          </a:p>
        </p:txBody>
      </p:sp>
      <p:sp>
        <p:nvSpPr>
          <p:cNvPr id="4" name="Slide Number Placeholder 3"/>
          <p:cNvSpPr>
            <a:spLocks noGrp="1"/>
          </p:cNvSpPr>
          <p:nvPr>
            <p:ph type="sldNum" sz="quarter" idx="5"/>
          </p:nvPr>
        </p:nvSpPr>
        <p:spPr/>
        <p:txBody>
          <a:bodyPr/>
          <a:lstStyle/>
          <a:p>
            <a:fld id="{C0076829-C24E-41F4-AE24-67DAAD6FD20F}" type="slidenum">
              <a:rPr lang="en-US" smtClean="0"/>
              <a:t>70</a:t>
            </a:fld>
            <a:endParaRPr lang="en-US"/>
          </a:p>
        </p:txBody>
      </p:sp>
    </p:spTree>
    <p:extLst>
      <p:ext uri="{BB962C8B-B14F-4D97-AF65-F5344CB8AC3E}">
        <p14:creationId xmlns:p14="http://schemas.microsoft.com/office/powerpoint/2010/main" val="251193092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Analysis of Business Scenarios</a:t>
            </a:r>
          </a:p>
          <a:p>
            <a:r>
              <a:rPr lang="en-US" dirty="0"/>
              <a:t>https://www.investopedia.com/terms/s/scenario_analysis.asp</a:t>
            </a:r>
          </a:p>
        </p:txBody>
      </p:sp>
      <p:sp>
        <p:nvSpPr>
          <p:cNvPr id="4" name="Slide Number Placeholder 3"/>
          <p:cNvSpPr>
            <a:spLocks noGrp="1"/>
          </p:cNvSpPr>
          <p:nvPr>
            <p:ph type="sldNum" sz="quarter" idx="5"/>
          </p:nvPr>
        </p:nvSpPr>
        <p:spPr/>
        <p:txBody>
          <a:bodyPr/>
          <a:lstStyle/>
          <a:p>
            <a:fld id="{C0076829-C24E-41F4-AE24-67DAAD6FD20F}" type="slidenum">
              <a:rPr lang="en-US" smtClean="0"/>
              <a:t>71</a:t>
            </a:fld>
            <a:endParaRPr lang="en-US"/>
          </a:p>
        </p:txBody>
      </p:sp>
    </p:spTree>
    <p:extLst>
      <p:ext uri="{BB962C8B-B14F-4D97-AF65-F5344CB8AC3E}">
        <p14:creationId xmlns:p14="http://schemas.microsoft.com/office/powerpoint/2010/main" val="291811965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to Data Governance &amp; Data Ethics</a:t>
            </a:r>
          </a:p>
          <a:p>
            <a:endParaRPr lang="en-US" dirty="0"/>
          </a:p>
        </p:txBody>
      </p:sp>
      <p:sp>
        <p:nvSpPr>
          <p:cNvPr id="4" name="Slide Number Placeholder 3"/>
          <p:cNvSpPr>
            <a:spLocks noGrp="1"/>
          </p:cNvSpPr>
          <p:nvPr>
            <p:ph type="sldNum" sz="quarter" idx="5"/>
          </p:nvPr>
        </p:nvSpPr>
        <p:spPr/>
        <p:txBody>
          <a:bodyPr/>
          <a:lstStyle/>
          <a:p>
            <a:fld id="{C0076829-C24E-41F4-AE24-67DAAD6FD20F}" type="slidenum">
              <a:rPr lang="en-US" smtClean="0"/>
              <a:t>72</a:t>
            </a:fld>
            <a:endParaRPr lang="en-US"/>
          </a:p>
        </p:txBody>
      </p:sp>
    </p:spTree>
    <p:extLst>
      <p:ext uri="{BB962C8B-B14F-4D97-AF65-F5344CB8AC3E}">
        <p14:creationId xmlns:p14="http://schemas.microsoft.com/office/powerpoint/2010/main" val="225770347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to Data Governance &amp; Data Ethics</a:t>
            </a:r>
          </a:p>
          <a:p>
            <a:endParaRPr lang="en-US" dirty="0"/>
          </a:p>
        </p:txBody>
      </p:sp>
      <p:sp>
        <p:nvSpPr>
          <p:cNvPr id="4" name="Slide Number Placeholder 3"/>
          <p:cNvSpPr>
            <a:spLocks noGrp="1"/>
          </p:cNvSpPr>
          <p:nvPr>
            <p:ph type="sldNum" sz="quarter" idx="5"/>
          </p:nvPr>
        </p:nvSpPr>
        <p:spPr/>
        <p:txBody>
          <a:bodyPr/>
          <a:lstStyle/>
          <a:p>
            <a:fld id="{C0076829-C24E-41F4-AE24-67DAAD6FD20F}" type="slidenum">
              <a:rPr lang="en-US" smtClean="0"/>
              <a:t>73</a:t>
            </a:fld>
            <a:endParaRPr lang="en-US"/>
          </a:p>
        </p:txBody>
      </p:sp>
    </p:spTree>
    <p:extLst>
      <p:ext uri="{BB962C8B-B14F-4D97-AF65-F5344CB8AC3E}">
        <p14:creationId xmlns:p14="http://schemas.microsoft.com/office/powerpoint/2010/main" val="416720861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Data Governance?	</a:t>
            </a:r>
          </a:p>
          <a:p>
            <a:r>
              <a:rPr lang="en-US" dirty="0"/>
              <a:t>https://cloud.google.com/learn/what-is-data-governance</a:t>
            </a:r>
          </a:p>
        </p:txBody>
      </p:sp>
      <p:sp>
        <p:nvSpPr>
          <p:cNvPr id="4" name="Slide Number Placeholder 3"/>
          <p:cNvSpPr>
            <a:spLocks noGrp="1"/>
          </p:cNvSpPr>
          <p:nvPr>
            <p:ph type="sldNum" sz="quarter" idx="5"/>
          </p:nvPr>
        </p:nvSpPr>
        <p:spPr/>
        <p:txBody>
          <a:bodyPr/>
          <a:lstStyle/>
          <a:p>
            <a:fld id="{C0076829-C24E-41F4-AE24-67DAAD6FD20F}" type="slidenum">
              <a:rPr lang="en-US" smtClean="0"/>
              <a:t>74</a:t>
            </a:fld>
            <a:endParaRPr lang="en-US"/>
          </a:p>
        </p:txBody>
      </p:sp>
    </p:spTree>
    <p:extLst>
      <p:ext uri="{BB962C8B-B14F-4D97-AF65-F5344CB8AC3E}">
        <p14:creationId xmlns:p14="http://schemas.microsoft.com/office/powerpoint/2010/main" val="335269605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Data Governance?	</a:t>
            </a:r>
          </a:p>
          <a:p>
            <a:r>
              <a:rPr lang="en-US" dirty="0"/>
              <a:t>https://cloud.google.com/learn/what-is-data-governance</a:t>
            </a:r>
          </a:p>
        </p:txBody>
      </p:sp>
      <p:sp>
        <p:nvSpPr>
          <p:cNvPr id="4" name="Slide Number Placeholder 3"/>
          <p:cNvSpPr>
            <a:spLocks noGrp="1"/>
          </p:cNvSpPr>
          <p:nvPr>
            <p:ph type="sldNum" sz="quarter" idx="5"/>
          </p:nvPr>
        </p:nvSpPr>
        <p:spPr/>
        <p:txBody>
          <a:bodyPr/>
          <a:lstStyle/>
          <a:p>
            <a:fld id="{C0076829-C24E-41F4-AE24-67DAAD6FD20F}" type="slidenum">
              <a:rPr lang="en-US" smtClean="0"/>
              <a:t>75</a:t>
            </a:fld>
            <a:endParaRPr lang="en-US"/>
          </a:p>
        </p:txBody>
      </p:sp>
    </p:spTree>
    <p:extLst>
      <p:ext uri="{BB962C8B-B14F-4D97-AF65-F5344CB8AC3E}">
        <p14:creationId xmlns:p14="http://schemas.microsoft.com/office/powerpoint/2010/main" val="75529586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Data Governance?	</a:t>
            </a:r>
          </a:p>
          <a:p>
            <a:r>
              <a:rPr lang="en-US" dirty="0"/>
              <a:t>https://cloud.google.com/learn/what-is-data-governance</a:t>
            </a:r>
          </a:p>
        </p:txBody>
      </p:sp>
      <p:sp>
        <p:nvSpPr>
          <p:cNvPr id="4" name="Slide Number Placeholder 3"/>
          <p:cNvSpPr>
            <a:spLocks noGrp="1"/>
          </p:cNvSpPr>
          <p:nvPr>
            <p:ph type="sldNum" sz="quarter" idx="5"/>
          </p:nvPr>
        </p:nvSpPr>
        <p:spPr/>
        <p:txBody>
          <a:bodyPr/>
          <a:lstStyle/>
          <a:p>
            <a:fld id="{C0076829-C24E-41F4-AE24-67DAAD6FD20F}" type="slidenum">
              <a:rPr lang="en-US" smtClean="0"/>
              <a:t>76</a:t>
            </a:fld>
            <a:endParaRPr lang="en-US"/>
          </a:p>
        </p:txBody>
      </p:sp>
    </p:spTree>
    <p:extLst>
      <p:ext uri="{BB962C8B-B14F-4D97-AF65-F5344CB8AC3E}">
        <p14:creationId xmlns:p14="http://schemas.microsoft.com/office/powerpoint/2010/main" val="79302045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Policies and Procedures	</a:t>
            </a:r>
          </a:p>
          <a:p>
            <a:r>
              <a:rPr lang="en-US" dirty="0"/>
              <a:t>https://www.fortinet.com/resources/cyberglossary/data-governance</a:t>
            </a:r>
          </a:p>
        </p:txBody>
      </p:sp>
      <p:sp>
        <p:nvSpPr>
          <p:cNvPr id="4" name="Slide Number Placeholder 3"/>
          <p:cNvSpPr>
            <a:spLocks noGrp="1"/>
          </p:cNvSpPr>
          <p:nvPr>
            <p:ph type="sldNum" sz="quarter" idx="5"/>
          </p:nvPr>
        </p:nvSpPr>
        <p:spPr/>
        <p:txBody>
          <a:bodyPr/>
          <a:lstStyle/>
          <a:p>
            <a:fld id="{C0076829-C24E-41F4-AE24-67DAAD6FD20F}" type="slidenum">
              <a:rPr lang="en-US" smtClean="0"/>
              <a:t>77</a:t>
            </a:fld>
            <a:endParaRPr lang="en-US"/>
          </a:p>
        </p:txBody>
      </p:sp>
    </p:spTree>
    <p:extLst>
      <p:ext uri="{BB962C8B-B14F-4D97-AF65-F5344CB8AC3E}">
        <p14:creationId xmlns:p14="http://schemas.microsoft.com/office/powerpoint/2010/main" val="385976461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10EE3-EC0B-1C57-B4E9-BE65156FEB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9D0883-3D27-DAED-0D1D-88603E5830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15C11B-9E25-8256-FE63-933F00B023E0}"/>
              </a:ext>
            </a:extLst>
          </p:cNvPr>
          <p:cNvSpPr>
            <a:spLocks noGrp="1"/>
          </p:cNvSpPr>
          <p:nvPr>
            <p:ph type="body" idx="1"/>
          </p:nvPr>
        </p:nvSpPr>
        <p:spPr/>
        <p:txBody>
          <a:bodyPr/>
          <a:lstStyle/>
          <a:p>
            <a:r>
              <a:rPr lang="en-US" dirty="0"/>
              <a:t>Policies and Procedures	</a:t>
            </a:r>
          </a:p>
          <a:p>
            <a:r>
              <a:rPr lang="en-US" dirty="0"/>
              <a:t>https://www.fortinet.com/resources/cyberglossary/data-governance</a:t>
            </a:r>
          </a:p>
        </p:txBody>
      </p:sp>
      <p:sp>
        <p:nvSpPr>
          <p:cNvPr id="4" name="Slide Number Placeholder 3">
            <a:extLst>
              <a:ext uri="{FF2B5EF4-FFF2-40B4-BE49-F238E27FC236}">
                <a16:creationId xmlns:a16="http://schemas.microsoft.com/office/drawing/2014/main" id="{3B118E0B-C809-C0B9-7889-3892BED90B5A}"/>
              </a:ext>
            </a:extLst>
          </p:cNvPr>
          <p:cNvSpPr>
            <a:spLocks noGrp="1"/>
          </p:cNvSpPr>
          <p:nvPr>
            <p:ph type="sldNum" sz="quarter" idx="5"/>
          </p:nvPr>
        </p:nvSpPr>
        <p:spPr/>
        <p:txBody>
          <a:bodyPr/>
          <a:lstStyle/>
          <a:p>
            <a:fld id="{C0076829-C24E-41F4-AE24-67DAAD6FD20F}" type="slidenum">
              <a:rPr lang="en-US" smtClean="0"/>
              <a:t>78</a:t>
            </a:fld>
            <a:endParaRPr lang="en-US"/>
          </a:p>
        </p:txBody>
      </p:sp>
    </p:spTree>
    <p:extLst>
      <p:ext uri="{BB962C8B-B14F-4D97-AF65-F5344CB8AC3E}">
        <p14:creationId xmlns:p14="http://schemas.microsoft.com/office/powerpoint/2010/main" val="15822460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Policies and Procedures	</a:t>
            </a:r>
          </a:p>
          <a:p>
            <a:r>
              <a:rPr lang="en-US" dirty="0"/>
              <a:t>https://www.fortinet.com/resources/cyberglossary/data-governance</a:t>
            </a:r>
          </a:p>
        </p:txBody>
      </p:sp>
      <p:sp>
        <p:nvSpPr>
          <p:cNvPr id="4" name="Slide Number Placeholder 3"/>
          <p:cNvSpPr>
            <a:spLocks noGrp="1"/>
          </p:cNvSpPr>
          <p:nvPr>
            <p:ph type="sldNum" sz="quarter" idx="5"/>
          </p:nvPr>
        </p:nvSpPr>
        <p:spPr/>
        <p:txBody>
          <a:bodyPr/>
          <a:lstStyle/>
          <a:p>
            <a:fld id="{C0076829-C24E-41F4-AE24-67DAAD6FD20F}" type="slidenum">
              <a:rPr lang="en-US" smtClean="0"/>
              <a:t>79</a:t>
            </a:fld>
            <a:endParaRPr lang="en-US"/>
          </a:p>
        </p:txBody>
      </p:sp>
    </p:spTree>
    <p:extLst>
      <p:ext uri="{BB962C8B-B14F-4D97-AF65-F5344CB8AC3E}">
        <p14:creationId xmlns:p14="http://schemas.microsoft.com/office/powerpoint/2010/main" val="209315556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and Responsibilities	</a:t>
            </a:r>
          </a:p>
          <a:p>
            <a:r>
              <a:rPr lang="en-US" dirty="0"/>
              <a:t>https://www.ewsolutions.com/basic-data-governance-policies/</a:t>
            </a:r>
          </a:p>
        </p:txBody>
      </p:sp>
      <p:sp>
        <p:nvSpPr>
          <p:cNvPr id="4" name="Slide Number Placeholder 3"/>
          <p:cNvSpPr>
            <a:spLocks noGrp="1"/>
          </p:cNvSpPr>
          <p:nvPr>
            <p:ph type="sldNum" sz="quarter" idx="5"/>
          </p:nvPr>
        </p:nvSpPr>
        <p:spPr/>
        <p:txBody>
          <a:bodyPr/>
          <a:lstStyle/>
          <a:p>
            <a:fld id="{C0076829-C24E-41F4-AE24-67DAAD6FD20F}" type="slidenum">
              <a:rPr lang="en-US" smtClean="0"/>
              <a:t>80</a:t>
            </a:fld>
            <a:endParaRPr lang="en-US"/>
          </a:p>
        </p:txBody>
      </p:sp>
    </p:spTree>
    <p:extLst>
      <p:ext uri="{BB962C8B-B14F-4D97-AF65-F5344CB8AC3E}">
        <p14:creationId xmlns:p14="http://schemas.microsoft.com/office/powerpoint/2010/main" val="383526555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and Responsibilities	</a:t>
            </a:r>
          </a:p>
          <a:p>
            <a:r>
              <a:rPr lang="en-US" dirty="0"/>
              <a:t>https://www.ewsolutions.com/basic-data-governance-policies/</a:t>
            </a:r>
          </a:p>
        </p:txBody>
      </p:sp>
      <p:sp>
        <p:nvSpPr>
          <p:cNvPr id="4" name="Slide Number Placeholder 3"/>
          <p:cNvSpPr>
            <a:spLocks noGrp="1"/>
          </p:cNvSpPr>
          <p:nvPr>
            <p:ph type="sldNum" sz="quarter" idx="5"/>
          </p:nvPr>
        </p:nvSpPr>
        <p:spPr/>
        <p:txBody>
          <a:bodyPr/>
          <a:lstStyle/>
          <a:p>
            <a:fld id="{C0076829-C24E-41F4-AE24-67DAAD6FD20F}" type="slidenum">
              <a:rPr lang="en-US" smtClean="0"/>
              <a:t>81</a:t>
            </a:fld>
            <a:endParaRPr lang="en-US"/>
          </a:p>
        </p:txBody>
      </p:sp>
    </p:spTree>
    <p:extLst>
      <p:ext uri="{BB962C8B-B14F-4D97-AF65-F5344CB8AC3E}">
        <p14:creationId xmlns:p14="http://schemas.microsoft.com/office/powerpoint/2010/main" val="138055206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and Responsibilities	</a:t>
            </a:r>
          </a:p>
          <a:p>
            <a:r>
              <a:rPr lang="en-US" dirty="0"/>
              <a:t>https://www.ewsolutions.com/basic-data-governance-policies/</a:t>
            </a:r>
          </a:p>
        </p:txBody>
      </p:sp>
      <p:sp>
        <p:nvSpPr>
          <p:cNvPr id="4" name="Slide Number Placeholder 3"/>
          <p:cNvSpPr>
            <a:spLocks noGrp="1"/>
          </p:cNvSpPr>
          <p:nvPr>
            <p:ph type="sldNum" sz="quarter" idx="5"/>
          </p:nvPr>
        </p:nvSpPr>
        <p:spPr/>
        <p:txBody>
          <a:bodyPr/>
          <a:lstStyle/>
          <a:p>
            <a:fld id="{C0076829-C24E-41F4-AE24-67DAAD6FD20F}" type="slidenum">
              <a:rPr lang="en-US" smtClean="0"/>
              <a:t>82</a:t>
            </a:fld>
            <a:endParaRPr lang="en-US"/>
          </a:p>
        </p:txBody>
      </p:sp>
    </p:spTree>
    <p:extLst>
      <p:ext uri="{BB962C8B-B14F-4D97-AF65-F5344CB8AC3E}">
        <p14:creationId xmlns:p14="http://schemas.microsoft.com/office/powerpoint/2010/main" val="206747021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Principles of Data Ethics	</a:t>
            </a:r>
          </a:p>
          <a:p>
            <a:r>
              <a:rPr lang="en-US" dirty="0"/>
              <a:t>https://www.datacamp.com/blog/introduction-to-data-ethics</a:t>
            </a:r>
          </a:p>
        </p:txBody>
      </p:sp>
      <p:sp>
        <p:nvSpPr>
          <p:cNvPr id="4" name="Slide Number Placeholder 3"/>
          <p:cNvSpPr>
            <a:spLocks noGrp="1"/>
          </p:cNvSpPr>
          <p:nvPr>
            <p:ph type="sldNum" sz="quarter" idx="5"/>
          </p:nvPr>
        </p:nvSpPr>
        <p:spPr/>
        <p:txBody>
          <a:bodyPr/>
          <a:lstStyle/>
          <a:p>
            <a:fld id="{C0076829-C24E-41F4-AE24-67DAAD6FD20F}" type="slidenum">
              <a:rPr lang="en-US" smtClean="0"/>
              <a:t>83</a:t>
            </a:fld>
            <a:endParaRPr lang="en-US"/>
          </a:p>
        </p:txBody>
      </p:sp>
    </p:spTree>
    <p:extLst>
      <p:ext uri="{BB962C8B-B14F-4D97-AF65-F5344CB8AC3E}">
        <p14:creationId xmlns:p14="http://schemas.microsoft.com/office/powerpoint/2010/main" val="197874470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Principles of Data Ethics	</a:t>
            </a:r>
          </a:p>
          <a:p>
            <a:r>
              <a:rPr lang="en-US" dirty="0"/>
              <a:t>https://www.datacamp.com/blog/introduction-to-data-ethics</a:t>
            </a:r>
          </a:p>
        </p:txBody>
      </p:sp>
      <p:sp>
        <p:nvSpPr>
          <p:cNvPr id="4" name="Slide Number Placeholder 3"/>
          <p:cNvSpPr>
            <a:spLocks noGrp="1"/>
          </p:cNvSpPr>
          <p:nvPr>
            <p:ph type="sldNum" sz="quarter" idx="5"/>
          </p:nvPr>
        </p:nvSpPr>
        <p:spPr/>
        <p:txBody>
          <a:bodyPr/>
          <a:lstStyle/>
          <a:p>
            <a:fld id="{C0076829-C24E-41F4-AE24-67DAAD6FD20F}" type="slidenum">
              <a:rPr lang="en-US" smtClean="0"/>
              <a:t>84</a:t>
            </a:fld>
            <a:endParaRPr lang="en-US"/>
          </a:p>
        </p:txBody>
      </p:sp>
    </p:spTree>
    <p:extLst>
      <p:ext uri="{BB962C8B-B14F-4D97-AF65-F5344CB8AC3E}">
        <p14:creationId xmlns:p14="http://schemas.microsoft.com/office/powerpoint/2010/main" val="266360350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Principles of Data Ethics	</a:t>
            </a:r>
          </a:p>
          <a:p>
            <a:r>
              <a:rPr lang="en-US" dirty="0"/>
              <a:t>https://www.datacamp.com/blog/introduction-to-data-ethics</a:t>
            </a:r>
          </a:p>
        </p:txBody>
      </p:sp>
      <p:sp>
        <p:nvSpPr>
          <p:cNvPr id="4" name="Slide Number Placeholder 3"/>
          <p:cNvSpPr>
            <a:spLocks noGrp="1"/>
          </p:cNvSpPr>
          <p:nvPr>
            <p:ph type="sldNum" sz="quarter" idx="5"/>
          </p:nvPr>
        </p:nvSpPr>
        <p:spPr/>
        <p:txBody>
          <a:bodyPr/>
          <a:lstStyle/>
          <a:p>
            <a:fld id="{C0076829-C24E-41F4-AE24-67DAAD6FD20F}" type="slidenum">
              <a:rPr lang="en-US" smtClean="0"/>
              <a:t>85</a:t>
            </a:fld>
            <a:endParaRPr lang="en-US"/>
          </a:p>
        </p:txBody>
      </p:sp>
    </p:spTree>
    <p:extLst>
      <p:ext uri="{BB962C8B-B14F-4D97-AF65-F5344CB8AC3E}">
        <p14:creationId xmlns:p14="http://schemas.microsoft.com/office/powerpoint/2010/main" val="45278378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and Confidentiality	</a:t>
            </a:r>
          </a:p>
          <a:p>
            <a:r>
              <a:rPr lang="en-US" dirty="0"/>
              <a:t>https://www.promptcloud.com/blog/importance-of-ethical-data-collection/</a:t>
            </a:r>
          </a:p>
        </p:txBody>
      </p:sp>
      <p:sp>
        <p:nvSpPr>
          <p:cNvPr id="4" name="Slide Number Placeholder 3"/>
          <p:cNvSpPr>
            <a:spLocks noGrp="1"/>
          </p:cNvSpPr>
          <p:nvPr>
            <p:ph type="sldNum" sz="quarter" idx="5"/>
          </p:nvPr>
        </p:nvSpPr>
        <p:spPr/>
        <p:txBody>
          <a:bodyPr/>
          <a:lstStyle/>
          <a:p>
            <a:fld id="{C0076829-C24E-41F4-AE24-67DAAD6FD20F}" type="slidenum">
              <a:rPr lang="en-US" smtClean="0"/>
              <a:t>86</a:t>
            </a:fld>
            <a:endParaRPr lang="en-US"/>
          </a:p>
        </p:txBody>
      </p:sp>
    </p:spTree>
    <p:extLst>
      <p:ext uri="{BB962C8B-B14F-4D97-AF65-F5344CB8AC3E}">
        <p14:creationId xmlns:p14="http://schemas.microsoft.com/office/powerpoint/2010/main" val="292575351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and Confidentiality	</a:t>
            </a:r>
          </a:p>
          <a:p>
            <a:r>
              <a:rPr lang="en-US" dirty="0"/>
              <a:t>https://www.promptcloud.com/blog/importance-of-ethical-data-collection/</a:t>
            </a:r>
          </a:p>
        </p:txBody>
      </p:sp>
      <p:sp>
        <p:nvSpPr>
          <p:cNvPr id="4" name="Slide Number Placeholder 3"/>
          <p:cNvSpPr>
            <a:spLocks noGrp="1"/>
          </p:cNvSpPr>
          <p:nvPr>
            <p:ph type="sldNum" sz="quarter" idx="5"/>
          </p:nvPr>
        </p:nvSpPr>
        <p:spPr/>
        <p:txBody>
          <a:bodyPr/>
          <a:lstStyle/>
          <a:p>
            <a:fld id="{C0076829-C24E-41F4-AE24-67DAAD6FD20F}" type="slidenum">
              <a:rPr lang="en-US" smtClean="0"/>
              <a:t>87</a:t>
            </a:fld>
            <a:endParaRPr lang="en-US"/>
          </a:p>
        </p:txBody>
      </p:sp>
    </p:spTree>
    <p:extLst>
      <p:ext uri="{BB962C8B-B14F-4D97-AF65-F5344CB8AC3E}">
        <p14:creationId xmlns:p14="http://schemas.microsoft.com/office/powerpoint/2010/main" val="343124179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and Confidentiality	</a:t>
            </a:r>
          </a:p>
          <a:p>
            <a:r>
              <a:rPr lang="en-US" dirty="0"/>
              <a:t>https://www.promptcloud.com/blog/importance-of-ethical-data-collection/</a:t>
            </a:r>
          </a:p>
        </p:txBody>
      </p:sp>
      <p:sp>
        <p:nvSpPr>
          <p:cNvPr id="4" name="Slide Number Placeholder 3"/>
          <p:cNvSpPr>
            <a:spLocks noGrp="1"/>
          </p:cNvSpPr>
          <p:nvPr>
            <p:ph type="sldNum" sz="quarter" idx="5"/>
          </p:nvPr>
        </p:nvSpPr>
        <p:spPr/>
        <p:txBody>
          <a:bodyPr/>
          <a:lstStyle/>
          <a:p>
            <a:fld id="{C0076829-C24E-41F4-AE24-67DAAD6FD20F}" type="slidenum">
              <a:rPr lang="en-US" smtClean="0"/>
              <a:t>88</a:t>
            </a:fld>
            <a:endParaRPr lang="en-US"/>
          </a:p>
        </p:txBody>
      </p:sp>
    </p:spTree>
    <p:extLst>
      <p:ext uri="{BB962C8B-B14F-4D97-AF65-F5344CB8AC3E}">
        <p14:creationId xmlns:p14="http://schemas.microsoft.com/office/powerpoint/2010/main" val="318631692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Transparency and Accountability	</a:t>
            </a:r>
          </a:p>
          <a:p>
            <a:r>
              <a:rPr lang="en-US" dirty="0"/>
              <a:t>https://www.informationgovernanceservices.com/articles/key-data-ethics-principles/</a:t>
            </a:r>
          </a:p>
        </p:txBody>
      </p:sp>
      <p:sp>
        <p:nvSpPr>
          <p:cNvPr id="4" name="Slide Number Placeholder 3"/>
          <p:cNvSpPr>
            <a:spLocks noGrp="1"/>
          </p:cNvSpPr>
          <p:nvPr>
            <p:ph type="sldNum" sz="quarter" idx="5"/>
          </p:nvPr>
        </p:nvSpPr>
        <p:spPr/>
        <p:txBody>
          <a:bodyPr/>
          <a:lstStyle/>
          <a:p>
            <a:fld id="{C0076829-C24E-41F4-AE24-67DAAD6FD20F}" type="slidenum">
              <a:rPr lang="en-US" smtClean="0"/>
              <a:t>89</a:t>
            </a:fld>
            <a:endParaRPr lang="en-US"/>
          </a:p>
        </p:txBody>
      </p:sp>
    </p:spTree>
    <p:extLst>
      <p:ext uri="{BB962C8B-B14F-4D97-AF65-F5344CB8AC3E}">
        <p14:creationId xmlns:p14="http://schemas.microsoft.com/office/powerpoint/2010/main" val="238146023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Transparency and Accountability	</a:t>
            </a:r>
          </a:p>
          <a:p>
            <a:r>
              <a:rPr lang="en-US" dirty="0"/>
              <a:t>https://www.informationgovernanceservices.com/articles/key-data-ethics-principles/</a:t>
            </a:r>
          </a:p>
        </p:txBody>
      </p:sp>
      <p:sp>
        <p:nvSpPr>
          <p:cNvPr id="4" name="Slide Number Placeholder 3"/>
          <p:cNvSpPr>
            <a:spLocks noGrp="1"/>
          </p:cNvSpPr>
          <p:nvPr>
            <p:ph type="sldNum" sz="quarter" idx="5"/>
          </p:nvPr>
        </p:nvSpPr>
        <p:spPr/>
        <p:txBody>
          <a:bodyPr/>
          <a:lstStyle/>
          <a:p>
            <a:fld id="{C0076829-C24E-41F4-AE24-67DAAD6FD20F}" type="slidenum">
              <a:rPr lang="en-US" smtClean="0"/>
              <a:t>90</a:t>
            </a:fld>
            <a:endParaRPr lang="en-US"/>
          </a:p>
        </p:txBody>
      </p:sp>
    </p:spTree>
    <p:extLst>
      <p:ext uri="{BB962C8B-B14F-4D97-AF65-F5344CB8AC3E}">
        <p14:creationId xmlns:p14="http://schemas.microsoft.com/office/powerpoint/2010/main" val="385865295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Transparency and Accountability	</a:t>
            </a:r>
          </a:p>
          <a:p>
            <a:r>
              <a:rPr lang="en-US" dirty="0"/>
              <a:t>https://www.informationgovernanceservices.com/articles/key-data-ethics-principles/</a:t>
            </a:r>
          </a:p>
        </p:txBody>
      </p:sp>
      <p:sp>
        <p:nvSpPr>
          <p:cNvPr id="4" name="Slide Number Placeholder 3"/>
          <p:cNvSpPr>
            <a:spLocks noGrp="1"/>
          </p:cNvSpPr>
          <p:nvPr>
            <p:ph type="sldNum" sz="quarter" idx="5"/>
          </p:nvPr>
        </p:nvSpPr>
        <p:spPr/>
        <p:txBody>
          <a:bodyPr/>
          <a:lstStyle/>
          <a:p>
            <a:fld id="{C0076829-C24E-41F4-AE24-67DAAD6FD20F}" type="slidenum">
              <a:rPr lang="en-US" smtClean="0"/>
              <a:t>91</a:t>
            </a:fld>
            <a:endParaRPr lang="en-US"/>
          </a:p>
        </p:txBody>
      </p:sp>
    </p:spTree>
    <p:extLst>
      <p:ext uri="{BB962C8B-B14F-4D97-AF65-F5344CB8AC3E}">
        <p14:creationId xmlns:p14="http://schemas.microsoft.com/office/powerpoint/2010/main" val="329890510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Regulatory Compliance (e.g., GDPR, CCPA)	</a:t>
            </a:r>
          </a:p>
          <a:p>
            <a:r>
              <a:rPr lang="en-US" dirty="0"/>
              <a:t>https://sprinto.com/blog/ccpa-vs-gdpr/</a:t>
            </a:r>
          </a:p>
        </p:txBody>
      </p:sp>
      <p:sp>
        <p:nvSpPr>
          <p:cNvPr id="4" name="Slide Number Placeholder 3"/>
          <p:cNvSpPr>
            <a:spLocks noGrp="1"/>
          </p:cNvSpPr>
          <p:nvPr>
            <p:ph type="sldNum" sz="quarter" idx="5"/>
          </p:nvPr>
        </p:nvSpPr>
        <p:spPr/>
        <p:txBody>
          <a:bodyPr/>
          <a:lstStyle/>
          <a:p>
            <a:fld id="{C0076829-C24E-41F4-AE24-67DAAD6FD20F}" type="slidenum">
              <a:rPr lang="en-US" smtClean="0"/>
              <a:t>92</a:t>
            </a:fld>
            <a:endParaRPr lang="en-US"/>
          </a:p>
        </p:txBody>
      </p:sp>
    </p:spTree>
    <p:extLst>
      <p:ext uri="{BB962C8B-B14F-4D97-AF65-F5344CB8AC3E}">
        <p14:creationId xmlns:p14="http://schemas.microsoft.com/office/powerpoint/2010/main" val="187867835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Regulatory Compliance (e.g., GDPR, CCPA)	</a:t>
            </a:r>
          </a:p>
          <a:p>
            <a:r>
              <a:rPr lang="en-US" dirty="0"/>
              <a:t>https://sprinto.com/blog/ccpa-vs-gdpr/</a:t>
            </a:r>
          </a:p>
        </p:txBody>
      </p:sp>
      <p:sp>
        <p:nvSpPr>
          <p:cNvPr id="4" name="Slide Number Placeholder 3"/>
          <p:cNvSpPr>
            <a:spLocks noGrp="1"/>
          </p:cNvSpPr>
          <p:nvPr>
            <p:ph type="sldNum" sz="quarter" idx="5"/>
          </p:nvPr>
        </p:nvSpPr>
        <p:spPr/>
        <p:txBody>
          <a:bodyPr/>
          <a:lstStyle/>
          <a:p>
            <a:fld id="{C0076829-C24E-41F4-AE24-67DAAD6FD20F}" type="slidenum">
              <a:rPr lang="en-US" smtClean="0"/>
              <a:t>93</a:t>
            </a:fld>
            <a:endParaRPr lang="en-US"/>
          </a:p>
        </p:txBody>
      </p:sp>
    </p:spTree>
    <p:extLst>
      <p:ext uri="{BB962C8B-B14F-4D97-AF65-F5344CB8AC3E}">
        <p14:creationId xmlns:p14="http://schemas.microsoft.com/office/powerpoint/2010/main" val="381822589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Regulatory Compliance (e.g., GDPR, CCPA)	</a:t>
            </a:r>
          </a:p>
          <a:p>
            <a:r>
              <a:rPr lang="en-US" dirty="0"/>
              <a:t>https://sprinto.com/blog/ccpa-vs-gdpr/</a:t>
            </a:r>
          </a:p>
        </p:txBody>
      </p:sp>
      <p:sp>
        <p:nvSpPr>
          <p:cNvPr id="4" name="Slide Number Placeholder 3"/>
          <p:cNvSpPr>
            <a:spLocks noGrp="1"/>
          </p:cNvSpPr>
          <p:nvPr>
            <p:ph type="sldNum" sz="quarter" idx="5"/>
          </p:nvPr>
        </p:nvSpPr>
        <p:spPr/>
        <p:txBody>
          <a:bodyPr/>
          <a:lstStyle/>
          <a:p>
            <a:fld id="{C0076829-C24E-41F4-AE24-67DAAD6FD20F}" type="slidenum">
              <a:rPr lang="en-US" smtClean="0"/>
              <a:t>94</a:t>
            </a:fld>
            <a:endParaRPr lang="en-US"/>
          </a:p>
        </p:txBody>
      </p:sp>
    </p:spTree>
    <p:extLst>
      <p:ext uri="{BB962C8B-B14F-4D97-AF65-F5344CB8AC3E}">
        <p14:creationId xmlns:p14="http://schemas.microsoft.com/office/powerpoint/2010/main" val="133629035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 Culture of Responsible Data Use	</a:t>
            </a:r>
          </a:p>
          <a:p>
            <a:r>
              <a:rPr lang="en-US" dirty="0"/>
              <a:t>https://nmqasim.medium.com/from-compliance-to-culture-implementing-responsible-data-practices-in-your-organization-ff3f32957d22</a:t>
            </a:r>
          </a:p>
        </p:txBody>
      </p:sp>
      <p:sp>
        <p:nvSpPr>
          <p:cNvPr id="4" name="Slide Number Placeholder 3"/>
          <p:cNvSpPr>
            <a:spLocks noGrp="1"/>
          </p:cNvSpPr>
          <p:nvPr>
            <p:ph type="sldNum" sz="quarter" idx="5"/>
          </p:nvPr>
        </p:nvSpPr>
        <p:spPr/>
        <p:txBody>
          <a:bodyPr/>
          <a:lstStyle/>
          <a:p>
            <a:fld id="{C0076829-C24E-41F4-AE24-67DAAD6FD20F}" type="slidenum">
              <a:rPr lang="en-US" smtClean="0"/>
              <a:t>95</a:t>
            </a:fld>
            <a:endParaRPr lang="en-US"/>
          </a:p>
        </p:txBody>
      </p:sp>
    </p:spTree>
    <p:extLst>
      <p:ext uri="{BB962C8B-B14F-4D97-AF65-F5344CB8AC3E}">
        <p14:creationId xmlns:p14="http://schemas.microsoft.com/office/powerpoint/2010/main" val="10544243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 Culture of Responsible Data Use	</a:t>
            </a:r>
          </a:p>
          <a:p>
            <a:r>
              <a:rPr lang="en-US" dirty="0"/>
              <a:t>https://nmqasim.medium.com/from-compliance-to-culture-implementing-responsible-data-practices-in-your-organization-ff3f32957d22</a:t>
            </a:r>
          </a:p>
        </p:txBody>
      </p:sp>
      <p:sp>
        <p:nvSpPr>
          <p:cNvPr id="4" name="Slide Number Placeholder 3"/>
          <p:cNvSpPr>
            <a:spLocks noGrp="1"/>
          </p:cNvSpPr>
          <p:nvPr>
            <p:ph type="sldNum" sz="quarter" idx="5"/>
          </p:nvPr>
        </p:nvSpPr>
        <p:spPr/>
        <p:txBody>
          <a:bodyPr/>
          <a:lstStyle/>
          <a:p>
            <a:fld id="{C0076829-C24E-41F4-AE24-67DAAD6FD20F}" type="slidenum">
              <a:rPr lang="en-US" smtClean="0"/>
              <a:t>96</a:t>
            </a:fld>
            <a:endParaRPr lang="en-US"/>
          </a:p>
        </p:txBody>
      </p:sp>
    </p:spTree>
    <p:extLst>
      <p:ext uri="{BB962C8B-B14F-4D97-AF65-F5344CB8AC3E}">
        <p14:creationId xmlns:p14="http://schemas.microsoft.com/office/powerpoint/2010/main" val="40953594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 Culture of Responsible Data Use	</a:t>
            </a:r>
          </a:p>
          <a:p>
            <a:r>
              <a:rPr lang="en-US" dirty="0"/>
              <a:t>https://nmqasim.medium.com/from-compliance-to-culture-implementing-responsible-data-practices-in-your-organization-ff3f32957d22</a:t>
            </a:r>
          </a:p>
        </p:txBody>
      </p:sp>
      <p:sp>
        <p:nvSpPr>
          <p:cNvPr id="4" name="Slide Number Placeholder 3"/>
          <p:cNvSpPr>
            <a:spLocks noGrp="1"/>
          </p:cNvSpPr>
          <p:nvPr>
            <p:ph type="sldNum" sz="quarter" idx="5"/>
          </p:nvPr>
        </p:nvSpPr>
        <p:spPr/>
        <p:txBody>
          <a:bodyPr/>
          <a:lstStyle/>
          <a:p>
            <a:fld id="{C0076829-C24E-41F4-AE24-67DAAD6FD20F}" type="slidenum">
              <a:rPr lang="en-US" smtClean="0"/>
              <a:t>97</a:t>
            </a:fld>
            <a:endParaRPr lang="en-US"/>
          </a:p>
        </p:txBody>
      </p:sp>
    </p:spTree>
    <p:extLst>
      <p:ext uri="{BB962C8B-B14F-4D97-AF65-F5344CB8AC3E}">
        <p14:creationId xmlns:p14="http://schemas.microsoft.com/office/powerpoint/2010/main" val="2307131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C018342-713F-4CC8-A4E6-739BC7A8CB29}"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69D9CEC-2E1C-418F-ABCD-8F547306BB8D}" type="slidenum">
              <a:rPr lang="en-US" smtClean="0"/>
              <a:t>‹#›</a:t>
            </a:fld>
            <a:endParaRPr lang="en-US"/>
          </a:p>
        </p:txBody>
      </p:sp>
    </p:spTree>
    <p:extLst>
      <p:ext uri="{BB962C8B-B14F-4D97-AF65-F5344CB8AC3E}">
        <p14:creationId xmlns:p14="http://schemas.microsoft.com/office/powerpoint/2010/main" val="3701940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018342-713F-4CC8-A4E6-739BC7A8CB29}"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69D9CEC-2E1C-418F-ABCD-8F547306BB8D}" type="slidenum">
              <a:rPr lang="en-US" smtClean="0"/>
              <a:t>‹#›</a:t>
            </a:fld>
            <a:endParaRPr lang="en-US"/>
          </a:p>
        </p:txBody>
      </p:sp>
    </p:spTree>
    <p:extLst>
      <p:ext uri="{BB962C8B-B14F-4D97-AF65-F5344CB8AC3E}">
        <p14:creationId xmlns:p14="http://schemas.microsoft.com/office/powerpoint/2010/main" val="2963859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018342-713F-4CC8-A4E6-739BC7A8CB29}"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69D9CEC-2E1C-418F-ABCD-8F547306BB8D}" type="slidenum">
              <a:rPr lang="en-US" smtClean="0"/>
              <a:t>‹#›</a:t>
            </a:fld>
            <a:endParaRPr lang="en-US"/>
          </a:p>
        </p:txBody>
      </p:sp>
    </p:spTree>
    <p:extLst>
      <p:ext uri="{BB962C8B-B14F-4D97-AF65-F5344CB8AC3E}">
        <p14:creationId xmlns:p14="http://schemas.microsoft.com/office/powerpoint/2010/main" val="2226290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018342-713F-4CC8-A4E6-739BC7A8CB29}"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69D9CEC-2E1C-418F-ABCD-8F547306BB8D}" type="slidenum">
              <a:rPr lang="en-US" smtClean="0"/>
              <a:t>‹#›</a:t>
            </a:fld>
            <a:endParaRPr lang="en-US"/>
          </a:p>
        </p:txBody>
      </p:sp>
    </p:spTree>
    <p:extLst>
      <p:ext uri="{BB962C8B-B14F-4D97-AF65-F5344CB8AC3E}">
        <p14:creationId xmlns:p14="http://schemas.microsoft.com/office/powerpoint/2010/main" val="3287462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C018342-713F-4CC8-A4E6-739BC7A8CB29}" type="datetimeFigureOut">
              <a:rPr lang="en-US" smtClean="0"/>
              <a:t>5/11/2026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69D9CEC-2E1C-418F-ABCD-8F547306BB8D}" type="slidenum">
              <a:rPr lang="en-US" smtClean="0"/>
              <a:t>‹#›</a:t>
            </a:fld>
            <a:endParaRPr lang="en-US"/>
          </a:p>
        </p:txBody>
      </p:sp>
    </p:spTree>
    <p:extLst>
      <p:ext uri="{BB962C8B-B14F-4D97-AF65-F5344CB8AC3E}">
        <p14:creationId xmlns:p14="http://schemas.microsoft.com/office/powerpoint/2010/main" val="4210891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C018342-713F-4CC8-A4E6-739BC7A8CB29}" type="datetimeFigureOut">
              <a:rPr lang="en-US" smtClean="0"/>
              <a:t>5/11/2026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69D9CEC-2E1C-418F-ABCD-8F547306BB8D}" type="slidenum">
              <a:rPr lang="en-US" smtClean="0"/>
              <a:t>‹#›</a:t>
            </a:fld>
            <a:endParaRPr lang="en-US"/>
          </a:p>
        </p:txBody>
      </p:sp>
    </p:spTree>
    <p:extLst>
      <p:ext uri="{BB962C8B-B14F-4D97-AF65-F5344CB8AC3E}">
        <p14:creationId xmlns:p14="http://schemas.microsoft.com/office/powerpoint/2010/main" val="3366866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018342-713F-4CC8-A4E6-739BC7A8CB29}" type="datetimeFigureOut">
              <a:rPr lang="en-US" smtClean="0"/>
              <a:t>5/11/2026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69D9CEC-2E1C-418F-ABCD-8F547306BB8D}" type="slidenum">
              <a:rPr lang="en-US" smtClean="0"/>
              <a:t>‹#›</a:t>
            </a:fld>
            <a:endParaRPr lang="en-US"/>
          </a:p>
        </p:txBody>
      </p:sp>
    </p:spTree>
    <p:extLst>
      <p:ext uri="{BB962C8B-B14F-4D97-AF65-F5344CB8AC3E}">
        <p14:creationId xmlns:p14="http://schemas.microsoft.com/office/powerpoint/2010/main" val="1629316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018342-713F-4CC8-A4E6-739BC7A8CB29}"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69D9CEC-2E1C-418F-ABCD-8F547306BB8D}" type="slidenum">
              <a:rPr lang="en-US" smtClean="0"/>
              <a:t>‹#›</a:t>
            </a:fld>
            <a:endParaRPr lang="en-US"/>
          </a:p>
        </p:txBody>
      </p:sp>
    </p:spTree>
    <p:extLst>
      <p:ext uri="{BB962C8B-B14F-4D97-AF65-F5344CB8AC3E}">
        <p14:creationId xmlns:p14="http://schemas.microsoft.com/office/powerpoint/2010/main" val="3950211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018342-713F-4CC8-A4E6-739BC7A8CB29}"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69D9CEC-2E1C-418F-ABCD-8F547306BB8D}" type="slidenum">
              <a:rPr lang="en-US" smtClean="0"/>
              <a:t>‹#›</a:t>
            </a:fld>
            <a:endParaRPr lang="en-US"/>
          </a:p>
        </p:txBody>
      </p:sp>
    </p:spTree>
    <p:extLst>
      <p:ext uri="{BB962C8B-B14F-4D97-AF65-F5344CB8AC3E}">
        <p14:creationId xmlns:p14="http://schemas.microsoft.com/office/powerpoint/2010/main" val="3054631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018342-713F-4CC8-A4E6-739BC7A8CB29}"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69D9CEC-2E1C-418F-ABCD-8F547306BB8D}" type="slidenum">
              <a:rPr lang="en-US" smtClean="0"/>
              <a:t>‹#›</a:t>
            </a:fld>
            <a:endParaRPr lang="en-US"/>
          </a:p>
        </p:txBody>
      </p:sp>
    </p:spTree>
    <p:extLst>
      <p:ext uri="{BB962C8B-B14F-4D97-AF65-F5344CB8AC3E}">
        <p14:creationId xmlns:p14="http://schemas.microsoft.com/office/powerpoint/2010/main" val="1415832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018342-713F-4CC8-A4E6-739BC7A8CB29}"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69D9CEC-2E1C-418F-ABCD-8F547306BB8D}"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50262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FC018342-713F-4CC8-A4E6-739BC7A8CB29}"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69D9CEC-2E1C-418F-ABCD-8F547306BB8D}" type="slidenum">
              <a:rPr lang="en-US" smtClean="0"/>
              <a:t>‹#›</a:t>
            </a:fld>
            <a:endParaRPr lang="en-US"/>
          </a:p>
        </p:txBody>
      </p:sp>
    </p:spTree>
    <p:extLst>
      <p:ext uri="{BB962C8B-B14F-4D97-AF65-F5344CB8AC3E}">
        <p14:creationId xmlns:p14="http://schemas.microsoft.com/office/powerpoint/2010/main" val="2602955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FC018342-713F-4CC8-A4E6-739BC7A8CB29}"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69D9CEC-2E1C-418F-ABCD-8F547306BB8D}"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642231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FC018342-713F-4CC8-A4E6-739BC7A8CB29}"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69D9CEC-2E1C-418F-ABCD-8F547306BB8D}" type="slidenum">
              <a:rPr lang="en-US" smtClean="0"/>
              <a:t>‹#›</a:t>
            </a:fld>
            <a:endParaRPr lang="en-US"/>
          </a:p>
        </p:txBody>
      </p:sp>
    </p:spTree>
    <p:extLst>
      <p:ext uri="{BB962C8B-B14F-4D97-AF65-F5344CB8AC3E}">
        <p14:creationId xmlns:p14="http://schemas.microsoft.com/office/powerpoint/2010/main" val="19848876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018342-713F-4CC8-A4E6-739BC7A8CB29}"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69D9CEC-2E1C-418F-ABCD-8F547306BB8D}" type="slidenum">
              <a:rPr lang="en-US" smtClean="0"/>
              <a:t>‹#›</a:t>
            </a:fld>
            <a:endParaRPr lang="en-US"/>
          </a:p>
        </p:txBody>
      </p:sp>
    </p:spTree>
    <p:extLst>
      <p:ext uri="{BB962C8B-B14F-4D97-AF65-F5344CB8AC3E}">
        <p14:creationId xmlns:p14="http://schemas.microsoft.com/office/powerpoint/2010/main" val="29349537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018342-713F-4CC8-A4E6-739BC7A8CB29}"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69D9CEC-2E1C-418F-ABCD-8F547306BB8D}" type="slidenum">
              <a:rPr lang="en-US" smtClean="0"/>
              <a:t>‹#›</a:t>
            </a:fld>
            <a:endParaRPr lang="en-US"/>
          </a:p>
        </p:txBody>
      </p:sp>
    </p:spTree>
    <p:extLst>
      <p:ext uri="{BB962C8B-B14F-4D97-AF65-F5344CB8AC3E}">
        <p14:creationId xmlns:p14="http://schemas.microsoft.com/office/powerpoint/2010/main" val="4201274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C018342-713F-4CC8-A4E6-739BC7A8CB29}" type="datetimeFigureOut">
              <a:rPr lang="en-US" smtClean="0"/>
              <a:t>5/11/2026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69D9CEC-2E1C-418F-ABCD-8F547306BB8D}" type="slidenum">
              <a:rPr lang="en-US" smtClean="0"/>
              <a:t>‹#›</a:t>
            </a:fld>
            <a:endParaRPr lang="en-US"/>
          </a:p>
        </p:txBody>
      </p:sp>
    </p:spTree>
    <p:extLst>
      <p:ext uri="{BB962C8B-B14F-4D97-AF65-F5344CB8AC3E}">
        <p14:creationId xmlns:p14="http://schemas.microsoft.com/office/powerpoint/2010/main" val="373894857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C9E9E-5316-0674-A5BC-BEDB44A8F202}"/>
              </a:ext>
            </a:extLst>
          </p:cNvPr>
          <p:cNvSpPr>
            <a:spLocks noGrp="1"/>
          </p:cNvSpPr>
          <p:nvPr>
            <p:ph type="ctrTitle"/>
          </p:nvPr>
        </p:nvSpPr>
        <p:spPr>
          <a:xfrm>
            <a:off x="2589213" y="2577830"/>
            <a:ext cx="8915399" cy="2199552"/>
          </a:xfrm>
        </p:spPr>
        <p:txBody>
          <a:bodyPr>
            <a:normAutofit/>
          </a:bodyPr>
          <a:lstStyle/>
          <a:p>
            <a:r>
              <a:rPr lang="en-US" sz="4400" b="1" dirty="0">
                <a:latin typeface="Aptos" panose="020B0004020202020204" pitchFamily="34" charset="0"/>
              </a:rPr>
              <a:t>From Raw Data to Real Results</a:t>
            </a:r>
            <a:br>
              <a:rPr lang="en-US" sz="4400" b="1" dirty="0">
                <a:latin typeface="Aptos" panose="020B0004020202020204" pitchFamily="34" charset="0"/>
              </a:rPr>
            </a:br>
            <a:r>
              <a:rPr lang="en-US" sz="4400" dirty="0">
                <a:latin typeface="Aptos" panose="020B0004020202020204" pitchFamily="34" charset="0"/>
              </a:rPr>
              <a:t>How Technology and Ethics Drive Modern Business</a:t>
            </a:r>
          </a:p>
        </p:txBody>
      </p:sp>
      <p:sp>
        <p:nvSpPr>
          <p:cNvPr id="3" name="Subtitle 2">
            <a:extLst>
              <a:ext uri="{FF2B5EF4-FFF2-40B4-BE49-F238E27FC236}">
                <a16:creationId xmlns:a16="http://schemas.microsoft.com/office/drawing/2014/main" id="{141CD53F-9DE4-A466-3739-FF6F74FE0B44}"/>
              </a:ext>
            </a:extLst>
          </p:cNvPr>
          <p:cNvSpPr>
            <a:spLocks noGrp="1"/>
          </p:cNvSpPr>
          <p:nvPr>
            <p:ph type="subTitle" idx="1"/>
          </p:nvPr>
        </p:nvSpPr>
        <p:spPr/>
        <p:txBody>
          <a:bodyPr>
            <a:normAutofit/>
          </a:bodyPr>
          <a:lstStyle/>
          <a:p>
            <a:r>
              <a:rPr lang="en-US" dirty="0"/>
              <a:t>Name: Dipanjan Pramanik (AF05201379)</a:t>
            </a:r>
          </a:p>
          <a:p>
            <a:r>
              <a:rPr lang="en-US" dirty="0"/>
              <a:t>E-mail: dipanjanpramanik064@gmail.com</a:t>
            </a:r>
          </a:p>
        </p:txBody>
      </p:sp>
    </p:spTree>
    <p:extLst>
      <p:ext uri="{BB962C8B-B14F-4D97-AF65-F5344CB8AC3E}">
        <p14:creationId xmlns:p14="http://schemas.microsoft.com/office/powerpoint/2010/main" val="10584027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56D56-CAEA-FD83-A1A4-9A5EB6138DC0}"/>
              </a:ext>
            </a:extLst>
          </p:cNvPr>
          <p:cNvSpPr>
            <a:spLocks noGrp="1"/>
          </p:cNvSpPr>
          <p:nvPr>
            <p:ph type="title"/>
          </p:nvPr>
        </p:nvSpPr>
        <p:spPr>
          <a:xfrm>
            <a:off x="2592925" y="624110"/>
            <a:ext cx="8911687" cy="1280890"/>
          </a:xfrm>
        </p:spPr>
        <p:txBody>
          <a:bodyPr>
            <a:normAutofit/>
          </a:bodyPr>
          <a:lstStyle/>
          <a:p>
            <a:r>
              <a:rPr lang="en-US" sz="3200" b="1" dirty="0">
                <a:latin typeface="Aptos" panose="020B0004020202020204" pitchFamily="34" charset="0"/>
              </a:rPr>
              <a:t>Table of Contents</a:t>
            </a:r>
          </a:p>
        </p:txBody>
      </p:sp>
      <p:sp>
        <p:nvSpPr>
          <p:cNvPr id="3" name="Content Placeholder 2">
            <a:extLst>
              <a:ext uri="{FF2B5EF4-FFF2-40B4-BE49-F238E27FC236}">
                <a16:creationId xmlns:a16="http://schemas.microsoft.com/office/drawing/2014/main" id="{BA283618-2D2E-359E-A3EE-EBA20D15F585}"/>
              </a:ext>
            </a:extLst>
          </p:cNvPr>
          <p:cNvSpPr>
            <a:spLocks noGrp="1"/>
          </p:cNvSpPr>
          <p:nvPr>
            <p:ph idx="1"/>
          </p:nvPr>
        </p:nvSpPr>
        <p:spPr>
          <a:xfrm>
            <a:off x="2589213" y="1429967"/>
            <a:ext cx="8915400" cy="5272390"/>
          </a:xfrm>
        </p:spPr>
        <p:txBody>
          <a:bodyPr>
            <a:noAutofit/>
          </a:bodyPr>
          <a:lstStyle/>
          <a:p>
            <a:r>
              <a:rPr lang="en-US" sz="2000" dirty="0">
                <a:latin typeface="Aptos" panose="020B0004020202020204" pitchFamily="34" charset="0"/>
              </a:rPr>
              <a:t>Introduction to Information Technology</a:t>
            </a:r>
          </a:p>
          <a:p>
            <a:r>
              <a:rPr lang="en-US" sz="2000" dirty="0">
                <a:latin typeface="Aptos" panose="020B0004020202020204" pitchFamily="34" charset="0"/>
              </a:rPr>
              <a:t>How IT Keeps Business Running</a:t>
            </a:r>
          </a:p>
          <a:p>
            <a:r>
              <a:rPr lang="en-US" sz="2000" dirty="0">
                <a:latin typeface="Aptos" panose="020B0004020202020204" pitchFamily="34" charset="0"/>
              </a:rPr>
              <a:t>Protecting the Company</a:t>
            </a:r>
          </a:p>
          <a:p>
            <a:r>
              <a:rPr lang="en-US" sz="2000" dirty="0">
                <a:latin typeface="Aptos" panose="020B0004020202020204" pitchFamily="34" charset="0"/>
              </a:rPr>
              <a:t>Working Smarter with Technology</a:t>
            </a:r>
          </a:p>
          <a:p>
            <a:r>
              <a:rPr lang="en-US" sz="2000" dirty="0">
                <a:latin typeface="Aptos" panose="020B0004020202020204" pitchFamily="34" charset="0"/>
              </a:rPr>
              <a:t>Growing the Business</a:t>
            </a:r>
          </a:p>
          <a:p>
            <a:r>
              <a:rPr lang="en-US" sz="2000" dirty="0">
                <a:latin typeface="Aptos" panose="020B0004020202020204" pitchFamily="34" charset="0"/>
              </a:rPr>
              <a:t>Keeping the Company Safe</a:t>
            </a:r>
          </a:p>
          <a:p>
            <a:r>
              <a:rPr lang="en-US" sz="2000" dirty="0">
                <a:latin typeface="Aptos" panose="020B0004020202020204" pitchFamily="34" charset="0"/>
              </a:rPr>
              <a:t>Introduction to ERP</a:t>
            </a:r>
          </a:p>
          <a:p>
            <a:r>
              <a:rPr lang="en-US" sz="2000" dirty="0">
                <a:latin typeface="Aptos" panose="020B0004020202020204" pitchFamily="34" charset="0"/>
              </a:rPr>
              <a:t>The Pros and Cons of ERP Systems</a:t>
            </a:r>
          </a:p>
          <a:p>
            <a:r>
              <a:rPr lang="en-US" sz="2000" dirty="0">
                <a:latin typeface="Aptos" panose="020B0004020202020204" pitchFamily="34" charset="0"/>
              </a:rPr>
              <a:t>Finding the Right Fit</a:t>
            </a:r>
          </a:p>
          <a:p>
            <a:r>
              <a:rPr lang="en-US" sz="2000" dirty="0">
                <a:latin typeface="Aptos" panose="020B0004020202020204" pitchFamily="34" charset="0"/>
              </a:rPr>
              <a:t>The Power of Connecting Business and IT</a:t>
            </a:r>
          </a:p>
          <a:p>
            <a:r>
              <a:rPr lang="en-US" sz="2000" dirty="0">
                <a:latin typeface="Aptos" panose="020B0004020202020204" pitchFamily="34" charset="0"/>
              </a:rPr>
              <a:t>Two Ways to Look at IT</a:t>
            </a:r>
          </a:p>
          <a:p>
            <a:r>
              <a:rPr lang="en-US" sz="2000" dirty="0">
                <a:latin typeface="Aptos" panose="020B0004020202020204" pitchFamily="34" charset="0"/>
              </a:rPr>
              <a:t>The Main Discovery</a:t>
            </a:r>
          </a:p>
        </p:txBody>
      </p:sp>
    </p:spTree>
    <p:extLst>
      <p:ext uri="{BB962C8B-B14F-4D97-AF65-F5344CB8AC3E}">
        <p14:creationId xmlns:p14="http://schemas.microsoft.com/office/powerpoint/2010/main" val="3780785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E8B7A-95D5-CA67-B8E8-D39362A0E5BC}"/>
              </a:ext>
            </a:extLst>
          </p:cNvPr>
          <p:cNvSpPr>
            <a:spLocks noGrp="1"/>
          </p:cNvSpPr>
          <p:nvPr>
            <p:ph type="title"/>
          </p:nvPr>
        </p:nvSpPr>
        <p:spPr/>
        <p:txBody>
          <a:bodyPr>
            <a:noAutofit/>
          </a:bodyPr>
          <a:lstStyle/>
          <a:p>
            <a:r>
              <a:rPr lang="en-US" sz="2800" b="1" dirty="0">
                <a:latin typeface="Aptos" panose="020B0004020202020204" pitchFamily="34" charset="0"/>
              </a:rPr>
              <a:t>What is Information Technology (IT) ?</a:t>
            </a:r>
            <a:br>
              <a:rPr lang="en-US" sz="2800" b="1" dirty="0">
                <a:latin typeface="Aptos" panose="020B0004020202020204" pitchFamily="34" charset="0"/>
              </a:rPr>
            </a:br>
            <a:r>
              <a:rPr lang="en-US" sz="2800" dirty="0">
                <a:latin typeface="Aptos" panose="020B0004020202020204" pitchFamily="34" charset="0"/>
              </a:rPr>
              <a:t>IT Basics, Hardware vs. Software, The Importance of IT</a:t>
            </a:r>
          </a:p>
        </p:txBody>
      </p:sp>
      <p:sp>
        <p:nvSpPr>
          <p:cNvPr id="3" name="Content Placeholder 2">
            <a:extLst>
              <a:ext uri="{FF2B5EF4-FFF2-40B4-BE49-F238E27FC236}">
                <a16:creationId xmlns:a16="http://schemas.microsoft.com/office/drawing/2014/main" id="{7E2DF366-308A-DBD2-0AC3-C2D4CB65B9B8}"/>
              </a:ext>
            </a:extLst>
          </p:cNvPr>
          <p:cNvSpPr>
            <a:spLocks noGrp="1"/>
          </p:cNvSpPr>
          <p:nvPr>
            <p:ph idx="1"/>
          </p:nvPr>
        </p:nvSpPr>
        <p:spPr/>
        <p:txBody>
          <a:bodyPr>
            <a:normAutofit/>
          </a:bodyPr>
          <a:lstStyle/>
          <a:p>
            <a:r>
              <a:rPr lang="en-US" b="1" dirty="0">
                <a:latin typeface="Aptos" panose="020B0004020202020204" pitchFamily="34" charset="0"/>
              </a:rPr>
              <a:t>The Basics:</a:t>
            </a:r>
            <a:r>
              <a:rPr lang="en-US" dirty="0">
                <a:latin typeface="Aptos" panose="020B0004020202020204" pitchFamily="34" charset="0"/>
              </a:rPr>
              <a:t> IT is simply the use of computers, networks, and software to share information, build company systems, and keep data safe. Any device a business uses falls under IT.</a:t>
            </a:r>
          </a:p>
          <a:p>
            <a:r>
              <a:rPr lang="en-US" b="1" dirty="0">
                <a:latin typeface="Aptos" panose="020B0004020202020204" pitchFamily="34" charset="0"/>
              </a:rPr>
              <a:t>Hardware vs. Software:</a:t>
            </a:r>
          </a:p>
          <a:p>
            <a:pPr lvl="1"/>
            <a:r>
              <a:rPr lang="en-US" b="1" dirty="0">
                <a:latin typeface="Aptos" panose="020B0004020202020204" pitchFamily="34" charset="0"/>
              </a:rPr>
              <a:t>Hardware:</a:t>
            </a:r>
            <a:r>
              <a:rPr lang="en-US" dirty="0">
                <a:latin typeface="Aptos" panose="020B0004020202020204" pitchFamily="34" charset="0"/>
              </a:rPr>
              <a:t> The physical parts of a computer you can touch. Examples include the “brain” of the computer (CPU), temporary memory (RAM), and storage (Hard Drive).</a:t>
            </a:r>
          </a:p>
          <a:p>
            <a:pPr lvl="1"/>
            <a:r>
              <a:rPr lang="en-US" b="1" dirty="0">
                <a:latin typeface="Aptos" panose="020B0004020202020204" pitchFamily="34" charset="0"/>
              </a:rPr>
              <a:t>Software:</a:t>
            </a:r>
            <a:r>
              <a:rPr lang="en-US" dirty="0">
                <a:latin typeface="Aptos" panose="020B0004020202020204" pitchFamily="34" charset="0"/>
              </a:rPr>
              <a:t> The programs and invisible instructions that run on the hardware. Examples include operating systems (like Windows), everyday apps (like Microsoft Word), and background tolls (like Antivirus).</a:t>
            </a:r>
          </a:p>
          <a:p>
            <a:r>
              <a:rPr lang="en-US" b="1" dirty="0">
                <a:latin typeface="Aptos" panose="020B0004020202020204" pitchFamily="34" charset="0"/>
              </a:rPr>
              <a:t>Why is IT Important ?</a:t>
            </a:r>
            <a:r>
              <a:rPr lang="en-US" dirty="0">
                <a:latin typeface="Aptos" panose="020B0004020202020204" pitchFamily="34" charset="0"/>
              </a:rPr>
              <a:t> IT makes working faster, easier, and much more convenient. It allows people to work remotely, protects sensitive information, and helps business grow and innovate.</a:t>
            </a:r>
          </a:p>
          <a:p>
            <a:endParaRPr lang="en-US" dirty="0">
              <a:latin typeface="Aptos" panose="020B0004020202020204" pitchFamily="34" charset="0"/>
            </a:endParaRPr>
          </a:p>
        </p:txBody>
      </p:sp>
    </p:spTree>
    <p:extLst>
      <p:ext uri="{BB962C8B-B14F-4D97-AF65-F5344CB8AC3E}">
        <p14:creationId xmlns:p14="http://schemas.microsoft.com/office/powerpoint/2010/main" val="1377837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E5436-34DD-21B4-D557-FA7A8F06B635}"/>
              </a:ext>
            </a:extLst>
          </p:cNvPr>
          <p:cNvSpPr>
            <a:spLocks noGrp="1"/>
          </p:cNvSpPr>
          <p:nvPr>
            <p:ph type="title"/>
          </p:nvPr>
        </p:nvSpPr>
        <p:spPr/>
        <p:txBody>
          <a:bodyPr>
            <a:noAutofit/>
          </a:bodyPr>
          <a:lstStyle/>
          <a:p>
            <a:r>
              <a:rPr lang="en-US" sz="2800" b="1" dirty="0">
                <a:latin typeface="Aptos" panose="020B0004020202020204" pitchFamily="34" charset="0"/>
              </a:rPr>
              <a:t>The Core Functions of IT</a:t>
            </a:r>
            <a:br>
              <a:rPr lang="en-US" sz="2800" b="1" dirty="0">
                <a:latin typeface="Aptos" panose="020B0004020202020204" pitchFamily="34" charset="0"/>
              </a:rPr>
            </a:br>
            <a:r>
              <a:rPr lang="en-US" sz="2800" dirty="0" err="1">
                <a:latin typeface="Aptos" panose="020B0004020202020204" pitchFamily="34" charset="0"/>
              </a:rPr>
              <a:t>IT</a:t>
            </a:r>
            <a:r>
              <a:rPr lang="en-US" sz="2800" dirty="0">
                <a:latin typeface="Aptos" panose="020B0004020202020204" pitchFamily="34" charset="0"/>
              </a:rPr>
              <a:t> Governance, IT Operations, Network &amp; Device Management</a:t>
            </a:r>
          </a:p>
        </p:txBody>
      </p:sp>
      <p:sp>
        <p:nvSpPr>
          <p:cNvPr id="3" name="Content Placeholder 2">
            <a:extLst>
              <a:ext uri="{FF2B5EF4-FFF2-40B4-BE49-F238E27FC236}">
                <a16:creationId xmlns:a16="http://schemas.microsoft.com/office/drawing/2014/main" id="{1E0D499F-D53E-6605-50D9-AB26A658D758}"/>
              </a:ext>
            </a:extLst>
          </p:cNvPr>
          <p:cNvSpPr>
            <a:spLocks noGrp="1"/>
          </p:cNvSpPr>
          <p:nvPr>
            <p:ph idx="1"/>
          </p:nvPr>
        </p:nvSpPr>
        <p:spPr/>
        <p:txBody>
          <a:bodyPr/>
          <a:lstStyle/>
          <a:p>
            <a:r>
              <a:rPr lang="en-US" b="1" dirty="0">
                <a:latin typeface="Aptos" panose="020B0004020202020204" pitchFamily="34" charset="0"/>
              </a:rPr>
              <a:t>IT Governance:</a:t>
            </a:r>
            <a:r>
              <a:rPr lang="en-US" dirty="0">
                <a:latin typeface="Aptos" panose="020B0004020202020204" pitchFamily="34" charset="0"/>
              </a:rPr>
              <a:t> This means making sure the technology matches the overall goals of the company. It involves planning budgets, managing risks, and setting rules so that the technology actually adds value to the business.</a:t>
            </a:r>
          </a:p>
          <a:p>
            <a:r>
              <a:rPr lang="en-US" b="1" dirty="0">
                <a:latin typeface="Aptos" panose="020B0004020202020204" pitchFamily="34" charset="0"/>
              </a:rPr>
              <a:t>IT Operations: </a:t>
            </a:r>
            <a:r>
              <a:rPr lang="en-US" dirty="0">
                <a:latin typeface="Aptos" panose="020B0004020202020204" pitchFamily="34" charset="0"/>
              </a:rPr>
              <a:t>These are the daily tasks that keep everything running smoothly. IT teams use automation to monitor computers, fix problems from a distance, and update software without interrupting the workers.</a:t>
            </a:r>
          </a:p>
          <a:p>
            <a:r>
              <a:rPr lang="en-US" b="1" dirty="0">
                <a:latin typeface="Aptos" panose="020B0004020202020204" pitchFamily="34" charset="0"/>
              </a:rPr>
              <a:t>Managing Networks and Devices: </a:t>
            </a:r>
            <a:r>
              <a:rPr lang="en-US" dirty="0">
                <a:latin typeface="Aptos" panose="020B0004020202020204" pitchFamily="34" charset="0"/>
              </a:rPr>
              <a:t>IT teams are responsible for making sure all computers can talk to each other safely (the network) and keeping track of every laptop, phone , or tablet used by the company so they don’t break or get lost.</a:t>
            </a:r>
          </a:p>
        </p:txBody>
      </p:sp>
    </p:spTree>
    <p:extLst>
      <p:ext uri="{BB962C8B-B14F-4D97-AF65-F5344CB8AC3E}">
        <p14:creationId xmlns:p14="http://schemas.microsoft.com/office/powerpoint/2010/main" val="1779214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A172F-1475-6B16-217E-9995FAA534D3}"/>
              </a:ext>
            </a:extLst>
          </p:cNvPr>
          <p:cNvSpPr>
            <a:spLocks noGrp="1"/>
          </p:cNvSpPr>
          <p:nvPr>
            <p:ph type="title"/>
          </p:nvPr>
        </p:nvSpPr>
        <p:spPr/>
        <p:txBody>
          <a:bodyPr>
            <a:normAutofit/>
          </a:bodyPr>
          <a:lstStyle/>
          <a:p>
            <a:r>
              <a:rPr lang="en-US" sz="2800" b="1" dirty="0">
                <a:latin typeface="Aptos" panose="020B0004020202020204" pitchFamily="34" charset="0"/>
              </a:rPr>
              <a:t>Cybersecurity and Data Protection</a:t>
            </a:r>
            <a:br>
              <a:rPr lang="en-US" sz="2800" b="1" dirty="0">
                <a:latin typeface="Aptos" panose="020B0004020202020204" pitchFamily="34" charset="0"/>
              </a:rPr>
            </a:br>
            <a:r>
              <a:rPr lang="en-US" sz="2800" dirty="0">
                <a:latin typeface="Aptos" panose="020B0004020202020204" pitchFamily="34" charset="0"/>
              </a:rPr>
              <a:t>Cybersecurity, Data Access, Backup &amp; Recovery</a:t>
            </a:r>
          </a:p>
        </p:txBody>
      </p:sp>
      <p:sp>
        <p:nvSpPr>
          <p:cNvPr id="3" name="Content Placeholder 2">
            <a:extLst>
              <a:ext uri="{FF2B5EF4-FFF2-40B4-BE49-F238E27FC236}">
                <a16:creationId xmlns:a16="http://schemas.microsoft.com/office/drawing/2014/main" id="{C2CD772A-E640-7327-766D-6ADE78773023}"/>
              </a:ext>
            </a:extLst>
          </p:cNvPr>
          <p:cNvSpPr>
            <a:spLocks noGrp="1"/>
          </p:cNvSpPr>
          <p:nvPr>
            <p:ph idx="1"/>
          </p:nvPr>
        </p:nvSpPr>
        <p:spPr/>
        <p:txBody>
          <a:bodyPr/>
          <a:lstStyle/>
          <a:p>
            <a:r>
              <a:rPr lang="en-US" b="1" dirty="0">
                <a:latin typeface="Aptos" panose="020B0004020202020204" pitchFamily="34" charset="0"/>
              </a:rPr>
              <a:t>Cybersecurity:</a:t>
            </a:r>
            <a:r>
              <a:rPr lang="en-US" dirty="0">
                <a:latin typeface="Aptos" panose="020B0004020202020204" pitchFamily="34" charset="0"/>
              </a:rPr>
              <a:t> This is the shield that protects a company from hackers, viruses, and online attacks. Good security prevents data loss, saves money, and stops the business from grinding to a halt.</a:t>
            </a:r>
          </a:p>
          <a:p>
            <a:r>
              <a:rPr lang="en-US" b="1" dirty="0">
                <a:latin typeface="Aptos" panose="020B0004020202020204" pitchFamily="34" charset="0"/>
              </a:rPr>
              <a:t>Controlling Access:</a:t>
            </a:r>
            <a:r>
              <a:rPr lang="en-US" dirty="0">
                <a:latin typeface="Aptos" panose="020B0004020202020204" pitchFamily="34" charset="0"/>
              </a:rPr>
              <a:t> IT sets strict rules on who can see sensitive information. By only giving access to people who absolutely need it, IT lowers the risk of data being stolen.</a:t>
            </a:r>
          </a:p>
          <a:p>
            <a:r>
              <a:rPr lang="en-US" b="1" dirty="0">
                <a:latin typeface="Aptos" panose="020B0004020202020204" pitchFamily="34" charset="0"/>
              </a:rPr>
              <a:t>Data Backup &amp; Recovery:</a:t>
            </a:r>
            <a:r>
              <a:rPr lang="en-US" dirty="0">
                <a:latin typeface="Aptos" panose="020B0004020202020204" pitchFamily="34" charset="0"/>
              </a:rPr>
              <a:t> IT teams create extra copies of all important company data. If a natural disaster happens or a hacker attacks, the company can quickly download their backups and get right back to work without losing everything.</a:t>
            </a:r>
          </a:p>
        </p:txBody>
      </p:sp>
    </p:spTree>
    <p:extLst>
      <p:ext uri="{BB962C8B-B14F-4D97-AF65-F5344CB8AC3E}">
        <p14:creationId xmlns:p14="http://schemas.microsoft.com/office/powerpoint/2010/main" val="697190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78DF4-B11C-E886-1ECF-5DDDD0B2CC47}"/>
              </a:ext>
            </a:extLst>
          </p:cNvPr>
          <p:cNvSpPr>
            <a:spLocks noGrp="1"/>
          </p:cNvSpPr>
          <p:nvPr>
            <p:ph type="title"/>
          </p:nvPr>
        </p:nvSpPr>
        <p:spPr/>
        <p:txBody>
          <a:bodyPr>
            <a:normAutofit/>
          </a:bodyPr>
          <a:lstStyle/>
          <a:p>
            <a:r>
              <a:rPr lang="en-US" sz="2800" b="1" dirty="0">
                <a:latin typeface="Aptos" panose="020B0004020202020204" pitchFamily="34" charset="0"/>
              </a:rPr>
              <a:t>How IT Improves Daily Operations</a:t>
            </a:r>
            <a:br>
              <a:rPr lang="en-US" sz="2800" b="1" dirty="0">
                <a:latin typeface="Aptos" panose="020B0004020202020204" pitchFamily="34" charset="0"/>
              </a:rPr>
            </a:br>
            <a:r>
              <a:rPr lang="en-US" sz="2800" dirty="0">
                <a:latin typeface="Aptos" panose="020B0004020202020204" pitchFamily="34" charset="0"/>
              </a:rPr>
              <a:t>Efficiency, Communication, Data Management</a:t>
            </a:r>
          </a:p>
        </p:txBody>
      </p:sp>
      <p:sp>
        <p:nvSpPr>
          <p:cNvPr id="3" name="Content Placeholder 2">
            <a:extLst>
              <a:ext uri="{FF2B5EF4-FFF2-40B4-BE49-F238E27FC236}">
                <a16:creationId xmlns:a16="http://schemas.microsoft.com/office/drawing/2014/main" id="{1DC5310D-E40B-EA59-E1CF-EE1F9BB9AFBD}"/>
              </a:ext>
            </a:extLst>
          </p:cNvPr>
          <p:cNvSpPr>
            <a:spLocks noGrp="1"/>
          </p:cNvSpPr>
          <p:nvPr>
            <p:ph idx="1"/>
          </p:nvPr>
        </p:nvSpPr>
        <p:spPr/>
        <p:txBody>
          <a:bodyPr/>
          <a:lstStyle/>
          <a:p>
            <a:r>
              <a:rPr lang="en-US" b="1" dirty="0">
                <a:latin typeface="Aptos" panose="020B0004020202020204" pitchFamily="34" charset="0"/>
              </a:rPr>
              <a:t>Getting More Done:</a:t>
            </a:r>
            <a:r>
              <a:rPr lang="en-US" dirty="0">
                <a:latin typeface="Aptos" panose="020B0004020202020204" pitchFamily="34" charset="0"/>
              </a:rPr>
              <a:t> IT uses software to automate boring, repetitive tasks. This leads to fewer mistakes and gives employees more time to focus on creative, high-value work.</a:t>
            </a:r>
          </a:p>
          <a:p>
            <a:r>
              <a:rPr lang="en-US" b="1" dirty="0">
                <a:latin typeface="Aptos" panose="020B0004020202020204" pitchFamily="34" charset="0"/>
              </a:rPr>
              <a:t>Talking from Anywhere:</a:t>
            </a:r>
            <a:r>
              <a:rPr lang="en-US" dirty="0">
                <a:latin typeface="Aptos" panose="020B0004020202020204" pitchFamily="34" charset="0"/>
              </a:rPr>
              <a:t> Technology has completely changed how teams collaborate. Tools like email, instant messaging, and video calls allow people to work together seamlessly, even if they are on opposite sides of the world.</a:t>
            </a:r>
          </a:p>
          <a:p>
            <a:r>
              <a:rPr lang="en-US" b="1" dirty="0">
                <a:latin typeface="Aptos" panose="020B0004020202020204" pitchFamily="34" charset="0"/>
              </a:rPr>
              <a:t>Using Data Wisely:</a:t>
            </a:r>
            <a:r>
              <a:rPr lang="en-US" dirty="0">
                <a:latin typeface="Aptos" panose="020B0004020202020204" pitchFamily="34" charset="0"/>
              </a:rPr>
              <a:t> Businesses collect massive amounts of information every day. IT systems organize and analyze this data so company leaders can understand market trends and make smart decisions based on facts instead of guessing.</a:t>
            </a:r>
          </a:p>
        </p:txBody>
      </p:sp>
    </p:spTree>
    <p:extLst>
      <p:ext uri="{BB962C8B-B14F-4D97-AF65-F5344CB8AC3E}">
        <p14:creationId xmlns:p14="http://schemas.microsoft.com/office/powerpoint/2010/main" val="313992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56AF7-1971-7541-0FC4-98C382ECC295}"/>
              </a:ext>
            </a:extLst>
          </p:cNvPr>
          <p:cNvSpPr>
            <a:spLocks noGrp="1"/>
          </p:cNvSpPr>
          <p:nvPr>
            <p:ph type="title"/>
          </p:nvPr>
        </p:nvSpPr>
        <p:spPr/>
        <p:txBody>
          <a:bodyPr>
            <a:noAutofit/>
          </a:bodyPr>
          <a:lstStyle/>
          <a:p>
            <a:r>
              <a:rPr lang="en-US" sz="2800" b="1" dirty="0">
                <a:latin typeface="Aptos" panose="020B0004020202020204" pitchFamily="34" charset="0"/>
              </a:rPr>
              <a:t>Reaching Customers and Beating the Competition</a:t>
            </a:r>
            <a:br>
              <a:rPr lang="en-US" sz="2800" b="1" dirty="0">
                <a:latin typeface="Aptos" panose="020B0004020202020204" pitchFamily="34" charset="0"/>
              </a:rPr>
            </a:br>
            <a:r>
              <a:rPr lang="en-US" sz="2800" dirty="0">
                <a:latin typeface="Aptos" panose="020B0004020202020204" pitchFamily="34" charset="0"/>
              </a:rPr>
              <a:t>Customer Engagement, Innovation, Supply Chain Management</a:t>
            </a:r>
          </a:p>
        </p:txBody>
      </p:sp>
      <p:sp>
        <p:nvSpPr>
          <p:cNvPr id="3" name="Content Placeholder 2">
            <a:extLst>
              <a:ext uri="{FF2B5EF4-FFF2-40B4-BE49-F238E27FC236}">
                <a16:creationId xmlns:a16="http://schemas.microsoft.com/office/drawing/2014/main" id="{AC050A43-AADE-EAAD-BBA5-6B4EA629F90D}"/>
              </a:ext>
            </a:extLst>
          </p:cNvPr>
          <p:cNvSpPr>
            <a:spLocks noGrp="1"/>
          </p:cNvSpPr>
          <p:nvPr>
            <p:ph idx="1"/>
          </p:nvPr>
        </p:nvSpPr>
        <p:spPr/>
        <p:txBody>
          <a:bodyPr>
            <a:normAutofit/>
          </a:bodyPr>
          <a:lstStyle/>
          <a:p>
            <a:r>
              <a:rPr lang="en-US" b="1" dirty="0">
                <a:latin typeface="Aptos" panose="020B0004020202020204" pitchFamily="34" charset="0"/>
              </a:rPr>
              <a:t>Connecting with Buyers:</a:t>
            </a:r>
            <a:r>
              <a:rPr lang="en-US" dirty="0">
                <a:latin typeface="Aptos" panose="020B0004020202020204" pitchFamily="34" charset="0"/>
              </a:rPr>
              <a:t> IT allows businesses to reach customers wherever they are. Through websites, mobile apps, and social media, companies can interact with their audience easily. Special software also helps businesses remember customer preferences, keeping buyers happy and loyal.</a:t>
            </a:r>
          </a:p>
          <a:p>
            <a:r>
              <a:rPr lang="en-US" b="1" dirty="0">
                <a:latin typeface="Aptos" panose="020B0004020202020204" pitchFamily="34" charset="0"/>
              </a:rPr>
              <a:t>Creating the Future:</a:t>
            </a:r>
            <a:r>
              <a:rPr lang="en-US" dirty="0">
                <a:latin typeface="Aptos" panose="020B0004020202020204" pitchFamily="34" charset="0"/>
              </a:rPr>
              <a:t> Technology gives companies the tools they need to experiment and create new things. By using advanced tech like Artificial Intelligence (AI), a business can offer unique products and services that make them stand out from their competitors.</a:t>
            </a:r>
          </a:p>
          <a:p>
            <a:r>
              <a:rPr lang="en-US" b="1" dirty="0">
                <a:latin typeface="Aptos" panose="020B0004020202020204" pitchFamily="34" charset="0"/>
              </a:rPr>
              <a:t>Tracking Products:</a:t>
            </a:r>
            <a:r>
              <a:rPr lang="en-US" dirty="0">
                <a:latin typeface="Aptos" panose="020B0004020202020204" pitchFamily="34" charset="0"/>
              </a:rPr>
              <a:t> For businesses that sell physical goods, IT software keeps track of inventory, manages shipping, and predicts what products will be needed in the future. This ensures deliveries arrive on time and keeps costs low.</a:t>
            </a:r>
          </a:p>
        </p:txBody>
      </p:sp>
    </p:spTree>
    <p:extLst>
      <p:ext uri="{BB962C8B-B14F-4D97-AF65-F5344CB8AC3E}">
        <p14:creationId xmlns:p14="http://schemas.microsoft.com/office/powerpoint/2010/main" val="100740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043A6-0839-00B6-C916-CA619635F02C}"/>
              </a:ext>
            </a:extLst>
          </p:cNvPr>
          <p:cNvSpPr>
            <a:spLocks noGrp="1"/>
          </p:cNvSpPr>
          <p:nvPr>
            <p:ph type="title"/>
          </p:nvPr>
        </p:nvSpPr>
        <p:spPr/>
        <p:txBody>
          <a:bodyPr>
            <a:normAutofit/>
          </a:bodyPr>
          <a:lstStyle/>
          <a:p>
            <a:r>
              <a:rPr lang="en-US" sz="2800" b="1" dirty="0">
                <a:latin typeface="Aptos" panose="020B0004020202020204" pitchFamily="34" charset="0"/>
              </a:rPr>
              <a:t>Protection and Cost Savings</a:t>
            </a:r>
            <a:br>
              <a:rPr lang="en-US" sz="2800" b="1" dirty="0">
                <a:latin typeface="Aptos" panose="020B0004020202020204" pitchFamily="34" charset="0"/>
              </a:rPr>
            </a:br>
            <a:r>
              <a:rPr lang="en-US" sz="2800" dirty="0">
                <a:latin typeface="Aptos" panose="020B0004020202020204" pitchFamily="34" charset="0"/>
              </a:rPr>
              <a:t>Cybersecurity, Risk Management, Cost Reduction</a:t>
            </a:r>
          </a:p>
        </p:txBody>
      </p:sp>
      <p:sp>
        <p:nvSpPr>
          <p:cNvPr id="3" name="Content Placeholder 2">
            <a:extLst>
              <a:ext uri="{FF2B5EF4-FFF2-40B4-BE49-F238E27FC236}">
                <a16:creationId xmlns:a16="http://schemas.microsoft.com/office/drawing/2014/main" id="{796D510A-1AE3-1718-B2E4-5E3F03E5FF0C}"/>
              </a:ext>
            </a:extLst>
          </p:cNvPr>
          <p:cNvSpPr>
            <a:spLocks noGrp="1"/>
          </p:cNvSpPr>
          <p:nvPr>
            <p:ph idx="1"/>
          </p:nvPr>
        </p:nvSpPr>
        <p:spPr/>
        <p:txBody>
          <a:bodyPr/>
          <a:lstStyle/>
          <a:p>
            <a:r>
              <a:rPr lang="en-US" b="1" dirty="0">
                <a:latin typeface="Aptos" panose="020B0004020202020204" pitchFamily="34" charset="0"/>
              </a:rPr>
              <a:t>Digital Bodyguards:</a:t>
            </a:r>
            <a:r>
              <a:rPr lang="en-US" dirty="0">
                <a:latin typeface="Aptos" panose="020B0004020202020204" pitchFamily="34" charset="0"/>
              </a:rPr>
              <a:t> Because businesses rely so heavily on computers, protecting data is more important than ever. IT professionals set up digital shields—like firewalls and encryption—to stop hackers, viruses, and cyber threats from stealing sensitive company and customer information.</a:t>
            </a:r>
          </a:p>
          <a:p>
            <a:r>
              <a:rPr lang="en-US" b="1" dirty="0">
                <a:latin typeface="Aptos" panose="020B0004020202020204" pitchFamily="34" charset="0"/>
              </a:rPr>
              <a:t>Saving Money Over Time:</a:t>
            </a:r>
            <a:r>
              <a:rPr lang="en-US" dirty="0">
                <a:latin typeface="Aptos" panose="020B0004020202020204" pitchFamily="34" charset="0"/>
              </a:rPr>
              <a:t> While buying new technology costs money up front, it actually saves the business a lot of money in the long run. By automating tasks and using "cloud computing" (storing data securely online instead of buying expensive, physical servers), companies can greatly reduce their daily operating costs.</a:t>
            </a:r>
          </a:p>
        </p:txBody>
      </p:sp>
    </p:spTree>
    <p:extLst>
      <p:ext uri="{BB962C8B-B14F-4D97-AF65-F5344CB8AC3E}">
        <p14:creationId xmlns:p14="http://schemas.microsoft.com/office/powerpoint/2010/main" val="3725108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FFE89-FED9-C85D-A351-DA777E63CFAD}"/>
              </a:ext>
            </a:extLst>
          </p:cNvPr>
          <p:cNvSpPr>
            <a:spLocks noGrp="1"/>
          </p:cNvSpPr>
          <p:nvPr>
            <p:ph type="title"/>
          </p:nvPr>
        </p:nvSpPr>
        <p:spPr/>
        <p:txBody>
          <a:bodyPr>
            <a:noAutofit/>
          </a:bodyPr>
          <a:lstStyle/>
          <a:p>
            <a:r>
              <a:rPr lang="en-US" sz="2800" b="1" dirty="0">
                <a:latin typeface="Aptos" panose="020B0004020202020204" pitchFamily="34" charset="0"/>
              </a:rPr>
              <a:t>What is Enterprise Resource Planning (ERP) ?</a:t>
            </a:r>
            <a:br>
              <a:rPr lang="en-US" sz="2800" b="1" dirty="0">
                <a:latin typeface="Aptos" panose="020B0004020202020204" pitchFamily="34" charset="0"/>
              </a:rPr>
            </a:br>
            <a:r>
              <a:rPr lang="en-US" sz="2800" dirty="0">
                <a:latin typeface="Aptos" panose="020B0004020202020204" pitchFamily="34" charset="0"/>
              </a:rPr>
              <a:t>The Definition of ERP, How It Works, The “Central Nervous System” of a Business</a:t>
            </a:r>
          </a:p>
        </p:txBody>
      </p:sp>
      <p:sp>
        <p:nvSpPr>
          <p:cNvPr id="3" name="Content Placeholder 2">
            <a:extLst>
              <a:ext uri="{FF2B5EF4-FFF2-40B4-BE49-F238E27FC236}">
                <a16:creationId xmlns:a16="http://schemas.microsoft.com/office/drawing/2014/main" id="{0F0E4C42-422F-5C2B-6477-9FD6E8541EBA}"/>
              </a:ext>
            </a:extLst>
          </p:cNvPr>
          <p:cNvSpPr>
            <a:spLocks noGrp="1"/>
          </p:cNvSpPr>
          <p:nvPr>
            <p:ph idx="1"/>
          </p:nvPr>
        </p:nvSpPr>
        <p:spPr/>
        <p:txBody>
          <a:bodyPr>
            <a:normAutofit/>
          </a:bodyPr>
          <a:lstStyle/>
          <a:p>
            <a:r>
              <a:rPr lang="en-US" b="1" dirty="0">
                <a:latin typeface="Aptos" panose="020B0004020202020204" pitchFamily="34" charset="0"/>
              </a:rPr>
              <a:t>What is ERP?</a:t>
            </a:r>
            <a:r>
              <a:rPr lang="en-US" dirty="0">
                <a:latin typeface="Aptos" panose="020B0004020202020204" pitchFamily="34" charset="0"/>
              </a:rPr>
              <a:t> ERP stands for Enterprise Resource Planning. Think of it as the "central nervous system" for a business. It is a main software platform that connects all the different departments of a company—like finance, human resources, and sales—into one unified system.</a:t>
            </a:r>
          </a:p>
          <a:p>
            <a:r>
              <a:rPr lang="en-US" b="1" dirty="0">
                <a:latin typeface="Aptos" panose="020B0004020202020204" pitchFamily="34" charset="0"/>
              </a:rPr>
              <a:t>How It Works:</a:t>
            </a:r>
            <a:r>
              <a:rPr lang="en-US" dirty="0">
                <a:latin typeface="Aptos" panose="020B0004020202020204" pitchFamily="34" charset="0"/>
              </a:rPr>
              <a:t> Instead of the finance team using one software and the warehouse using a completely different one, an ERP puts everyone on the same page. All the company's data is collected on one server, meaning information is updated in real-time and instantly shared across the whole organization.</a:t>
            </a:r>
          </a:p>
          <a:p>
            <a:r>
              <a:rPr lang="en-US" b="1" dirty="0">
                <a:latin typeface="Aptos" panose="020B0004020202020204" pitchFamily="34" charset="0"/>
              </a:rPr>
              <a:t>Why It Matters:</a:t>
            </a:r>
            <a:r>
              <a:rPr lang="en-US" dirty="0">
                <a:latin typeface="Aptos" panose="020B0004020202020204" pitchFamily="34" charset="0"/>
              </a:rPr>
              <a:t> Because everyone is looking at the same information, it stops departments from working in isolated "silos." It reduces duplicated work, speeds up communication, and gives business leaders a complete picture of how the company is performing.</a:t>
            </a:r>
          </a:p>
        </p:txBody>
      </p:sp>
    </p:spTree>
    <p:extLst>
      <p:ext uri="{BB962C8B-B14F-4D97-AF65-F5344CB8AC3E}">
        <p14:creationId xmlns:p14="http://schemas.microsoft.com/office/powerpoint/2010/main" val="2154695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6E85F-3E9C-62F8-E653-FB76C4E05608}"/>
              </a:ext>
            </a:extLst>
          </p:cNvPr>
          <p:cNvSpPr>
            <a:spLocks noGrp="1"/>
          </p:cNvSpPr>
          <p:nvPr>
            <p:ph type="title"/>
          </p:nvPr>
        </p:nvSpPr>
        <p:spPr/>
        <p:txBody>
          <a:bodyPr>
            <a:noAutofit/>
          </a:bodyPr>
          <a:lstStyle/>
          <a:p>
            <a:r>
              <a:rPr lang="en-US" sz="2800" b="1" dirty="0">
                <a:latin typeface="Aptos" panose="020B0004020202020204" pitchFamily="34" charset="0"/>
              </a:rPr>
              <a:t>The Benefits and Challenges of ERP</a:t>
            </a:r>
            <a:br>
              <a:rPr lang="en-US" sz="2800" b="1" dirty="0">
                <a:latin typeface="Aptos" panose="020B0004020202020204" pitchFamily="34" charset="0"/>
              </a:rPr>
            </a:br>
            <a:r>
              <a:rPr lang="en-US" sz="2800" dirty="0">
                <a:latin typeface="Aptos" panose="020B0004020202020204" pitchFamily="34" charset="0"/>
              </a:rPr>
              <a:t>Increased Efficiency, Better Teamwork, Common Weaknesses</a:t>
            </a:r>
          </a:p>
        </p:txBody>
      </p:sp>
      <p:sp>
        <p:nvSpPr>
          <p:cNvPr id="3" name="Content Placeholder 2">
            <a:extLst>
              <a:ext uri="{FF2B5EF4-FFF2-40B4-BE49-F238E27FC236}">
                <a16:creationId xmlns:a16="http://schemas.microsoft.com/office/drawing/2014/main" id="{6B50A3C8-128A-F75A-464D-2B9E2B441159}"/>
              </a:ext>
            </a:extLst>
          </p:cNvPr>
          <p:cNvSpPr>
            <a:spLocks noGrp="1"/>
          </p:cNvSpPr>
          <p:nvPr>
            <p:ph idx="1"/>
          </p:nvPr>
        </p:nvSpPr>
        <p:spPr>
          <a:xfrm>
            <a:off x="2589212" y="2133599"/>
            <a:ext cx="8915400" cy="4267201"/>
          </a:xfrm>
        </p:spPr>
        <p:txBody>
          <a:bodyPr>
            <a:normAutofit lnSpcReduction="10000"/>
          </a:bodyPr>
          <a:lstStyle/>
          <a:p>
            <a:r>
              <a:rPr lang="en-US" b="1" dirty="0">
                <a:latin typeface="Aptos" panose="020B0004020202020204" pitchFamily="34" charset="0"/>
              </a:rPr>
              <a:t>The Benefits:</a:t>
            </a:r>
          </a:p>
          <a:p>
            <a:pPr lvl="1"/>
            <a:r>
              <a:rPr lang="en-US" b="1" dirty="0">
                <a:latin typeface="Aptos" panose="020B0004020202020204" pitchFamily="34" charset="0"/>
              </a:rPr>
              <a:t>Efficiency &amp; Accuracy:</a:t>
            </a:r>
            <a:r>
              <a:rPr lang="en-US" dirty="0">
                <a:latin typeface="Aptos" panose="020B0004020202020204" pitchFamily="34" charset="0"/>
              </a:rPr>
              <a:t> By automating routine tasks, an ERP reduces human error and speeds up operations.</a:t>
            </a:r>
          </a:p>
          <a:p>
            <a:pPr lvl="1"/>
            <a:r>
              <a:rPr lang="en-US" b="1" dirty="0">
                <a:latin typeface="Aptos" panose="020B0004020202020204" pitchFamily="34" charset="0"/>
              </a:rPr>
              <a:t>Better Reporting:</a:t>
            </a:r>
            <a:r>
              <a:rPr lang="en-US" dirty="0">
                <a:latin typeface="Aptos" panose="020B0004020202020204" pitchFamily="34" charset="0"/>
              </a:rPr>
              <a:t> It generates accurate reports and graphs instantly, helping leaders make smart, data-driven decisions.</a:t>
            </a:r>
          </a:p>
          <a:p>
            <a:pPr lvl="1"/>
            <a:r>
              <a:rPr lang="en-US" b="1" dirty="0">
                <a:latin typeface="Aptos" panose="020B0004020202020204" pitchFamily="34" charset="0"/>
              </a:rPr>
              <a:t>Teamwork:</a:t>
            </a:r>
            <a:r>
              <a:rPr lang="en-US" dirty="0">
                <a:latin typeface="Aptos" panose="020B0004020202020204" pitchFamily="34" charset="0"/>
              </a:rPr>
              <a:t> It boosts collaboration. When employees can easily see how their work impacts other departments, it improves overall productivity.</a:t>
            </a:r>
          </a:p>
          <a:p>
            <a:r>
              <a:rPr lang="en-US" b="1" dirty="0">
                <a:latin typeface="Aptos" panose="020B0004020202020204" pitchFamily="34" charset="0"/>
              </a:rPr>
              <a:t>The Weaknesses:</a:t>
            </a:r>
            <a:r>
              <a:rPr lang="en-US" dirty="0">
                <a:latin typeface="Aptos" panose="020B0004020202020204" pitchFamily="34" charset="0"/>
              </a:rPr>
              <a:t> ERP systems are not magic. If a company is poorly organized, simply adding new software won't fix it. Also, setting up an ERP can be expensive and take a long time.</a:t>
            </a:r>
          </a:p>
          <a:p>
            <a:r>
              <a:rPr lang="en-US" b="1" dirty="0">
                <a:latin typeface="Aptos" panose="020B0004020202020204" pitchFamily="34" charset="0"/>
              </a:rPr>
              <a:t>The Challenge of Change:</a:t>
            </a:r>
            <a:r>
              <a:rPr lang="en-US" dirty="0">
                <a:latin typeface="Aptos" panose="020B0004020202020204" pitchFamily="34" charset="0"/>
              </a:rPr>
              <a:t> The biggest reason ERP implementations fail is human reluctance. Employees often don't want to abandon their old routines and old software. For an ERP to work, the whole company must be willing to embrace a new way of working.</a:t>
            </a:r>
          </a:p>
        </p:txBody>
      </p:sp>
    </p:spTree>
    <p:extLst>
      <p:ext uri="{BB962C8B-B14F-4D97-AF65-F5344CB8AC3E}">
        <p14:creationId xmlns:p14="http://schemas.microsoft.com/office/powerpoint/2010/main" val="807537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5A51E-0726-662A-4B6D-6650F571B126}"/>
              </a:ext>
            </a:extLst>
          </p:cNvPr>
          <p:cNvSpPr>
            <a:spLocks noGrp="1"/>
          </p:cNvSpPr>
          <p:nvPr>
            <p:ph type="title"/>
          </p:nvPr>
        </p:nvSpPr>
        <p:spPr/>
        <p:txBody>
          <a:bodyPr>
            <a:noAutofit/>
          </a:bodyPr>
          <a:lstStyle/>
          <a:p>
            <a:r>
              <a:rPr lang="en-US" sz="2800" b="1" dirty="0">
                <a:latin typeface="Aptos" panose="020B0004020202020204" pitchFamily="34" charset="0"/>
              </a:rPr>
              <a:t>Different Systems for Different Needs</a:t>
            </a:r>
            <a:br>
              <a:rPr lang="en-US" sz="2800" b="1" dirty="0">
                <a:latin typeface="Aptos" panose="020B0004020202020204" pitchFamily="34" charset="0"/>
              </a:rPr>
            </a:br>
            <a:r>
              <a:rPr lang="en-US" sz="2800" dirty="0">
                <a:latin typeface="Aptos" panose="020B0004020202020204" pitchFamily="34" charset="0"/>
              </a:rPr>
              <a:t>Cloud vs. On-Premise, Small Business Options, ERP vs. CRM</a:t>
            </a:r>
          </a:p>
        </p:txBody>
      </p:sp>
      <p:sp>
        <p:nvSpPr>
          <p:cNvPr id="3" name="Content Placeholder 2">
            <a:extLst>
              <a:ext uri="{FF2B5EF4-FFF2-40B4-BE49-F238E27FC236}">
                <a16:creationId xmlns:a16="http://schemas.microsoft.com/office/drawing/2014/main" id="{709CB402-3EDE-CD94-1941-6BCBDE2E804E}"/>
              </a:ext>
            </a:extLst>
          </p:cNvPr>
          <p:cNvSpPr>
            <a:spLocks noGrp="1"/>
          </p:cNvSpPr>
          <p:nvPr>
            <p:ph idx="1"/>
          </p:nvPr>
        </p:nvSpPr>
        <p:spPr>
          <a:xfrm>
            <a:off x="2589212" y="2133600"/>
            <a:ext cx="8915400" cy="4100290"/>
          </a:xfrm>
        </p:spPr>
        <p:txBody>
          <a:bodyPr>
            <a:normAutofit lnSpcReduction="10000"/>
          </a:bodyPr>
          <a:lstStyle/>
          <a:p>
            <a:r>
              <a:rPr lang="en-US" b="1" dirty="0">
                <a:latin typeface="Aptos" panose="020B0004020202020204" pitchFamily="34" charset="0"/>
              </a:rPr>
              <a:t>Cloud vs. On-Premise:</a:t>
            </a:r>
          </a:p>
          <a:p>
            <a:pPr lvl="1"/>
            <a:r>
              <a:rPr lang="en-US" b="1" dirty="0">
                <a:latin typeface="Aptos" panose="020B0004020202020204" pitchFamily="34" charset="0"/>
              </a:rPr>
              <a:t>On-Premise:</a:t>
            </a:r>
            <a:r>
              <a:rPr lang="en-US" dirty="0">
                <a:latin typeface="Aptos" panose="020B0004020202020204" pitchFamily="34" charset="0"/>
              </a:rPr>
              <a:t> The company buys the software and installs it on their own physical computers. This gives them total control but requires a big IT team to maintain it.</a:t>
            </a:r>
          </a:p>
          <a:p>
            <a:pPr lvl="1"/>
            <a:r>
              <a:rPr lang="en-US" b="1" dirty="0">
                <a:latin typeface="Aptos" panose="020B0004020202020204" pitchFamily="34" charset="0"/>
              </a:rPr>
              <a:t>Cloud ERP:</a:t>
            </a:r>
            <a:r>
              <a:rPr lang="en-US" dirty="0">
                <a:latin typeface="Aptos" panose="020B0004020202020204" pitchFamily="34" charset="0"/>
              </a:rPr>
              <a:t> The software is hosted on the internet (like a subscription). It is easier to update, cheaper to start, and can be accessed from anywhere.</a:t>
            </a:r>
          </a:p>
          <a:p>
            <a:r>
              <a:rPr lang="en-US" b="1" dirty="0">
                <a:latin typeface="Aptos" panose="020B0004020202020204" pitchFamily="34" charset="0"/>
              </a:rPr>
              <a:t>Tailored Solutions:</a:t>
            </a:r>
            <a:r>
              <a:rPr lang="en-US" dirty="0">
                <a:latin typeface="Aptos" panose="020B0004020202020204" pitchFamily="34" charset="0"/>
              </a:rPr>
              <a:t> Not every business needs a massive, complex system. There are "Small Business ERPs" that offer just the basics at an affordable price, and "Industry-Specific ERPs" designed for the unique needs of fields like manufacturing or healthcare.</a:t>
            </a:r>
          </a:p>
          <a:p>
            <a:r>
              <a:rPr lang="en-US" b="1" dirty="0">
                <a:latin typeface="Aptos" panose="020B0004020202020204" pitchFamily="34" charset="0"/>
              </a:rPr>
              <a:t>ERP vs. CRM:</a:t>
            </a:r>
            <a:r>
              <a:rPr lang="en-US" dirty="0">
                <a:latin typeface="Aptos" panose="020B0004020202020204" pitchFamily="34" charset="0"/>
              </a:rPr>
              <a:t> It is easy to confuse these two. An ERP manages the internal workings of a business (like paying bills and tracking inventory). A CRM (Customer Relationship Management) handles the external interactions (like marketing, sales, and customer service). Today, many modern ERPs include CRM features so a business can manage everything in one place.</a:t>
            </a:r>
          </a:p>
        </p:txBody>
      </p:sp>
    </p:spTree>
    <p:extLst>
      <p:ext uri="{BB962C8B-B14F-4D97-AF65-F5344CB8AC3E}">
        <p14:creationId xmlns:p14="http://schemas.microsoft.com/office/powerpoint/2010/main" val="713541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5DD46-DE96-1723-75A2-554C7E610290}"/>
              </a:ext>
            </a:extLst>
          </p:cNvPr>
          <p:cNvSpPr>
            <a:spLocks noGrp="1"/>
          </p:cNvSpPr>
          <p:nvPr>
            <p:ph type="title"/>
          </p:nvPr>
        </p:nvSpPr>
        <p:spPr/>
        <p:txBody>
          <a:bodyPr>
            <a:noAutofit/>
          </a:bodyPr>
          <a:lstStyle/>
          <a:p>
            <a:r>
              <a:rPr lang="en-US" sz="2800" b="1" dirty="0">
                <a:latin typeface="Aptos" panose="020B0004020202020204" pitchFamily="34" charset="0"/>
              </a:rPr>
              <a:t>Why Business and Technology Need to Work Together</a:t>
            </a:r>
            <a:br>
              <a:rPr lang="en-US" sz="2800" b="1" dirty="0">
                <a:latin typeface="Aptos" panose="020B0004020202020204" pitchFamily="34" charset="0"/>
              </a:rPr>
            </a:br>
            <a:r>
              <a:rPr lang="en-US" sz="2800" dirty="0">
                <a:latin typeface="Aptos" panose="020B0004020202020204" pitchFamily="34" charset="0"/>
              </a:rPr>
              <a:t>What is “Alignment” ?, The Secret to Outperforming Competitors, The Big Question</a:t>
            </a:r>
          </a:p>
        </p:txBody>
      </p:sp>
      <p:sp>
        <p:nvSpPr>
          <p:cNvPr id="3" name="Content Placeholder 2">
            <a:extLst>
              <a:ext uri="{FF2B5EF4-FFF2-40B4-BE49-F238E27FC236}">
                <a16:creationId xmlns:a16="http://schemas.microsoft.com/office/drawing/2014/main" id="{DFB52AD4-1069-0746-1550-E08B2B4AF0BB}"/>
              </a:ext>
            </a:extLst>
          </p:cNvPr>
          <p:cNvSpPr>
            <a:spLocks noGrp="1"/>
          </p:cNvSpPr>
          <p:nvPr>
            <p:ph idx="1"/>
          </p:nvPr>
        </p:nvSpPr>
        <p:spPr/>
        <p:txBody>
          <a:bodyPr/>
          <a:lstStyle/>
          <a:p>
            <a:r>
              <a:rPr lang="en-US" b="1" dirty="0">
                <a:latin typeface="Aptos" panose="020B0004020202020204" pitchFamily="34" charset="0"/>
              </a:rPr>
              <a:t>What is "Alignment"?</a:t>
            </a:r>
            <a:r>
              <a:rPr lang="en-US" dirty="0">
                <a:latin typeface="Aptos" panose="020B0004020202020204" pitchFamily="34" charset="0"/>
              </a:rPr>
              <a:t> In the business world, "alignment" simply means making sure a company's technology goals perfectly match its overall business goals. They are rowing the boat in the exact same direction.</a:t>
            </a:r>
          </a:p>
          <a:p>
            <a:r>
              <a:rPr lang="en-US" b="1" dirty="0">
                <a:latin typeface="Aptos" panose="020B0004020202020204" pitchFamily="34" charset="0"/>
              </a:rPr>
              <a:t>Why it Matters:</a:t>
            </a:r>
            <a:r>
              <a:rPr lang="en-US" dirty="0">
                <a:latin typeface="Aptos" panose="020B0004020202020204" pitchFamily="34" charset="0"/>
              </a:rPr>
              <a:t> The research shows a very clear fact: companies that successfully align their business strategy with their IT strategy perform much better and are more successful than companies that don’t.</a:t>
            </a:r>
          </a:p>
          <a:p>
            <a:r>
              <a:rPr lang="en-US" b="1" dirty="0">
                <a:latin typeface="Aptos" panose="020B0004020202020204" pitchFamily="34" charset="0"/>
              </a:rPr>
              <a:t>The Big Question:</a:t>
            </a:r>
            <a:r>
              <a:rPr lang="en-US" dirty="0">
                <a:latin typeface="Aptos" panose="020B0004020202020204" pitchFamily="34" charset="0"/>
              </a:rPr>
              <a:t> The researchers wanted to figure out what actually makes this alignment easier to achieve. Does a specific type of business plan make it easier, or does a specific type of technology plan make it easier?</a:t>
            </a:r>
          </a:p>
        </p:txBody>
      </p:sp>
    </p:spTree>
    <p:extLst>
      <p:ext uri="{BB962C8B-B14F-4D97-AF65-F5344CB8AC3E}">
        <p14:creationId xmlns:p14="http://schemas.microsoft.com/office/powerpoint/2010/main" val="714270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4091D-AF7B-185F-0A23-BDA9FAEAF624}"/>
              </a:ext>
            </a:extLst>
          </p:cNvPr>
          <p:cNvSpPr>
            <a:spLocks noGrp="1"/>
          </p:cNvSpPr>
          <p:nvPr>
            <p:ph type="title"/>
          </p:nvPr>
        </p:nvSpPr>
        <p:spPr/>
        <p:txBody>
          <a:bodyPr>
            <a:noAutofit/>
          </a:bodyPr>
          <a:lstStyle/>
          <a:p>
            <a:r>
              <a:rPr lang="en-US" sz="2800" b="1" dirty="0">
                <a:latin typeface="Aptos" panose="020B0004020202020204" pitchFamily="34" charset="0"/>
              </a:rPr>
              <a:t>Different types of IT Strategies</a:t>
            </a:r>
            <a:br>
              <a:rPr lang="en-US" sz="2800" b="1" dirty="0">
                <a:latin typeface="Aptos" panose="020B0004020202020204" pitchFamily="34" charset="0"/>
              </a:rPr>
            </a:br>
            <a:r>
              <a:rPr lang="en-US" sz="2800" dirty="0">
                <a:latin typeface="Aptos" panose="020B0004020202020204" pitchFamily="34" charset="0"/>
              </a:rPr>
              <a:t>The “Essential” Strategy, The “Innovative” Strategy, Finding the Best Fit</a:t>
            </a:r>
          </a:p>
        </p:txBody>
      </p:sp>
      <p:sp>
        <p:nvSpPr>
          <p:cNvPr id="3" name="Content Placeholder 2">
            <a:extLst>
              <a:ext uri="{FF2B5EF4-FFF2-40B4-BE49-F238E27FC236}">
                <a16:creationId xmlns:a16="http://schemas.microsoft.com/office/drawing/2014/main" id="{C2FDCD23-3850-DE89-6DEC-3EB1EDD88812}"/>
              </a:ext>
            </a:extLst>
          </p:cNvPr>
          <p:cNvSpPr>
            <a:spLocks noGrp="1"/>
          </p:cNvSpPr>
          <p:nvPr>
            <p:ph idx="1"/>
          </p:nvPr>
        </p:nvSpPr>
        <p:spPr/>
        <p:txBody>
          <a:bodyPr/>
          <a:lstStyle/>
          <a:p>
            <a:r>
              <a:rPr lang="en-US" b="1" dirty="0">
                <a:latin typeface="Aptos" panose="020B0004020202020204" pitchFamily="34" charset="0"/>
              </a:rPr>
              <a:t>The "Essential" IT Strategy (The Helper):</a:t>
            </a:r>
            <a:r>
              <a:rPr lang="en-US" dirty="0">
                <a:latin typeface="Aptos" panose="020B0004020202020204" pitchFamily="34" charset="0"/>
              </a:rPr>
              <a:t> Some companies view IT simply as a background tool. Its main job is to keep daily internal processes running smoothly—like making sure emails work and basic software runs correctly.</a:t>
            </a:r>
          </a:p>
          <a:p>
            <a:r>
              <a:rPr lang="en-US" b="1" dirty="0">
                <a:latin typeface="Aptos" panose="020B0004020202020204" pitchFamily="34" charset="0"/>
              </a:rPr>
              <a:t>The "Innovative" IT Strategy (The Game-Changer):</a:t>
            </a:r>
            <a:r>
              <a:rPr lang="en-US" dirty="0">
                <a:latin typeface="Aptos" panose="020B0004020202020204" pitchFamily="34" charset="0"/>
              </a:rPr>
              <a:t> Other companies view IT as a powerful driver of the business. They use technology to create brand new products, stand out in the market, and gain a massive advantage over their competitors.</a:t>
            </a:r>
          </a:p>
          <a:p>
            <a:r>
              <a:rPr lang="en-US" b="1" dirty="0">
                <a:latin typeface="Aptos" panose="020B0004020202020204" pitchFamily="34" charset="0"/>
              </a:rPr>
              <a:t>Finding the Fit:</a:t>
            </a:r>
            <a:r>
              <a:rPr lang="en-US" dirty="0">
                <a:latin typeface="Aptos" panose="020B0004020202020204" pitchFamily="34" charset="0"/>
              </a:rPr>
              <a:t> The study found that while any IT strategy can technically support a business plan, certain combinations fit together much better than others.</a:t>
            </a:r>
          </a:p>
        </p:txBody>
      </p:sp>
    </p:spTree>
    <p:extLst>
      <p:ext uri="{BB962C8B-B14F-4D97-AF65-F5344CB8AC3E}">
        <p14:creationId xmlns:p14="http://schemas.microsoft.com/office/powerpoint/2010/main" val="2403120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7B6E7-2558-182E-68C2-57F75BFE1F9C}"/>
              </a:ext>
            </a:extLst>
          </p:cNvPr>
          <p:cNvSpPr>
            <a:spLocks noGrp="1"/>
          </p:cNvSpPr>
          <p:nvPr>
            <p:ph type="title"/>
          </p:nvPr>
        </p:nvSpPr>
        <p:spPr/>
        <p:txBody>
          <a:bodyPr>
            <a:noAutofit/>
          </a:bodyPr>
          <a:lstStyle/>
          <a:p>
            <a:r>
              <a:rPr lang="en-US" sz="2800" b="1" dirty="0">
                <a:latin typeface="Aptos" panose="020B0004020202020204" pitchFamily="34" charset="0"/>
              </a:rPr>
              <a:t>How to Achieve the Best Alignment</a:t>
            </a:r>
            <a:br>
              <a:rPr lang="en-US" sz="2800" b="1" dirty="0">
                <a:latin typeface="Aptos" panose="020B0004020202020204" pitchFamily="34" charset="0"/>
              </a:rPr>
            </a:br>
            <a:r>
              <a:rPr lang="en-US" sz="2800" dirty="0">
                <a:latin typeface="Aptos" panose="020B0004020202020204" pitchFamily="34" charset="0"/>
              </a:rPr>
              <a:t>The Study’s Big Finding, The Value of “Progressive” IT, The Main Takeaway</a:t>
            </a:r>
          </a:p>
        </p:txBody>
      </p:sp>
      <p:sp>
        <p:nvSpPr>
          <p:cNvPr id="3" name="Content Placeholder 2">
            <a:extLst>
              <a:ext uri="{FF2B5EF4-FFF2-40B4-BE49-F238E27FC236}">
                <a16:creationId xmlns:a16="http://schemas.microsoft.com/office/drawing/2014/main" id="{95A231D2-124F-7083-2ADB-CC8D8D847A88}"/>
              </a:ext>
            </a:extLst>
          </p:cNvPr>
          <p:cNvSpPr>
            <a:spLocks noGrp="1"/>
          </p:cNvSpPr>
          <p:nvPr>
            <p:ph idx="1"/>
          </p:nvPr>
        </p:nvSpPr>
        <p:spPr/>
        <p:txBody>
          <a:bodyPr/>
          <a:lstStyle/>
          <a:p>
            <a:r>
              <a:rPr lang="en-US" b="1" dirty="0">
                <a:latin typeface="Aptos" panose="020B0004020202020204" pitchFamily="34" charset="0"/>
              </a:rPr>
              <a:t>The Big Finding:</a:t>
            </a:r>
            <a:r>
              <a:rPr lang="en-US" dirty="0">
                <a:latin typeface="Aptos" panose="020B0004020202020204" pitchFamily="34" charset="0"/>
              </a:rPr>
              <a:t> The researchers discovered that the type of business strategy a company has doesn't actually predict how well they can align their goals. However, the type of IT strategy matters a lot!</a:t>
            </a:r>
          </a:p>
          <a:p>
            <a:r>
              <a:rPr lang="en-US" b="1" dirty="0">
                <a:latin typeface="Aptos" panose="020B0004020202020204" pitchFamily="34" charset="0"/>
              </a:rPr>
              <a:t>Innovation Wins:</a:t>
            </a:r>
            <a:r>
              <a:rPr lang="en-US" dirty="0">
                <a:latin typeface="Aptos" panose="020B0004020202020204" pitchFamily="34" charset="0"/>
              </a:rPr>
              <a:t> When comparing a company that used an "Essential" IT strategy with one that used an "Innovative" IT strategy, the innovative company had a much higher "alignment capability." It was much easier for them to get their business and tech goals on the exact same page.</a:t>
            </a:r>
          </a:p>
          <a:p>
            <a:r>
              <a:rPr lang="en-US" b="1" dirty="0">
                <a:latin typeface="Aptos" panose="020B0004020202020204" pitchFamily="34" charset="0"/>
              </a:rPr>
              <a:t>The Main Takeaway:</a:t>
            </a:r>
            <a:r>
              <a:rPr lang="en-US" dirty="0">
                <a:latin typeface="Aptos" panose="020B0004020202020204" pitchFamily="34" charset="0"/>
              </a:rPr>
              <a:t> Treating IT as a forward-thinking, "progressive" tool—rather than just a basic support department—is the secret to creating better harmony and success across the entire company.</a:t>
            </a:r>
          </a:p>
        </p:txBody>
      </p:sp>
    </p:spTree>
    <p:extLst>
      <p:ext uri="{BB962C8B-B14F-4D97-AF65-F5344CB8AC3E}">
        <p14:creationId xmlns:p14="http://schemas.microsoft.com/office/powerpoint/2010/main" val="748911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CBD58-61EE-F738-6E60-C73771A16E81}"/>
              </a:ext>
            </a:extLst>
          </p:cNvPr>
          <p:cNvSpPr>
            <a:spLocks noGrp="1"/>
          </p:cNvSpPr>
          <p:nvPr>
            <p:ph type="title"/>
          </p:nvPr>
        </p:nvSpPr>
        <p:spPr/>
        <p:txBody>
          <a:bodyPr>
            <a:normAutofit/>
          </a:bodyPr>
          <a:lstStyle/>
          <a:p>
            <a:r>
              <a:rPr lang="en-US" sz="3200" b="1" dirty="0">
                <a:latin typeface="Aptos" panose="020B0004020202020204" pitchFamily="34" charset="0"/>
              </a:rPr>
              <a:t>Table of Contents</a:t>
            </a:r>
          </a:p>
        </p:txBody>
      </p:sp>
      <p:sp>
        <p:nvSpPr>
          <p:cNvPr id="3" name="Content Placeholder 2">
            <a:extLst>
              <a:ext uri="{FF2B5EF4-FFF2-40B4-BE49-F238E27FC236}">
                <a16:creationId xmlns:a16="http://schemas.microsoft.com/office/drawing/2014/main" id="{7757DFE9-A117-4C41-EC03-B2C651114737}"/>
              </a:ext>
            </a:extLst>
          </p:cNvPr>
          <p:cNvSpPr>
            <a:spLocks noGrp="1"/>
          </p:cNvSpPr>
          <p:nvPr>
            <p:ph idx="1"/>
          </p:nvPr>
        </p:nvSpPr>
        <p:spPr>
          <a:xfrm>
            <a:off x="2589212" y="1449422"/>
            <a:ext cx="8915400" cy="5272392"/>
          </a:xfrm>
        </p:spPr>
        <p:txBody>
          <a:bodyPr>
            <a:noAutofit/>
          </a:bodyPr>
          <a:lstStyle/>
          <a:p>
            <a:r>
              <a:rPr lang="en-US" sz="2000" dirty="0">
                <a:latin typeface="Aptos" panose="020B0004020202020204" pitchFamily="34" charset="0"/>
              </a:rPr>
              <a:t>The Neat and Tidy World of Structured Data</a:t>
            </a:r>
          </a:p>
          <a:p>
            <a:r>
              <a:rPr lang="en-US" sz="2000" dirty="0">
                <a:latin typeface="Aptos" panose="020B0004020202020204" pitchFamily="34" charset="0"/>
              </a:rPr>
              <a:t>The Flexible Middle Ground</a:t>
            </a:r>
          </a:p>
          <a:p>
            <a:r>
              <a:rPr lang="en-US" sz="2000" dirty="0">
                <a:latin typeface="Aptos" panose="020B0004020202020204" pitchFamily="34" charset="0"/>
              </a:rPr>
              <a:t>The Wild West of Information</a:t>
            </a:r>
          </a:p>
          <a:p>
            <a:r>
              <a:rPr lang="en-US" sz="2000" dirty="0">
                <a:latin typeface="Aptos" panose="020B0004020202020204" pitchFamily="34" charset="0"/>
              </a:rPr>
              <a:t>Information from Inside the Business</a:t>
            </a:r>
          </a:p>
          <a:p>
            <a:r>
              <a:rPr lang="en-US" sz="2000" dirty="0">
                <a:latin typeface="Aptos" panose="020B0004020202020204" pitchFamily="34" charset="0"/>
              </a:rPr>
              <a:t>Looking Outside the Company</a:t>
            </a:r>
          </a:p>
          <a:p>
            <a:r>
              <a:rPr lang="en-US" sz="2000" dirty="0">
                <a:latin typeface="Aptos" panose="020B0004020202020204" pitchFamily="34" charset="0"/>
              </a:rPr>
              <a:t>Free Information and How to Connect It</a:t>
            </a:r>
          </a:p>
          <a:p>
            <a:r>
              <a:rPr lang="en-US" sz="2000" dirty="0">
                <a:latin typeface="Aptos" panose="020B0004020202020204" pitchFamily="34" charset="0"/>
              </a:rPr>
              <a:t>Introduction to Data Collection</a:t>
            </a:r>
          </a:p>
          <a:p>
            <a:r>
              <a:rPr lang="en-US" sz="2000" dirty="0">
                <a:latin typeface="Aptos" panose="020B0004020202020204" pitchFamily="34" charset="0"/>
              </a:rPr>
              <a:t>The Step-by-Step Process</a:t>
            </a:r>
          </a:p>
          <a:p>
            <a:r>
              <a:rPr lang="en-US" sz="2000" dirty="0">
                <a:latin typeface="Aptos" panose="020B0004020202020204" pitchFamily="34" charset="0"/>
              </a:rPr>
              <a:t>Common Ways to Gather Information</a:t>
            </a:r>
          </a:p>
          <a:p>
            <a:r>
              <a:rPr lang="en-US" sz="2000" dirty="0">
                <a:latin typeface="Aptos" panose="020B0004020202020204" pitchFamily="34" charset="0"/>
              </a:rPr>
              <a:t>Introduction to Data Lifecycle Management</a:t>
            </a:r>
          </a:p>
          <a:p>
            <a:r>
              <a:rPr lang="en-US" sz="2000" dirty="0">
                <a:latin typeface="Aptos" panose="020B0004020202020204" pitchFamily="34" charset="0"/>
              </a:rPr>
              <a:t>The Five Stages of the Data Lifecycle</a:t>
            </a:r>
          </a:p>
          <a:p>
            <a:r>
              <a:rPr lang="en-US" sz="2000" dirty="0">
                <a:latin typeface="Aptos" panose="020B0004020202020204" pitchFamily="34" charset="0"/>
              </a:rPr>
              <a:t>Putting DLM into Action</a:t>
            </a:r>
          </a:p>
        </p:txBody>
      </p:sp>
    </p:spTree>
    <p:extLst>
      <p:ext uri="{BB962C8B-B14F-4D97-AF65-F5344CB8AC3E}">
        <p14:creationId xmlns:p14="http://schemas.microsoft.com/office/powerpoint/2010/main" val="34903731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623EF-F54B-E5F7-06D7-3A22F8E9F789}"/>
              </a:ext>
            </a:extLst>
          </p:cNvPr>
          <p:cNvSpPr>
            <a:spLocks noGrp="1"/>
          </p:cNvSpPr>
          <p:nvPr>
            <p:ph type="title"/>
          </p:nvPr>
        </p:nvSpPr>
        <p:spPr/>
        <p:txBody>
          <a:bodyPr>
            <a:normAutofit/>
          </a:bodyPr>
          <a:lstStyle/>
          <a:p>
            <a:r>
              <a:rPr lang="en-US" sz="3200" b="1" dirty="0">
                <a:latin typeface="Aptos" panose="020B0004020202020204" pitchFamily="34" charset="0"/>
              </a:rPr>
              <a:t>Table of Contents</a:t>
            </a:r>
          </a:p>
        </p:txBody>
      </p:sp>
      <p:sp>
        <p:nvSpPr>
          <p:cNvPr id="3" name="Content Placeholder 2">
            <a:extLst>
              <a:ext uri="{FF2B5EF4-FFF2-40B4-BE49-F238E27FC236}">
                <a16:creationId xmlns:a16="http://schemas.microsoft.com/office/drawing/2014/main" id="{E78F0AC5-75BF-F311-888E-A1231DA0BE84}"/>
              </a:ext>
            </a:extLst>
          </p:cNvPr>
          <p:cNvSpPr>
            <a:spLocks noGrp="1"/>
          </p:cNvSpPr>
          <p:nvPr>
            <p:ph idx="1"/>
          </p:nvPr>
        </p:nvSpPr>
        <p:spPr>
          <a:xfrm>
            <a:off x="2589212" y="1449421"/>
            <a:ext cx="8915400" cy="4461801"/>
          </a:xfrm>
        </p:spPr>
        <p:txBody>
          <a:bodyPr>
            <a:normAutofit/>
          </a:bodyPr>
          <a:lstStyle/>
          <a:p>
            <a:r>
              <a:rPr lang="en-US" sz="2000" dirty="0">
                <a:latin typeface="Aptos" panose="020B0004020202020204" pitchFamily="34" charset="0"/>
              </a:rPr>
              <a:t>The Basics of Data Integrity and Data Quality</a:t>
            </a:r>
          </a:p>
          <a:p>
            <a:r>
              <a:rPr lang="en-US" sz="2000" dirty="0">
                <a:latin typeface="Aptos" panose="020B0004020202020204" pitchFamily="34" charset="0"/>
              </a:rPr>
              <a:t>How We Measure and Protect Data</a:t>
            </a:r>
          </a:p>
          <a:p>
            <a:r>
              <a:rPr lang="en-US" sz="2000" dirty="0">
                <a:latin typeface="Aptos" panose="020B0004020202020204" pitchFamily="34" charset="0"/>
              </a:rPr>
              <a:t>How to Achieve Great Data</a:t>
            </a:r>
          </a:p>
          <a:p>
            <a:endParaRPr lang="en-US" sz="2000" dirty="0">
              <a:latin typeface="Aptos" panose="020B0004020202020204" pitchFamily="34" charset="0"/>
            </a:endParaRPr>
          </a:p>
        </p:txBody>
      </p:sp>
    </p:spTree>
    <p:extLst>
      <p:ext uri="{BB962C8B-B14F-4D97-AF65-F5344CB8AC3E}">
        <p14:creationId xmlns:p14="http://schemas.microsoft.com/office/powerpoint/2010/main" val="1513398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0FFF3-0006-6AD7-262A-2FDA288AE4CB}"/>
              </a:ext>
            </a:extLst>
          </p:cNvPr>
          <p:cNvSpPr>
            <a:spLocks noGrp="1"/>
          </p:cNvSpPr>
          <p:nvPr>
            <p:ph type="title"/>
          </p:nvPr>
        </p:nvSpPr>
        <p:spPr/>
        <p:txBody>
          <a:bodyPr>
            <a:noAutofit/>
          </a:bodyPr>
          <a:lstStyle/>
          <a:p>
            <a:r>
              <a:rPr lang="en-US" sz="2800" b="1" dirty="0">
                <a:latin typeface="Aptos" panose="020B0004020202020204" pitchFamily="34" charset="0"/>
              </a:rPr>
              <a:t>Structured Data: The Organized Filling Cabinet</a:t>
            </a:r>
            <a:br>
              <a:rPr lang="en-US" sz="2800" b="1" dirty="0">
                <a:latin typeface="Aptos" panose="020B0004020202020204" pitchFamily="34" charset="0"/>
              </a:rPr>
            </a:br>
            <a:r>
              <a:rPr lang="en-US" sz="2800" dirty="0">
                <a:latin typeface="Aptos" panose="020B0004020202020204" pitchFamily="34" charset="0"/>
              </a:rPr>
              <a:t>What is Big Data ? Defining Structured Data, Strengths and Weaknesses</a:t>
            </a:r>
          </a:p>
        </p:txBody>
      </p:sp>
      <p:sp>
        <p:nvSpPr>
          <p:cNvPr id="3" name="Content Placeholder 2">
            <a:extLst>
              <a:ext uri="{FF2B5EF4-FFF2-40B4-BE49-F238E27FC236}">
                <a16:creationId xmlns:a16="http://schemas.microsoft.com/office/drawing/2014/main" id="{92DE640B-9373-1A76-05BC-98853E7EF1FF}"/>
              </a:ext>
            </a:extLst>
          </p:cNvPr>
          <p:cNvSpPr>
            <a:spLocks noGrp="1"/>
          </p:cNvSpPr>
          <p:nvPr>
            <p:ph idx="1"/>
          </p:nvPr>
        </p:nvSpPr>
        <p:spPr/>
        <p:txBody>
          <a:bodyPr/>
          <a:lstStyle/>
          <a:p>
            <a:r>
              <a:rPr lang="en-US" b="1" dirty="0">
                <a:latin typeface="Aptos" panose="020B0004020202020204" pitchFamily="34" charset="0"/>
              </a:rPr>
              <a:t>The Three Types of Data:</a:t>
            </a:r>
            <a:r>
              <a:rPr lang="en-US" dirty="0">
                <a:latin typeface="Aptos" panose="020B0004020202020204" pitchFamily="34" charset="0"/>
              </a:rPr>
              <a:t> In the world of "Big Data," information generally falls into three categories based on how organized it is: Structured, Semi-structured, and Unstructured.</a:t>
            </a:r>
          </a:p>
          <a:p>
            <a:r>
              <a:rPr lang="en-US" b="1" dirty="0">
                <a:latin typeface="Aptos" panose="020B0004020202020204" pitchFamily="34" charset="0"/>
              </a:rPr>
              <a:t>What is Structured Data?</a:t>
            </a:r>
            <a:r>
              <a:rPr lang="en-US" dirty="0">
                <a:latin typeface="Aptos" panose="020B0004020202020204" pitchFamily="34" charset="0"/>
              </a:rPr>
              <a:t> Think of this as a highly organized spreadsheet. Every piece of information is perfectly formatted into neat rows and columns inside a database (often called a Relational Database).</a:t>
            </a:r>
          </a:p>
          <a:p>
            <a:r>
              <a:rPr lang="en-US" b="1" dirty="0">
                <a:latin typeface="Aptos" panose="020B0004020202020204" pitchFamily="34" charset="0"/>
              </a:rPr>
              <a:t>Pros and Cons:</a:t>
            </a:r>
          </a:p>
          <a:p>
            <a:pPr lvl="1"/>
            <a:r>
              <a:rPr lang="en-US" b="1" dirty="0">
                <a:latin typeface="Aptos" panose="020B0004020202020204" pitchFamily="34" charset="0"/>
              </a:rPr>
              <a:t>The Good:</a:t>
            </a:r>
            <a:r>
              <a:rPr lang="en-US" dirty="0">
                <a:latin typeface="Aptos" panose="020B0004020202020204" pitchFamily="34" charset="0"/>
              </a:rPr>
              <a:t> Because it is so organized, computers can search, analyze, and process this data incredibly fast. It is also very secure and reliable.</a:t>
            </a:r>
          </a:p>
          <a:p>
            <a:pPr lvl="1"/>
            <a:r>
              <a:rPr lang="en-US" b="1" dirty="0">
                <a:latin typeface="Aptos" panose="020B0004020202020204" pitchFamily="34" charset="0"/>
              </a:rPr>
              <a:t>The Bad:</a:t>
            </a:r>
            <a:r>
              <a:rPr lang="en-US" dirty="0">
                <a:latin typeface="Aptos" panose="020B0004020202020204" pitchFamily="34" charset="0"/>
              </a:rPr>
              <a:t> It is very rigid. If you want to change the layout or add a massive amount of new data quickly, it is very difficult to scale up.</a:t>
            </a:r>
          </a:p>
        </p:txBody>
      </p:sp>
    </p:spTree>
    <p:extLst>
      <p:ext uri="{BB962C8B-B14F-4D97-AF65-F5344CB8AC3E}">
        <p14:creationId xmlns:p14="http://schemas.microsoft.com/office/powerpoint/2010/main" val="249809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21E05-6387-5F14-F17F-F1EF45E8A544}"/>
              </a:ext>
            </a:extLst>
          </p:cNvPr>
          <p:cNvSpPr>
            <a:spLocks noGrp="1"/>
          </p:cNvSpPr>
          <p:nvPr>
            <p:ph type="title"/>
          </p:nvPr>
        </p:nvSpPr>
        <p:spPr/>
        <p:txBody>
          <a:bodyPr>
            <a:noAutofit/>
          </a:bodyPr>
          <a:lstStyle/>
          <a:p>
            <a:r>
              <a:rPr lang="en-US" sz="2800" b="1" dirty="0">
                <a:latin typeface="Aptos" panose="020B0004020202020204" pitchFamily="34" charset="0"/>
              </a:rPr>
              <a:t>Semi-Structured Data: The Best of Both Worlds</a:t>
            </a:r>
            <a:br>
              <a:rPr lang="en-US" sz="2800" b="1" dirty="0">
                <a:latin typeface="Aptos" panose="020B0004020202020204" pitchFamily="34" charset="0"/>
              </a:rPr>
            </a:br>
            <a:r>
              <a:rPr lang="en-US" sz="2800" dirty="0">
                <a:latin typeface="Aptos" panose="020B0004020202020204" pitchFamily="34" charset="0"/>
              </a:rPr>
              <a:t>Defining Semi-Structured Data, How It is Organized, Common Examples</a:t>
            </a:r>
          </a:p>
        </p:txBody>
      </p:sp>
      <p:sp>
        <p:nvSpPr>
          <p:cNvPr id="3" name="Content Placeholder 2">
            <a:extLst>
              <a:ext uri="{FF2B5EF4-FFF2-40B4-BE49-F238E27FC236}">
                <a16:creationId xmlns:a16="http://schemas.microsoft.com/office/drawing/2014/main" id="{21E22A3F-E4E2-990D-C7A7-9959B44803EE}"/>
              </a:ext>
            </a:extLst>
          </p:cNvPr>
          <p:cNvSpPr>
            <a:spLocks noGrp="1"/>
          </p:cNvSpPr>
          <p:nvPr>
            <p:ph idx="1"/>
          </p:nvPr>
        </p:nvSpPr>
        <p:spPr/>
        <p:txBody>
          <a:bodyPr/>
          <a:lstStyle/>
          <a:p>
            <a:r>
              <a:rPr lang="en-US" b="1" dirty="0">
                <a:latin typeface="Aptos" panose="020B0004020202020204" pitchFamily="34" charset="0"/>
              </a:rPr>
              <a:t>What is Semi-Structured Data?</a:t>
            </a:r>
            <a:r>
              <a:rPr lang="en-US" dirty="0">
                <a:latin typeface="Aptos" panose="020B0004020202020204" pitchFamily="34" charset="0"/>
              </a:rPr>
              <a:t> This type of data does not fit perfectly into a rigid table with rows and columns, but it isn't completely chaotic either. It has some organizational properties to help group things together.</a:t>
            </a:r>
          </a:p>
          <a:p>
            <a:r>
              <a:rPr lang="en-US" b="1" dirty="0">
                <a:latin typeface="Aptos" panose="020B0004020202020204" pitchFamily="34" charset="0"/>
              </a:rPr>
              <a:t>How It Works:</a:t>
            </a:r>
            <a:r>
              <a:rPr lang="en-US" dirty="0">
                <a:latin typeface="Aptos" panose="020B0004020202020204" pitchFamily="34" charset="0"/>
              </a:rPr>
              <a:t> Instead of strict tables, it uses "tags" or "markers" to separate different pieces of data. Think of an email: it has specific tags for the "To," "From," and "Date" fields, but the actual message inside is just free-flowing text.</a:t>
            </a:r>
          </a:p>
          <a:p>
            <a:r>
              <a:rPr lang="en-US" b="1" dirty="0">
                <a:latin typeface="Aptos" panose="020B0004020202020204" pitchFamily="34" charset="0"/>
              </a:rPr>
              <a:t>Why Use It?</a:t>
            </a:r>
            <a:r>
              <a:rPr lang="en-US" dirty="0">
                <a:latin typeface="Aptos" panose="020B0004020202020204" pitchFamily="34" charset="0"/>
              </a:rPr>
              <a:t> It exists to save space and provide flexibility. It is much easier to scale and change than perfectly structured data. Common examples used by programmers are XML or JSON files.</a:t>
            </a:r>
          </a:p>
        </p:txBody>
      </p:sp>
    </p:spTree>
    <p:extLst>
      <p:ext uri="{BB962C8B-B14F-4D97-AF65-F5344CB8AC3E}">
        <p14:creationId xmlns:p14="http://schemas.microsoft.com/office/powerpoint/2010/main" val="14698769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1888D-71F3-2B28-FFF9-1A71DB72AB37}"/>
              </a:ext>
            </a:extLst>
          </p:cNvPr>
          <p:cNvSpPr>
            <a:spLocks noGrp="1"/>
          </p:cNvSpPr>
          <p:nvPr>
            <p:ph type="title"/>
          </p:nvPr>
        </p:nvSpPr>
        <p:spPr/>
        <p:txBody>
          <a:bodyPr>
            <a:noAutofit/>
          </a:bodyPr>
          <a:lstStyle/>
          <a:p>
            <a:r>
              <a:rPr lang="en-US" sz="2800" b="1" dirty="0">
                <a:latin typeface="Aptos" panose="020B0004020202020204" pitchFamily="34" charset="0"/>
              </a:rPr>
              <a:t>Unstructured Data: Free-Flowing Information</a:t>
            </a:r>
            <a:br>
              <a:rPr lang="en-US" sz="2800" b="1" dirty="0">
                <a:latin typeface="Aptos" panose="020B0004020202020204" pitchFamily="34" charset="0"/>
              </a:rPr>
            </a:br>
            <a:r>
              <a:rPr lang="en-US" sz="2800" dirty="0">
                <a:latin typeface="Aptos" panose="020B0004020202020204" pitchFamily="34" charset="0"/>
              </a:rPr>
              <a:t>Defining Unstructured Data, The Challenge of Searching, Common Examples</a:t>
            </a:r>
          </a:p>
        </p:txBody>
      </p:sp>
      <p:sp>
        <p:nvSpPr>
          <p:cNvPr id="3" name="Content Placeholder 2">
            <a:extLst>
              <a:ext uri="{FF2B5EF4-FFF2-40B4-BE49-F238E27FC236}">
                <a16:creationId xmlns:a16="http://schemas.microsoft.com/office/drawing/2014/main" id="{AF53917A-8CDA-2F9A-C8D5-9835B8FCF76F}"/>
              </a:ext>
            </a:extLst>
          </p:cNvPr>
          <p:cNvSpPr>
            <a:spLocks noGrp="1"/>
          </p:cNvSpPr>
          <p:nvPr>
            <p:ph idx="1"/>
          </p:nvPr>
        </p:nvSpPr>
        <p:spPr/>
        <p:txBody>
          <a:bodyPr/>
          <a:lstStyle/>
          <a:p>
            <a:r>
              <a:rPr lang="en-US" b="1" dirty="0">
                <a:latin typeface="Aptos" panose="020B0004020202020204" pitchFamily="34" charset="0"/>
              </a:rPr>
              <a:t>What is Unstructured Data?</a:t>
            </a:r>
            <a:r>
              <a:rPr lang="en-US" dirty="0">
                <a:latin typeface="Aptos" panose="020B0004020202020204" pitchFamily="34" charset="0"/>
              </a:rPr>
              <a:t> This is data that has absolutely no predefined format, rules, or structure. It cannot easily fit into a standard database table.</a:t>
            </a:r>
          </a:p>
          <a:p>
            <a:r>
              <a:rPr lang="en-US" b="1" dirty="0">
                <a:latin typeface="Aptos" panose="020B0004020202020204" pitchFamily="34" charset="0"/>
              </a:rPr>
              <a:t>Common Examples:</a:t>
            </a:r>
            <a:r>
              <a:rPr lang="en-US" dirty="0">
                <a:latin typeface="Aptos" panose="020B0004020202020204" pitchFamily="34" charset="0"/>
              </a:rPr>
              <a:t> The vast majority of data created today is unstructured. This includes things like Word documents, PDF files, text messages, audio files, photos, and videos.</a:t>
            </a:r>
          </a:p>
          <a:p>
            <a:r>
              <a:rPr lang="en-US" b="1" dirty="0">
                <a:latin typeface="Aptos" panose="020B0004020202020204" pitchFamily="34" charset="0"/>
              </a:rPr>
              <a:t>The Big Difference:</a:t>
            </a:r>
          </a:p>
          <a:p>
            <a:pPr lvl="1"/>
            <a:r>
              <a:rPr lang="en-US" b="1" dirty="0">
                <a:latin typeface="Aptos" panose="020B0004020202020204" pitchFamily="34" charset="0"/>
              </a:rPr>
              <a:t>High Scalability:</a:t>
            </a:r>
            <a:r>
              <a:rPr lang="en-US" dirty="0">
                <a:latin typeface="Aptos" panose="020B0004020202020204" pitchFamily="34" charset="0"/>
              </a:rPr>
              <a:t> Because there are no strict rules, it is incredibly easy to store massive, endless amounts of unstructured data.</a:t>
            </a:r>
          </a:p>
          <a:p>
            <a:pPr lvl="1"/>
            <a:r>
              <a:rPr lang="en-US" b="1" dirty="0">
                <a:latin typeface="Aptos" panose="020B0004020202020204" pitchFamily="34" charset="0"/>
              </a:rPr>
              <a:t>Hard to Analyze:</a:t>
            </a:r>
            <a:r>
              <a:rPr lang="en-US" dirty="0">
                <a:latin typeface="Aptos" panose="020B0004020202020204" pitchFamily="34" charset="0"/>
              </a:rPr>
              <a:t> The main drawback is that you cannot easily search it using traditional database rules. Companies have to use advanced tools, like Artificial Intelligence, to pull useful insights out of huge folders of mixed files.</a:t>
            </a:r>
          </a:p>
        </p:txBody>
      </p:sp>
    </p:spTree>
    <p:extLst>
      <p:ext uri="{BB962C8B-B14F-4D97-AF65-F5344CB8AC3E}">
        <p14:creationId xmlns:p14="http://schemas.microsoft.com/office/powerpoint/2010/main" val="8109117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1061E-B4DC-628A-753A-F0E0F8224535}"/>
              </a:ext>
            </a:extLst>
          </p:cNvPr>
          <p:cNvSpPr>
            <a:spLocks noGrp="1"/>
          </p:cNvSpPr>
          <p:nvPr>
            <p:ph type="title"/>
          </p:nvPr>
        </p:nvSpPr>
        <p:spPr/>
        <p:txBody>
          <a:bodyPr>
            <a:noAutofit/>
          </a:bodyPr>
          <a:lstStyle/>
          <a:p>
            <a:r>
              <a:rPr lang="en-US" sz="2800" b="1" dirty="0">
                <a:latin typeface="Aptos" panose="020B0004020202020204" pitchFamily="34" charset="0"/>
              </a:rPr>
              <a:t>Where Does Business Data Come From ?</a:t>
            </a:r>
            <a:br>
              <a:rPr lang="en-US" sz="2800" b="1" dirty="0">
                <a:latin typeface="Aptos" panose="020B0004020202020204" pitchFamily="34" charset="0"/>
              </a:rPr>
            </a:br>
            <a:r>
              <a:rPr lang="en-US" sz="2800" dirty="0">
                <a:latin typeface="Aptos" panose="020B0004020202020204" pitchFamily="34" charset="0"/>
              </a:rPr>
              <a:t>The Need for Data, Internal Data, Advantages of Internal Data</a:t>
            </a:r>
          </a:p>
        </p:txBody>
      </p:sp>
      <p:sp>
        <p:nvSpPr>
          <p:cNvPr id="3" name="Content Placeholder 2">
            <a:extLst>
              <a:ext uri="{FF2B5EF4-FFF2-40B4-BE49-F238E27FC236}">
                <a16:creationId xmlns:a16="http://schemas.microsoft.com/office/drawing/2014/main" id="{2C260501-6D4F-CA13-8A7B-68CD5561BE3A}"/>
              </a:ext>
            </a:extLst>
          </p:cNvPr>
          <p:cNvSpPr>
            <a:spLocks noGrp="1"/>
          </p:cNvSpPr>
          <p:nvPr>
            <p:ph idx="1"/>
          </p:nvPr>
        </p:nvSpPr>
        <p:spPr/>
        <p:txBody>
          <a:bodyPr/>
          <a:lstStyle/>
          <a:p>
            <a:r>
              <a:rPr lang="en-US" b="1" dirty="0">
                <a:latin typeface="Aptos" panose="020B0004020202020204" pitchFamily="34" charset="0"/>
              </a:rPr>
              <a:t>The Shift in Data:</a:t>
            </a:r>
            <a:r>
              <a:rPr lang="en-US" dirty="0">
                <a:latin typeface="Aptos" panose="020B0004020202020204" pitchFamily="34" charset="0"/>
              </a:rPr>
              <a:t> In the past, companies only used simple management software to get their data. Today, businesses need information from many different places to make the smartest possible decisions.</a:t>
            </a:r>
          </a:p>
          <a:p>
            <a:r>
              <a:rPr lang="en-US" b="1" dirty="0">
                <a:latin typeface="Aptos" panose="020B0004020202020204" pitchFamily="34" charset="0"/>
              </a:rPr>
              <a:t>What is Internal Data?</a:t>
            </a:r>
            <a:r>
              <a:rPr lang="en-US" dirty="0">
                <a:latin typeface="Aptos" panose="020B0004020202020204" pitchFamily="34" charset="0"/>
              </a:rPr>
              <a:t> This is the information a company already naturally collects just by doing business. Examples include records of customer purchases, staff payments, email marketing clicks, and customer support calls.</a:t>
            </a:r>
          </a:p>
          <a:p>
            <a:r>
              <a:rPr lang="en-US" b="1" dirty="0">
                <a:latin typeface="Aptos" panose="020B0004020202020204" pitchFamily="34" charset="0"/>
              </a:rPr>
              <a:t>The Advantages:</a:t>
            </a:r>
            <a:r>
              <a:rPr lang="en-US" dirty="0">
                <a:latin typeface="Aptos" panose="020B0004020202020204" pitchFamily="34" charset="0"/>
              </a:rPr>
              <a:t> Because the company owns this data, it is incredibly easy to use. It is already there, there are no special rules or restrictions for using it, and it is usually formatted in a way the company's computers already understand.</a:t>
            </a:r>
          </a:p>
        </p:txBody>
      </p:sp>
    </p:spTree>
    <p:extLst>
      <p:ext uri="{BB962C8B-B14F-4D97-AF65-F5344CB8AC3E}">
        <p14:creationId xmlns:p14="http://schemas.microsoft.com/office/powerpoint/2010/main" val="2719264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AF05F-AA8D-FD47-42AA-105A158C49B9}"/>
              </a:ext>
            </a:extLst>
          </p:cNvPr>
          <p:cNvSpPr>
            <a:spLocks noGrp="1"/>
          </p:cNvSpPr>
          <p:nvPr>
            <p:ph type="title"/>
          </p:nvPr>
        </p:nvSpPr>
        <p:spPr/>
        <p:txBody>
          <a:bodyPr>
            <a:noAutofit/>
          </a:bodyPr>
          <a:lstStyle/>
          <a:p>
            <a:r>
              <a:rPr lang="en-US" sz="2800" b="1" dirty="0">
                <a:latin typeface="Aptos" panose="020B0004020202020204" pitchFamily="34" charset="0"/>
              </a:rPr>
              <a:t>Third-Party Analytics and External Data</a:t>
            </a:r>
            <a:br>
              <a:rPr lang="en-US" sz="2800" b="1" dirty="0">
                <a:latin typeface="Aptos" panose="020B0004020202020204" pitchFamily="34" charset="0"/>
              </a:rPr>
            </a:br>
            <a:r>
              <a:rPr lang="en-US" sz="2800" dirty="0">
                <a:latin typeface="Aptos" panose="020B0004020202020204" pitchFamily="34" charset="0"/>
              </a:rPr>
              <a:t>Third-Party Tools, External Data, Why Outside Information Matters</a:t>
            </a:r>
          </a:p>
        </p:txBody>
      </p:sp>
      <p:sp>
        <p:nvSpPr>
          <p:cNvPr id="3" name="Content Placeholder 2">
            <a:extLst>
              <a:ext uri="{FF2B5EF4-FFF2-40B4-BE49-F238E27FC236}">
                <a16:creationId xmlns:a16="http://schemas.microsoft.com/office/drawing/2014/main" id="{060244AC-F408-BB93-3CFC-01AA80AE47CE}"/>
              </a:ext>
            </a:extLst>
          </p:cNvPr>
          <p:cNvSpPr>
            <a:spLocks noGrp="1"/>
          </p:cNvSpPr>
          <p:nvPr>
            <p:ph idx="1"/>
          </p:nvPr>
        </p:nvSpPr>
        <p:spPr/>
        <p:txBody>
          <a:bodyPr/>
          <a:lstStyle/>
          <a:p>
            <a:r>
              <a:rPr lang="en-US" b="1" dirty="0">
                <a:latin typeface="Aptos" panose="020B0004020202020204" pitchFamily="34" charset="0"/>
              </a:rPr>
              <a:t>Third-Party Analytics:</a:t>
            </a:r>
            <a:r>
              <a:rPr lang="en-US" dirty="0">
                <a:latin typeface="Aptos" panose="020B0004020202020204" pitchFamily="34" charset="0"/>
              </a:rPr>
              <a:t> Sometimes a company doesn't have the tools to collect complex data themselves. They can use "third-party" services (like Google Analytics) to do it for them. These tools track things like how many people visit a website and what pages they click on the most.</a:t>
            </a:r>
          </a:p>
          <a:p>
            <a:r>
              <a:rPr lang="en-US" b="1" dirty="0">
                <a:latin typeface="Aptos" panose="020B0004020202020204" pitchFamily="34" charset="0"/>
              </a:rPr>
              <a:t>External Data:</a:t>
            </a:r>
            <a:r>
              <a:rPr lang="en-US" dirty="0">
                <a:latin typeface="Aptos" panose="020B0004020202020204" pitchFamily="34" charset="0"/>
              </a:rPr>
              <a:t> This is information from the outside world that can impact a business. It can literally be anything—from the local weather conditions and social media trends to global market prices and political changes.</a:t>
            </a:r>
          </a:p>
          <a:p>
            <a:r>
              <a:rPr lang="en-US" b="1" dirty="0">
                <a:latin typeface="Aptos" panose="020B0004020202020204" pitchFamily="34" charset="0"/>
              </a:rPr>
              <a:t>Why it Matters:</a:t>
            </a:r>
            <a:r>
              <a:rPr lang="en-US" dirty="0">
                <a:latin typeface="Aptos" panose="020B0004020202020204" pitchFamily="34" charset="0"/>
              </a:rPr>
              <a:t> A company cannot survive by only looking at itself. Using external data helps business leaders predict real-world changes, understand the economy, and prepare for things outside of their direct control.</a:t>
            </a:r>
          </a:p>
        </p:txBody>
      </p:sp>
    </p:spTree>
    <p:extLst>
      <p:ext uri="{BB962C8B-B14F-4D97-AF65-F5344CB8AC3E}">
        <p14:creationId xmlns:p14="http://schemas.microsoft.com/office/powerpoint/2010/main" val="1579442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F4F35-1E48-00F5-7E60-77B2CE3BA1B1}"/>
              </a:ext>
            </a:extLst>
          </p:cNvPr>
          <p:cNvSpPr>
            <a:spLocks noGrp="1"/>
          </p:cNvSpPr>
          <p:nvPr>
            <p:ph type="title"/>
          </p:nvPr>
        </p:nvSpPr>
        <p:spPr/>
        <p:txBody>
          <a:bodyPr>
            <a:noAutofit/>
          </a:bodyPr>
          <a:lstStyle/>
          <a:p>
            <a:r>
              <a:rPr lang="en-US" sz="2800" b="1" dirty="0">
                <a:latin typeface="Aptos" panose="020B0004020202020204" pitchFamily="34" charset="0"/>
              </a:rPr>
              <a:t>Open Data and APIs</a:t>
            </a:r>
            <a:br>
              <a:rPr lang="en-US" sz="2800" b="1" dirty="0">
                <a:latin typeface="Aptos" panose="020B0004020202020204" pitchFamily="34" charset="0"/>
              </a:rPr>
            </a:br>
            <a:r>
              <a:rPr lang="en-US" sz="2800" dirty="0">
                <a:latin typeface="Aptos" panose="020B0004020202020204" pitchFamily="34" charset="0"/>
              </a:rPr>
              <a:t>Open Data, The Challenges of Free Data, Connecting Apps with APIs</a:t>
            </a:r>
          </a:p>
        </p:txBody>
      </p:sp>
      <p:sp>
        <p:nvSpPr>
          <p:cNvPr id="3" name="Content Placeholder 2">
            <a:extLst>
              <a:ext uri="{FF2B5EF4-FFF2-40B4-BE49-F238E27FC236}">
                <a16:creationId xmlns:a16="http://schemas.microsoft.com/office/drawing/2014/main" id="{142D3410-84C0-8A09-3DBE-211DAFAE04FF}"/>
              </a:ext>
            </a:extLst>
          </p:cNvPr>
          <p:cNvSpPr>
            <a:spLocks noGrp="1"/>
          </p:cNvSpPr>
          <p:nvPr>
            <p:ph idx="1"/>
          </p:nvPr>
        </p:nvSpPr>
        <p:spPr/>
        <p:txBody>
          <a:bodyPr/>
          <a:lstStyle/>
          <a:p>
            <a:r>
              <a:rPr lang="en-US" b="1" dirty="0">
                <a:latin typeface="Aptos" panose="020B0004020202020204" pitchFamily="34" charset="0"/>
              </a:rPr>
              <a:t>What is Open Data?</a:t>
            </a:r>
            <a:r>
              <a:rPr lang="en-US" dirty="0">
                <a:latin typeface="Aptos" panose="020B0004020202020204" pitchFamily="34" charset="0"/>
              </a:rPr>
              <a:t> This is information that is completely free and available to the general public. Great examples include government websites, public health statistics from the World Health Organization, or trending topics on Google and Twitter.</a:t>
            </a:r>
          </a:p>
          <a:p>
            <a:r>
              <a:rPr lang="en-US" b="1" dirty="0">
                <a:latin typeface="Aptos" panose="020B0004020202020204" pitchFamily="34" charset="0"/>
              </a:rPr>
              <a:t>The Challenge:</a:t>
            </a:r>
            <a:r>
              <a:rPr lang="en-US" dirty="0">
                <a:latin typeface="Aptos" panose="020B0004020202020204" pitchFamily="34" charset="0"/>
              </a:rPr>
              <a:t> While open data is free, it isn't always easy to use. Because it is meant for everyone, it might be highly summarized or poorly formatted. It often takes a business extra time and effort to clean up this data so it actually makes sense for their specific needs.</a:t>
            </a:r>
          </a:p>
          <a:p>
            <a:r>
              <a:rPr lang="en-US" b="1" dirty="0">
                <a:latin typeface="Aptos" panose="020B0004020202020204" pitchFamily="34" charset="0"/>
              </a:rPr>
              <a:t>Connecting with APIs:</a:t>
            </a:r>
            <a:r>
              <a:rPr lang="en-US" dirty="0">
                <a:latin typeface="Aptos" panose="020B0004020202020204" pitchFamily="34" charset="0"/>
              </a:rPr>
              <a:t> "APIs" (Application Programming Interfaces) are not data sources themselves, but they are the bridges that allow data to travel. They allow different software apps—like Twitter, Slack, or Mailchimp—to seamlessly talk to each other and share information back and forth.</a:t>
            </a:r>
          </a:p>
        </p:txBody>
      </p:sp>
    </p:spTree>
    <p:extLst>
      <p:ext uri="{BB962C8B-B14F-4D97-AF65-F5344CB8AC3E}">
        <p14:creationId xmlns:p14="http://schemas.microsoft.com/office/powerpoint/2010/main" val="140848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FF652-A446-C6A1-0D19-E9AA47D9C8CD}"/>
              </a:ext>
            </a:extLst>
          </p:cNvPr>
          <p:cNvSpPr>
            <a:spLocks noGrp="1"/>
          </p:cNvSpPr>
          <p:nvPr>
            <p:ph type="title"/>
          </p:nvPr>
        </p:nvSpPr>
        <p:spPr/>
        <p:txBody>
          <a:bodyPr>
            <a:noAutofit/>
          </a:bodyPr>
          <a:lstStyle/>
          <a:p>
            <a:r>
              <a:rPr lang="en-US" sz="2800" b="1" dirty="0">
                <a:latin typeface="Aptos" panose="020B0004020202020204" pitchFamily="34" charset="0"/>
              </a:rPr>
              <a:t>What is Data Collection ?</a:t>
            </a:r>
            <a:br>
              <a:rPr lang="en-US" sz="2800" b="1" dirty="0">
                <a:latin typeface="Aptos" panose="020B0004020202020204" pitchFamily="34" charset="0"/>
              </a:rPr>
            </a:br>
            <a:r>
              <a:rPr lang="en-US" sz="2800" dirty="0">
                <a:latin typeface="Aptos" panose="020B0004020202020204" pitchFamily="34" charset="0"/>
              </a:rPr>
              <a:t>The Definition, Why It Matters, Primary vs. Secondary Data</a:t>
            </a:r>
          </a:p>
        </p:txBody>
      </p:sp>
      <p:sp>
        <p:nvSpPr>
          <p:cNvPr id="3" name="Content Placeholder 2">
            <a:extLst>
              <a:ext uri="{FF2B5EF4-FFF2-40B4-BE49-F238E27FC236}">
                <a16:creationId xmlns:a16="http://schemas.microsoft.com/office/drawing/2014/main" id="{DBCD923C-F18F-1E13-3AF2-AA3FA8D52169}"/>
              </a:ext>
            </a:extLst>
          </p:cNvPr>
          <p:cNvSpPr>
            <a:spLocks noGrp="1"/>
          </p:cNvSpPr>
          <p:nvPr>
            <p:ph idx="1"/>
          </p:nvPr>
        </p:nvSpPr>
        <p:spPr/>
        <p:txBody>
          <a:bodyPr>
            <a:normAutofit lnSpcReduction="10000"/>
          </a:bodyPr>
          <a:lstStyle/>
          <a:p>
            <a:r>
              <a:rPr lang="en-US" b="1" dirty="0">
                <a:latin typeface="Aptos" panose="020B0004020202020204" pitchFamily="34" charset="0"/>
              </a:rPr>
              <a:t>The Basics:</a:t>
            </a:r>
            <a:r>
              <a:rPr lang="en-US" dirty="0">
                <a:latin typeface="Aptos" panose="020B0004020202020204" pitchFamily="34" charset="0"/>
              </a:rPr>
              <a:t> Data collection is the organized process of gathering specific information to answer questions, solve problems, or make business decisions. Instead of grabbing every piece of data available, it focuses on getting the right information from the right places.</a:t>
            </a:r>
          </a:p>
          <a:p>
            <a:r>
              <a:rPr lang="en-US" b="1" dirty="0">
                <a:latin typeface="Aptos" panose="020B0004020202020204" pitchFamily="34" charset="0"/>
              </a:rPr>
              <a:t>Why It Matters:</a:t>
            </a:r>
            <a:r>
              <a:rPr lang="en-US" dirty="0">
                <a:latin typeface="Aptos" panose="020B0004020202020204" pitchFamily="34" charset="0"/>
              </a:rPr>
              <a:t> Most business decisions are based on data. If information is gathered randomly or poorly, it leads to mistakes and bad choices. A clear, carefully planned process ensures the information is accurate, trustworthy, and actually useful.</a:t>
            </a:r>
          </a:p>
          <a:p>
            <a:r>
              <a:rPr lang="en-US" b="1" dirty="0">
                <a:latin typeface="Aptos" panose="020B0004020202020204" pitchFamily="34" charset="0"/>
              </a:rPr>
              <a:t>Two Main Types of Data:</a:t>
            </a:r>
          </a:p>
          <a:p>
            <a:pPr lvl="1"/>
            <a:r>
              <a:rPr lang="en-US" b="1" dirty="0">
                <a:latin typeface="Aptos" panose="020B0004020202020204" pitchFamily="34" charset="0"/>
              </a:rPr>
              <a:t>Primary Data:</a:t>
            </a:r>
            <a:r>
              <a:rPr lang="en-US" dirty="0">
                <a:latin typeface="Aptos" panose="020B0004020202020204" pitchFamily="34" charset="0"/>
              </a:rPr>
              <a:t> Information you collect yourself for a specific reason (like sending a survey to your own customers).</a:t>
            </a:r>
          </a:p>
          <a:p>
            <a:pPr lvl="1"/>
            <a:r>
              <a:rPr lang="en-US" b="1" dirty="0">
                <a:latin typeface="Aptos" panose="020B0004020202020204" pitchFamily="34" charset="0"/>
              </a:rPr>
              <a:t>Secondary Data:</a:t>
            </a:r>
            <a:r>
              <a:rPr lang="en-US" dirty="0">
                <a:latin typeface="Aptos" panose="020B0004020202020204" pitchFamily="34" charset="0"/>
              </a:rPr>
              <a:t> Information that already exists because someone else collected it (like public government records or historical industry reports).</a:t>
            </a:r>
          </a:p>
        </p:txBody>
      </p:sp>
    </p:spTree>
    <p:extLst>
      <p:ext uri="{BB962C8B-B14F-4D97-AF65-F5344CB8AC3E}">
        <p14:creationId xmlns:p14="http://schemas.microsoft.com/office/powerpoint/2010/main" val="7172689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16702-DB55-9AFA-8DD7-4DBD3F340342}"/>
              </a:ext>
            </a:extLst>
          </p:cNvPr>
          <p:cNvSpPr>
            <a:spLocks noGrp="1"/>
          </p:cNvSpPr>
          <p:nvPr>
            <p:ph type="title"/>
          </p:nvPr>
        </p:nvSpPr>
        <p:spPr/>
        <p:txBody>
          <a:bodyPr>
            <a:normAutofit/>
          </a:bodyPr>
          <a:lstStyle/>
          <a:p>
            <a:r>
              <a:rPr lang="en-US" sz="2800" b="1" dirty="0">
                <a:latin typeface="Aptos" panose="020B0004020202020204" pitchFamily="34" charset="0"/>
              </a:rPr>
              <a:t>How to Collect Data the Right Way</a:t>
            </a:r>
            <a:br>
              <a:rPr lang="en-US" sz="2800" b="1" dirty="0">
                <a:latin typeface="Aptos" panose="020B0004020202020204" pitchFamily="34" charset="0"/>
              </a:rPr>
            </a:br>
            <a:r>
              <a:rPr lang="en-US" sz="2800" dirty="0">
                <a:latin typeface="Aptos" panose="020B0004020202020204" pitchFamily="34" charset="0"/>
              </a:rPr>
              <a:t>Setting Goals, Finding Sources, Quality Control</a:t>
            </a:r>
          </a:p>
        </p:txBody>
      </p:sp>
      <p:sp>
        <p:nvSpPr>
          <p:cNvPr id="3" name="Content Placeholder 2">
            <a:extLst>
              <a:ext uri="{FF2B5EF4-FFF2-40B4-BE49-F238E27FC236}">
                <a16:creationId xmlns:a16="http://schemas.microsoft.com/office/drawing/2014/main" id="{B3582F97-6749-6323-23F3-1327B3EDB5AF}"/>
              </a:ext>
            </a:extLst>
          </p:cNvPr>
          <p:cNvSpPr>
            <a:spLocks noGrp="1"/>
          </p:cNvSpPr>
          <p:nvPr>
            <p:ph idx="1"/>
          </p:nvPr>
        </p:nvSpPr>
        <p:spPr/>
        <p:txBody>
          <a:bodyPr>
            <a:normAutofit/>
          </a:bodyPr>
          <a:lstStyle/>
          <a:p>
            <a:r>
              <a:rPr lang="en-US" b="1" dirty="0">
                <a:latin typeface="Aptos" panose="020B0004020202020204" pitchFamily="34" charset="0"/>
              </a:rPr>
              <a:t>Step 1:</a:t>
            </a:r>
            <a:r>
              <a:rPr lang="en-US" dirty="0">
                <a:latin typeface="Aptos" panose="020B0004020202020204" pitchFamily="34" charset="0"/>
              </a:rPr>
              <a:t> Set Clear Goals: Before doing anything, you must know exactly what question you are trying to answer. Setting a clear goal prevents you from wasting time collecting useless or irrelevant information.</a:t>
            </a:r>
          </a:p>
          <a:p>
            <a:r>
              <a:rPr lang="en-US" b="1" dirty="0">
                <a:latin typeface="Aptos" panose="020B0004020202020204" pitchFamily="34" charset="0"/>
              </a:rPr>
              <a:t>Step 2:</a:t>
            </a:r>
            <a:r>
              <a:rPr lang="en-US" dirty="0">
                <a:latin typeface="Aptos" panose="020B0004020202020204" pitchFamily="34" charset="0"/>
              </a:rPr>
              <a:t> Choose Your Sources: Decide where the information will come from. It could be automatically pulled from your computer systems, website traffic, or gathered directly from human feedback.</a:t>
            </a:r>
          </a:p>
          <a:p>
            <a:r>
              <a:rPr lang="en-US" b="1" dirty="0">
                <a:latin typeface="Aptos" panose="020B0004020202020204" pitchFamily="34" charset="0"/>
              </a:rPr>
              <a:t>Step 3:</a:t>
            </a:r>
            <a:r>
              <a:rPr lang="en-US" dirty="0">
                <a:latin typeface="Aptos" panose="020B0004020202020204" pitchFamily="34" charset="0"/>
              </a:rPr>
              <a:t> Create a Plan: Decide exactly how you will gather the information. Will you do it manually, or use software to automate it? You also need to plan how much data you actually need (called a "Sample") so you don't overwhelm your team.</a:t>
            </a:r>
          </a:p>
          <a:p>
            <a:r>
              <a:rPr lang="en-US" b="1" dirty="0">
                <a:latin typeface="Aptos" panose="020B0004020202020204" pitchFamily="34" charset="0"/>
              </a:rPr>
              <a:t>Step 4:</a:t>
            </a:r>
            <a:r>
              <a:rPr lang="en-US" dirty="0">
                <a:latin typeface="Aptos" panose="020B0004020202020204" pitchFamily="34" charset="0"/>
              </a:rPr>
              <a:t> Check for Quality: Once the data starts coming in, you must check it for errors, missing pieces, or mistakes. Good data must be clean, safely stored, and well-organized so it can be easily analyzed later.</a:t>
            </a:r>
          </a:p>
        </p:txBody>
      </p:sp>
    </p:spTree>
    <p:extLst>
      <p:ext uri="{BB962C8B-B14F-4D97-AF65-F5344CB8AC3E}">
        <p14:creationId xmlns:p14="http://schemas.microsoft.com/office/powerpoint/2010/main" val="22877081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5B8DA-7365-98F7-51F8-708A5940C62B}"/>
              </a:ext>
            </a:extLst>
          </p:cNvPr>
          <p:cNvSpPr>
            <a:spLocks noGrp="1"/>
          </p:cNvSpPr>
          <p:nvPr>
            <p:ph type="title"/>
          </p:nvPr>
        </p:nvSpPr>
        <p:spPr/>
        <p:txBody>
          <a:bodyPr>
            <a:normAutofit/>
          </a:bodyPr>
          <a:lstStyle/>
          <a:p>
            <a:r>
              <a:rPr lang="en-US" sz="2800" b="1" dirty="0">
                <a:latin typeface="Aptos" panose="020B0004020202020204" pitchFamily="34" charset="0"/>
              </a:rPr>
              <a:t>Popular Data Collection Methods</a:t>
            </a:r>
            <a:br>
              <a:rPr lang="en-US" sz="2800" b="1" dirty="0">
                <a:latin typeface="Aptos" panose="020B0004020202020204" pitchFamily="34" charset="0"/>
              </a:rPr>
            </a:br>
            <a:r>
              <a:rPr lang="en-US" sz="2800" dirty="0">
                <a:latin typeface="Aptos" panose="020B0004020202020204" pitchFamily="34" charset="0"/>
              </a:rPr>
              <a:t>Surveys, Interviews, Observation, Technology</a:t>
            </a:r>
          </a:p>
        </p:txBody>
      </p:sp>
      <p:sp>
        <p:nvSpPr>
          <p:cNvPr id="3" name="Content Placeholder 2">
            <a:extLst>
              <a:ext uri="{FF2B5EF4-FFF2-40B4-BE49-F238E27FC236}">
                <a16:creationId xmlns:a16="http://schemas.microsoft.com/office/drawing/2014/main" id="{007FE3E6-5451-D0FD-DE98-3A14C2371ACD}"/>
              </a:ext>
            </a:extLst>
          </p:cNvPr>
          <p:cNvSpPr>
            <a:spLocks noGrp="1"/>
          </p:cNvSpPr>
          <p:nvPr>
            <p:ph idx="1"/>
          </p:nvPr>
        </p:nvSpPr>
        <p:spPr/>
        <p:txBody>
          <a:bodyPr>
            <a:normAutofit/>
          </a:bodyPr>
          <a:lstStyle/>
          <a:p>
            <a:r>
              <a:rPr lang="en-US" b="1" dirty="0">
                <a:latin typeface="Aptos" panose="020B0004020202020204" pitchFamily="34" charset="0"/>
              </a:rPr>
              <a:t>Surveys and Questionnaires:</a:t>
            </a:r>
            <a:r>
              <a:rPr lang="en-US" dirty="0">
                <a:latin typeface="Aptos" panose="020B0004020202020204" pitchFamily="34" charset="0"/>
              </a:rPr>
              <a:t> This involves sending a list of questions to a large group of people. It is a quick and easy way to gather basic numbers, ratings, and opinions using online forms.</a:t>
            </a:r>
          </a:p>
          <a:p>
            <a:r>
              <a:rPr lang="en-US" b="1" dirty="0">
                <a:latin typeface="Aptos" panose="020B0004020202020204" pitchFamily="34" charset="0"/>
              </a:rPr>
              <a:t>Interviews and Focus Groups:</a:t>
            </a:r>
            <a:r>
              <a:rPr lang="en-US" dirty="0">
                <a:latin typeface="Aptos" panose="020B0004020202020204" pitchFamily="34" charset="0"/>
              </a:rPr>
              <a:t> This is when you talk directly to people, either one-on-one or in small groups. It takes more time than a survey, but it gives you deep, detailed answers about why people feel a certain way.</a:t>
            </a:r>
          </a:p>
          <a:p>
            <a:r>
              <a:rPr lang="en-US" b="1" dirty="0">
                <a:latin typeface="Aptos" panose="020B0004020202020204" pitchFamily="34" charset="0"/>
              </a:rPr>
              <a:t>Observation:</a:t>
            </a:r>
            <a:r>
              <a:rPr lang="en-US" dirty="0">
                <a:latin typeface="Aptos" panose="020B0004020202020204" pitchFamily="34" charset="0"/>
              </a:rPr>
              <a:t> Sometimes, the best way to learn is simply by watching. For example, a store manager might watch how customers walk through their shop to see which aisles get the most foot traffic.</a:t>
            </a:r>
          </a:p>
          <a:p>
            <a:r>
              <a:rPr lang="en-US" b="1" dirty="0">
                <a:latin typeface="Aptos" panose="020B0004020202020204" pitchFamily="34" charset="0"/>
              </a:rPr>
              <a:t>Technology and Sensors:</a:t>
            </a:r>
            <a:r>
              <a:rPr lang="en-US" dirty="0">
                <a:latin typeface="Aptos" panose="020B0004020202020204" pitchFamily="34" charset="0"/>
              </a:rPr>
              <a:t> Today, apps and smart devices (like phones or smartwatches) can automatically collect data using built-in sensors like GPS. This provides massive amounts of real-time information with very little manual effort.</a:t>
            </a:r>
          </a:p>
        </p:txBody>
      </p:sp>
    </p:spTree>
    <p:extLst>
      <p:ext uri="{BB962C8B-B14F-4D97-AF65-F5344CB8AC3E}">
        <p14:creationId xmlns:p14="http://schemas.microsoft.com/office/powerpoint/2010/main" val="32879727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E1C03-3C18-176E-B558-F128F5563908}"/>
              </a:ext>
            </a:extLst>
          </p:cNvPr>
          <p:cNvSpPr>
            <a:spLocks noGrp="1"/>
          </p:cNvSpPr>
          <p:nvPr>
            <p:ph type="title"/>
          </p:nvPr>
        </p:nvSpPr>
        <p:spPr/>
        <p:txBody>
          <a:bodyPr>
            <a:noAutofit/>
          </a:bodyPr>
          <a:lstStyle/>
          <a:p>
            <a:r>
              <a:rPr lang="en-US" sz="2800" b="1" dirty="0">
                <a:latin typeface="Aptos" panose="020B0004020202020204" pitchFamily="34" charset="0"/>
              </a:rPr>
              <a:t>What is Data Lifecycle Management (DLM) ?</a:t>
            </a:r>
            <a:br>
              <a:rPr lang="en-US" sz="2800" b="1" dirty="0">
                <a:latin typeface="Aptos" panose="020B0004020202020204" pitchFamily="34" charset="0"/>
              </a:rPr>
            </a:br>
            <a:r>
              <a:rPr lang="en-US" sz="2800" dirty="0">
                <a:latin typeface="Aptos" panose="020B0004020202020204" pitchFamily="34" charset="0"/>
              </a:rPr>
              <a:t>The Definition of DLM, The Three Main Goals, Why It Matters</a:t>
            </a:r>
          </a:p>
        </p:txBody>
      </p:sp>
      <p:sp>
        <p:nvSpPr>
          <p:cNvPr id="3" name="Content Placeholder 2">
            <a:extLst>
              <a:ext uri="{FF2B5EF4-FFF2-40B4-BE49-F238E27FC236}">
                <a16:creationId xmlns:a16="http://schemas.microsoft.com/office/drawing/2014/main" id="{86CD9141-1238-F138-D7FE-BD0853D1F3D4}"/>
              </a:ext>
            </a:extLst>
          </p:cNvPr>
          <p:cNvSpPr>
            <a:spLocks noGrp="1"/>
          </p:cNvSpPr>
          <p:nvPr>
            <p:ph idx="1"/>
          </p:nvPr>
        </p:nvSpPr>
        <p:spPr/>
        <p:txBody>
          <a:bodyPr>
            <a:normAutofit/>
          </a:bodyPr>
          <a:lstStyle/>
          <a:p>
            <a:r>
              <a:rPr lang="en-US" b="1" dirty="0">
                <a:latin typeface="Aptos" panose="020B0004020202020204" pitchFamily="34" charset="0"/>
              </a:rPr>
              <a:t>What is DLM?</a:t>
            </a:r>
            <a:r>
              <a:rPr lang="en-US" dirty="0">
                <a:latin typeface="Aptos" panose="020B0004020202020204" pitchFamily="34" charset="0"/>
              </a:rPr>
              <a:t> Data Lifecycle Management (DLM) is a set of rules and practices for managing a piece of data from the exact moment it is created until the day it is permanently deleted. It tracks and protects information through every step of its "life.“</a:t>
            </a:r>
          </a:p>
          <a:p>
            <a:r>
              <a:rPr lang="en-US" b="1" dirty="0">
                <a:latin typeface="Aptos" panose="020B0004020202020204" pitchFamily="34" charset="0"/>
              </a:rPr>
              <a:t>The Three Main Goals:</a:t>
            </a:r>
            <a:r>
              <a:rPr lang="en-US" dirty="0">
                <a:latin typeface="Aptos" panose="020B0004020202020204" pitchFamily="34" charset="0"/>
              </a:rPr>
              <a:t> The entire point of DLM is to keep data safe, accurate, and ready to use. Specifically, it ensures data is kept confidential (hidden from hackers), maintains its integrity (so it isn't corrupted or accidentally changed), and guarantees its availability (so the right employees can access it when they need it).</a:t>
            </a:r>
          </a:p>
          <a:p>
            <a:r>
              <a:rPr lang="en-US" b="1" dirty="0">
                <a:latin typeface="Aptos" panose="020B0004020202020204" pitchFamily="34" charset="0"/>
              </a:rPr>
              <a:t>Why It Matters:</a:t>
            </a:r>
            <a:r>
              <a:rPr lang="en-US" dirty="0">
                <a:latin typeface="Aptos" panose="020B0004020202020204" pitchFamily="34" charset="0"/>
              </a:rPr>
              <a:t> As companies collect massive amounts of data, keeping it organized is crucial. Good DLM prevents sensitive information from being stolen, ensures businesses follow government privacy laws, and stops computer systems from getting clogged with useless, outdated files.</a:t>
            </a:r>
          </a:p>
        </p:txBody>
      </p:sp>
    </p:spTree>
    <p:extLst>
      <p:ext uri="{BB962C8B-B14F-4D97-AF65-F5344CB8AC3E}">
        <p14:creationId xmlns:p14="http://schemas.microsoft.com/office/powerpoint/2010/main" val="4993272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FF9F0-6276-9D5E-3B87-F38FAB95066E}"/>
              </a:ext>
            </a:extLst>
          </p:cNvPr>
          <p:cNvSpPr>
            <a:spLocks noGrp="1"/>
          </p:cNvSpPr>
          <p:nvPr>
            <p:ph type="title"/>
          </p:nvPr>
        </p:nvSpPr>
        <p:spPr/>
        <p:txBody>
          <a:bodyPr>
            <a:noAutofit/>
          </a:bodyPr>
          <a:lstStyle/>
          <a:p>
            <a:r>
              <a:rPr lang="en-US" sz="2800" b="1" dirty="0">
                <a:latin typeface="Aptos" panose="020B0004020202020204" pitchFamily="34" charset="0"/>
              </a:rPr>
              <a:t>The Journey of Data</a:t>
            </a:r>
            <a:br>
              <a:rPr lang="en-US" sz="2800" b="1" dirty="0">
                <a:latin typeface="Aptos" panose="020B0004020202020204" pitchFamily="34" charset="0"/>
              </a:rPr>
            </a:br>
            <a:r>
              <a:rPr lang="en-US" sz="2800" dirty="0">
                <a:latin typeface="Aptos" panose="020B0004020202020204" pitchFamily="34" charset="0"/>
              </a:rPr>
              <a:t>Collection, Storage &amp; Processing, Sharing, Archiving &amp; Deletion</a:t>
            </a:r>
          </a:p>
        </p:txBody>
      </p:sp>
      <p:sp>
        <p:nvSpPr>
          <p:cNvPr id="3" name="Content Placeholder 2">
            <a:extLst>
              <a:ext uri="{FF2B5EF4-FFF2-40B4-BE49-F238E27FC236}">
                <a16:creationId xmlns:a16="http://schemas.microsoft.com/office/drawing/2014/main" id="{C066037A-D1FC-39E0-D7EC-D558894C0F96}"/>
              </a:ext>
            </a:extLst>
          </p:cNvPr>
          <p:cNvSpPr>
            <a:spLocks noGrp="1"/>
          </p:cNvSpPr>
          <p:nvPr>
            <p:ph idx="1"/>
          </p:nvPr>
        </p:nvSpPr>
        <p:spPr>
          <a:xfrm>
            <a:off x="2589212" y="2133600"/>
            <a:ext cx="8915400" cy="4100290"/>
          </a:xfrm>
        </p:spPr>
        <p:txBody>
          <a:bodyPr>
            <a:normAutofit lnSpcReduction="10000"/>
          </a:bodyPr>
          <a:lstStyle/>
          <a:p>
            <a:r>
              <a:rPr lang="en-US" b="1" dirty="0">
                <a:latin typeface="Aptos" panose="020B0004020202020204" pitchFamily="34" charset="0"/>
              </a:rPr>
              <a:t>Stage 1:</a:t>
            </a:r>
            <a:r>
              <a:rPr lang="en-US" dirty="0">
                <a:latin typeface="Aptos" panose="020B0004020202020204" pitchFamily="34" charset="0"/>
              </a:rPr>
              <a:t> Data Collection: This is the starting point. Businesses gather information but must do so with clear rules, ensuring they only collect what they actually need and keep it in a standardized format.</a:t>
            </a:r>
          </a:p>
          <a:p>
            <a:r>
              <a:rPr lang="en-US" b="1" dirty="0">
                <a:latin typeface="Aptos" panose="020B0004020202020204" pitchFamily="34" charset="0"/>
              </a:rPr>
              <a:t>Stage 2 &amp; 3:</a:t>
            </a:r>
            <a:r>
              <a:rPr lang="en-US" dirty="0">
                <a:latin typeface="Aptos" panose="020B0004020202020204" pitchFamily="34" charset="0"/>
              </a:rPr>
              <a:t> Storage, Maintenance, and Processing: Once collected, data must be safely stored.  During this phase, "raw" data is securely housed, cleaned, sorted, and processed into useful information that helps business leaders make smart decisions.</a:t>
            </a:r>
          </a:p>
          <a:p>
            <a:r>
              <a:rPr lang="en-US" b="1" dirty="0">
                <a:latin typeface="Aptos" panose="020B0004020202020204" pitchFamily="34" charset="0"/>
              </a:rPr>
              <a:t>Stage 4:</a:t>
            </a:r>
            <a:r>
              <a:rPr lang="en-US" dirty="0">
                <a:latin typeface="Aptos" panose="020B0004020202020204" pitchFamily="34" charset="0"/>
              </a:rPr>
              <a:t> Sharing and Usage: Data is meant to be used! In this stage, different departments share the information to boost teamwork and productivity. However, they must use strict security rules to keep the data safe while it travels between employees.</a:t>
            </a:r>
          </a:p>
          <a:p>
            <a:r>
              <a:rPr lang="en-US" b="1" dirty="0">
                <a:latin typeface="Aptos" panose="020B0004020202020204" pitchFamily="34" charset="0"/>
              </a:rPr>
              <a:t>Stage 5:</a:t>
            </a:r>
            <a:r>
              <a:rPr lang="en-US" dirty="0">
                <a:latin typeface="Aptos" panose="020B0004020202020204" pitchFamily="34" charset="0"/>
              </a:rPr>
              <a:t> Archiving and Deletion: Not all data is needed forever. "Archiving" moves old, inactive data into cheap, long-term storage just in case it is needed later. Finally, "Deletion" safely and permanently destroys data that is no longer useful or legally required, freeing up valuable computer space.</a:t>
            </a:r>
          </a:p>
        </p:txBody>
      </p:sp>
    </p:spTree>
    <p:extLst>
      <p:ext uri="{BB962C8B-B14F-4D97-AF65-F5344CB8AC3E}">
        <p14:creationId xmlns:p14="http://schemas.microsoft.com/office/powerpoint/2010/main" val="19920627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53610-FD90-85B2-C73B-81C3F0E87616}"/>
              </a:ext>
            </a:extLst>
          </p:cNvPr>
          <p:cNvSpPr>
            <a:spLocks noGrp="1"/>
          </p:cNvSpPr>
          <p:nvPr>
            <p:ph type="title"/>
          </p:nvPr>
        </p:nvSpPr>
        <p:spPr/>
        <p:txBody>
          <a:bodyPr>
            <a:normAutofit/>
          </a:bodyPr>
          <a:lstStyle/>
          <a:p>
            <a:r>
              <a:rPr lang="en-US" sz="2800" b="1" dirty="0">
                <a:latin typeface="Aptos" panose="020B0004020202020204" pitchFamily="34" charset="0"/>
              </a:rPr>
              <a:t>Making DLM Work for Business</a:t>
            </a:r>
            <a:br>
              <a:rPr lang="en-US" sz="2800" b="1" dirty="0">
                <a:latin typeface="Aptos" panose="020B0004020202020204" pitchFamily="34" charset="0"/>
              </a:rPr>
            </a:br>
            <a:r>
              <a:rPr lang="en-US" sz="2800" dirty="0">
                <a:latin typeface="Aptos" panose="020B0004020202020204" pitchFamily="34" charset="0"/>
              </a:rPr>
              <a:t>Key Strategies, The Big Benefits, Essential Tools</a:t>
            </a:r>
          </a:p>
        </p:txBody>
      </p:sp>
      <p:sp>
        <p:nvSpPr>
          <p:cNvPr id="3" name="Content Placeholder 2">
            <a:extLst>
              <a:ext uri="{FF2B5EF4-FFF2-40B4-BE49-F238E27FC236}">
                <a16:creationId xmlns:a16="http://schemas.microsoft.com/office/drawing/2014/main" id="{DCB7E28A-7AD3-7A3D-CB44-180E055EF22F}"/>
              </a:ext>
            </a:extLst>
          </p:cNvPr>
          <p:cNvSpPr>
            <a:spLocks noGrp="1"/>
          </p:cNvSpPr>
          <p:nvPr>
            <p:ph idx="1"/>
          </p:nvPr>
        </p:nvSpPr>
        <p:spPr/>
        <p:txBody>
          <a:bodyPr>
            <a:normAutofit/>
          </a:bodyPr>
          <a:lstStyle/>
          <a:p>
            <a:r>
              <a:rPr lang="en-US" b="1" dirty="0">
                <a:latin typeface="Aptos" panose="020B0004020202020204" pitchFamily="34" charset="0"/>
              </a:rPr>
              <a:t>Strategies for Success:</a:t>
            </a:r>
            <a:r>
              <a:rPr lang="en-US" dirty="0">
                <a:latin typeface="Aptos" panose="020B0004020202020204" pitchFamily="34" charset="0"/>
              </a:rPr>
              <a:t> To make DLM work, a company needs strong "Data Governance" (a clear, written rulebook for how data is handled), heavy security (like encryption and strict passwords), and careful compliance with global privacy laws (like GDPR or HIPAA).</a:t>
            </a:r>
          </a:p>
          <a:p>
            <a:r>
              <a:rPr lang="en-US" b="1" dirty="0">
                <a:latin typeface="Aptos" panose="020B0004020202020204" pitchFamily="34" charset="0"/>
              </a:rPr>
              <a:t>The Big Benefits:</a:t>
            </a:r>
            <a:r>
              <a:rPr lang="en-US" dirty="0">
                <a:latin typeface="Aptos" panose="020B0004020202020204" pitchFamily="34" charset="0"/>
              </a:rPr>
              <a:t> Having a solid DLM plan makes it incredibly easy for employees to find the information they need without digging through junk files. It also lowers the cost of buying massive storage servers and protects the company from expensive legal fines.</a:t>
            </a:r>
          </a:p>
          <a:p>
            <a:r>
              <a:rPr lang="en-US" b="1" dirty="0">
                <a:latin typeface="Aptos" panose="020B0004020202020204" pitchFamily="34" charset="0"/>
              </a:rPr>
              <a:t>Essential Tools:</a:t>
            </a:r>
            <a:r>
              <a:rPr lang="en-US" dirty="0">
                <a:latin typeface="Aptos" panose="020B0004020202020204" pitchFamily="34" charset="0"/>
              </a:rPr>
              <a:t> Companies don't manage millions of files by hand. They use specialized software like Data Management Platforms (to seamlessly organize everything), Classification Tools (to automatically label which data is highly sensitive), and Monitoring Analytics to constantly check the health and security of their systems.</a:t>
            </a:r>
          </a:p>
        </p:txBody>
      </p:sp>
    </p:spTree>
    <p:extLst>
      <p:ext uri="{BB962C8B-B14F-4D97-AF65-F5344CB8AC3E}">
        <p14:creationId xmlns:p14="http://schemas.microsoft.com/office/powerpoint/2010/main" val="18525277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2990F-F089-A903-7A12-EA76E68D309C}"/>
              </a:ext>
            </a:extLst>
          </p:cNvPr>
          <p:cNvSpPr>
            <a:spLocks noGrp="1"/>
          </p:cNvSpPr>
          <p:nvPr>
            <p:ph type="title"/>
          </p:nvPr>
        </p:nvSpPr>
        <p:spPr/>
        <p:txBody>
          <a:bodyPr>
            <a:noAutofit/>
          </a:bodyPr>
          <a:lstStyle/>
          <a:p>
            <a:r>
              <a:rPr lang="en-US" sz="2800" b="1" dirty="0">
                <a:latin typeface="Aptos" panose="020B0004020202020204" pitchFamily="34" charset="0"/>
              </a:rPr>
              <a:t>Understanding Data Integrity vs. Data Quality</a:t>
            </a:r>
            <a:br>
              <a:rPr lang="en-US" sz="2800" b="1" dirty="0">
                <a:latin typeface="Aptos" panose="020B0004020202020204" pitchFamily="34" charset="0"/>
              </a:rPr>
            </a:br>
            <a:r>
              <a:rPr lang="en-US" sz="2800" dirty="0">
                <a:latin typeface="Aptos" panose="020B0004020202020204" pitchFamily="34" charset="0"/>
              </a:rPr>
              <a:t>What is Data Integrity ? What is Data Quality ? The Main Difference</a:t>
            </a:r>
          </a:p>
        </p:txBody>
      </p:sp>
      <p:sp>
        <p:nvSpPr>
          <p:cNvPr id="3" name="Content Placeholder 2">
            <a:extLst>
              <a:ext uri="{FF2B5EF4-FFF2-40B4-BE49-F238E27FC236}">
                <a16:creationId xmlns:a16="http://schemas.microsoft.com/office/drawing/2014/main" id="{D1F2A896-0E7E-1635-2EC3-EC1EA79FED68}"/>
              </a:ext>
            </a:extLst>
          </p:cNvPr>
          <p:cNvSpPr>
            <a:spLocks noGrp="1"/>
          </p:cNvSpPr>
          <p:nvPr>
            <p:ph idx="1"/>
          </p:nvPr>
        </p:nvSpPr>
        <p:spPr/>
        <p:txBody>
          <a:bodyPr/>
          <a:lstStyle/>
          <a:p>
            <a:r>
              <a:rPr lang="en-US" b="1" dirty="0">
                <a:latin typeface="Aptos" panose="020B0004020202020204" pitchFamily="34" charset="0"/>
              </a:rPr>
              <a:t>What is Data Integrity?</a:t>
            </a:r>
            <a:r>
              <a:rPr lang="en-US" dirty="0">
                <a:latin typeface="Aptos" panose="020B0004020202020204" pitchFamily="34" charset="0"/>
              </a:rPr>
              <a:t> Data integrity is all about the safety, consistency, and reliability of your data from the moment it is created until it is deleted. It ensures that data is not accidentally lost, corrupted, or altered by unauthorized people. Think of it as the protective vault for your information.</a:t>
            </a:r>
          </a:p>
          <a:p>
            <a:r>
              <a:rPr lang="en-US" b="1" dirty="0">
                <a:latin typeface="Aptos" panose="020B0004020202020204" pitchFamily="34" charset="0"/>
              </a:rPr>
              <a:t>What is Data Quality?</a:t>
            </a:r>
            <a:r>
              <a:rPr lang="en-US" dirty="0">
                <a:latin typeface="Aptos" panose="020B0004020202020204" pitchFamily="34" charset="0"/>
              </a:rPr>
              <a:t> Data quality is about how "good" and useful the actual information is. It looks at whether the data is correct, complete, and reliable enough for the company to use it to make important business decisions.</a:t>
            </a:r>
          </a:p>
          <a:p>
            <a:r>
              <a:rPr lang="en-US" b="1" dirty="0">
                <a:latin typeface="Aptos" panose="020B0004020202020204" pitchFamily="34" charset="0"/>
              </a:rPr>
              <a:t>The Main Difference:</a:t>
            </a:r>
            <a:r>
              <a:rPr lang="en-US" dirty="0">
                <a:latin typeface="Aptos" panose="020B0004020202020204" pitchFamily="34" charset="0"/>
              </a:rPr>
              <a:t> While they sound similar, they have different goals. Data integrity focuses on securing the data and making sure it hasn't been tampered with. Data quality focuses on making sure the data is accurate, relevant, and practically useful for daily operations.</a:t>
            </a:r>
          </a:p>
        </p:txBody>
      </p:sp>
    </p:spTree>
    <p:extLst>
      <p:ext uri="{BB962C8B-B14F-4D97-AF65-F5344CB8AC3E}">
        <p14:creationId xmlns:p14="http://schemas.microsoft.com/office/powerpoint/2010/main" val="35475284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0FB72-9719-26E8-2088-95964698FC86}"/>
              </a:ext>
            </a:extLst>
          </p:cNvPr>
          <p:cNvSpPr>
            <a:spLocks noGrp="1"/>
          </p:cNvSpPr>
          <p:nvPr>
            <p:ph type="title"/>
          </p:nvPr>
        </p:nvSpPr>
        <p:spPr/>
        <p:txBody>
          <a:bodyPr>
            <a:noAutofit/>
          </a:bodyPr>
          <a:lstStyle/>
          <a:p>
            <a:r>
              <a:rPr lang="en-US" sz="2800" b="1" dirty="0">
                <a:latin typeface="Aptos" panose="020B0004020202020204" pitchFamily="34" charset="0"/>
              </a:rPr>
              <a:t>Measuring Quality and Protecting Integrity</a:t>
            </a:r>
            <a:br>
              <a:rPr lang="en-US" sz="2800" b="1" dirty="0">
                <a:latin typeface="Aptos" panose="020B0004020202020204" pitchFamily="34" charset="0"/>
              </a:rPr>
            </a:br>
            <a:r>
              <a:rPr lang="en-US" sz="2800" dirty="0">
                <a:latin typeface="Aptos" panose="020B0004020202020204" pitchFamily="34" charset="0"/>
              </a:rPr>
              <a:t>The Dimensions of Quality, Types of Integrity, Real-World Examples</a:t>
            </a:r>
          </a:p>
        </p:txBody>
      </p:sp>
      <p:sp>
        <p:nvSpPr>
          <p:cNvPr id="3" name="Content Placeholder 2">
            <a:extLst>
              <a:ext uri="{FF2B5EF4-FFF2-40B4-BE49-F238E27FC236}">
                <a16:creationId xmlns:a16="http://schemas.microsoft.com/office/drawing/2014/main" id="{8EB4DF9E-F69A-004F-F82C-D8668EAE69E7}"/>
              </a:ext>
            </a:extLst>
          </p:cNvPr>
          <p:cNvSpPr>
            <a:spLocks noGrp="1"/>
          </p:cNvSpPr>
          <p:nvPr>
            <p:ph idx="1"/>
          </p:nvPr>
        </p:nvSpPr>
        <p:spPr>
          <a:xfrm>
            <a:off x="2589212" y="1994170"/>
            <a:ext cx="8915400" cy="4766553"/>
          </a:xfrm>
        </p:spPr>
        <p:txBody>
          <a:bodyPr>
            <a:normAutofit lnSpcReduction="10000"/>
          </a:bodyPr>
          <a:lstStyle/>
          <a:p>
            <a:r>
              <a:rPr lang="en-US" b="1" dirty="0">
                <a:latin typeface="Aptos" panose="020B0004020202020204" pitchFamily="34" charset="0"/>
              </a:rPr>
              <a:t>Measuring Quality:</a:t>
            </a:r>
            <a:r>
              <a:rPr lang="en-US" dirty="0">
                <a:latin typeface="Aptos" panose="020B0004020202020204" pitchFamily="34" charset="0"/>
              </a:rPr>
              <a:t> To know if data is high-quality, businesses grade it on six areas:</a:t>
            </a:r>
          </a:p>
          <a:p>
            <a:pPr lvl="1"/>
            <a:r>
              <a:rPr lang="en-US" dirty="0">
                <a:latin typeface="Aptos" panose="020B0004020202020204" pitchFamily="34" charset="0"/>
              </a:rPr>
              <a:t>Accuracy (Is it true?)</a:t>
            </a:r>
          </a:p>
          <a:p>
            <a:pPr lvl="1"/>
            <a:r>
              <a:rPr lang="en-US" dirty="0">
                <a:latin typeface="Aptos" panose="020B0004020202020204" pitchFamily="34" charset="0"/>
              </a:rPr>
              <a:t>Completeness (Are there missing blank spaces?)</a:t>
            </a:r>
          </a:p>
          <a:p>
            <a:pPr lvl="1"/>
            <a:r>
              <a:rPr lang="en-US" dirty="0">
                <a:latin typeface="Aptos" panose="020B0004020202020204" pitchFamily="34" charset="0"/>
              </a:rPr>
              <a:t>Consistency (Does it match across all systems?)</a:t>
            </a:r>
          </a:p>
          <a:p>
            <a:pPr lvl="1"/>
            <a:r>
              <a:rPr lang="en-US" dirty="0">
                <a:latin typeface="Aptos" panose="020B0004020202020204" pitchFamily="34" charset="0"/>
              </a:rPr>
              <a:t>Validity (Is it in the right format?)</a:t>
            </a:r>
          </a:p>
          <a:p>
            <a:pPr lvl="1"/>
            <a:r>
              <a:rPr lang="en-US" dirty="0">
                <a:latin typeface="Aptos" panose="020B0004020202020204" pitchFamily="34" charset="0"/>
              </a:rPr>
              <a:t>Uniqueness (Are there annoying duplicate files?)</a:t>
            </a:r>
          </a:p>
          <a:p>
            <a:pPr lvl="1"/>
            <a:r>
              <a:rPr lang="en-US" dirty="0">
                <a:latin typeface="Aptos" panose="020B0004020202020204" pitchFamily="34" charset="0"/>
              </a:rPr>
              <a:t>Timeliness (Is it up-to-date?)</a:t>
            </a:r>
          </a:p>
          <a:p>
            <a:r>
              <a:rPr lang="en-US" b="1" dirty="0">
                <a:latin typeface="Aptos" panose="020B0004020202020204" pitchFamily="34" charset="0"/>
              </a:rPr>
              <a:t>Protecting Integrity:</a:t>
            </a:r>
            <a:r>
              <a:rPr lang="en-US" dirty="0">
                <a:latin typeface="Aptos" panose="020B0004020202020204" pitchFamily="34" charset="0"/>
              </a:rPr>
              <a:t> Data integrity is protected in two ways. Physical Integrity protects the actual computer servers from power outages, natural disasters, or hackers. Logical Integrity ensures the data stays consistent and doesn't break when multiple departments are using it at the exact same time.</a:t>
            </a:r>
          </a:p>
          <a:p>
            <a:r>
              <a:rPr lang="en-US" b="1" dirty="0">
                <a:latin typeface="Aptos" panose="020B0004020202020204" pitchFamily="34" charset="0"/>
              </a:rPr>
              <a:t>A Real-World Example:</a:t>
            </a:r>
            <a:r>
              <a:rPr lang="en-US" dirty="0">
                <a:latin typeface="Aptos" panose="020B0004020202020204" pitchFamily="34" charset="0"/>
              </a:rPr>
              <a:t> A bank uses Data Integrity to lock down your bank account records so nobody can secretly change your balance. An online store uses Data Quality to make sure your name and address are perfectly accurate so your package goes to the right house.</a:t>
            </a:r>
          </a:p>
        </p:txBody>
      </p:sp>
    </p:spTree>
    <p:extLst>
      <p:ext uri="{BB962C8B-B14F-4D97-AF65-F5344CB8AC3E}">
        <p14:creationId xmlns:p14="http://schemas.microsoft.com/office/powerpoint/2010/main" val="18391238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BAD65-1F9E-F34D-2027-0E6456CDF0F0}"/>
              </a:ext>
            </a:extLst>
          </p:cNvPr>
          <p:cNvSpPr>
            <a:spLocks noGrp="1"/>
          </p:cNvSpPr>
          <p:nvPr>
            <p:ph type="title"/>
          </p:nvPr>
        </p:nvSpPr>
        <p:spPr/>
        <p:txBody>
          <a:bodyPr>
            <a:normAutofit/>
          </a:bodyPr>
          <a:lstStyle/>
          <a:p>
            <a:r>
              <a:rPr lang="en-US" sz="2800" b="1" dirty="0">
                <a:latin typeface="Aptos" panose="020B0004020202020204" pitchFamily="34" charset="0"/>
              </a:rPr>
              <a:t>Best Practices for Data Management</a:t>
            </a:r>
            <a:br>
              <a:rPr lang="en-US" sz="2800" b="1" dirty="0">
                <a:latin typeface="Aptos" panose="020B0004020202020204" pitchFamily="34" charset="0"/>
              </a:rPr>
            </a:br>
            <a:r>
              <a:rPr lang="en-US" sz="2800" dirty="0">
                <a:latin typeface="Aptos" panose="020B0004020202020204" pitchFamily="34" charset="0"/>
              </a:rPr>
              <a:t>The Benefits, Cleaning Data, Security and Rules</a:t>
            </a:r>
          </a:p>
        </p:txBody>
      </p:sp>
      <p:sp>
        <p:nvSpPr>
          <p:cNvPr id="3" name="Content Placeholder 2">
            <a:extLst>
              <a:ext uri="{FF2B5EF4-FFF2-40B4-BE49-F238E27FC236}">
                <a16:creationId xmlns:a16="http://schemas.microsoft.com/office/drawing/2014/main" id="{5F1B458B-1399-55D3-A585-EB034DF2AAA6}"/>
              </a:ext>
            </a:extLst>
          </p:cNvPr>
          <p:cNvSpPr>
            <a:spLocks noGrp="1"/>
          </p:cNvSpPr>
          <p:nvPr>
            <p:ph idx="1"/>
          </p:nvPr>
        </p:nvSpPr>
        <p:spPr/>
        <p:txBody>
          <a:bodyPr/>
          <a:lstStyle/>
          <a:p>
            <a:r>
              <a:rPr lang="en-US" b="1" dirty="0">
                <a:latin typeface="Aptos" panose="020B0004020202020204" pitchFamily="34" charset="0"/>
              </a:rPr>
              <a:t>The Big Benefits:</a:t>
            </a:r>
            <a:r>
              <a:rPr lang="en-US" dirty="0">
                <a:latin typeface="Aptos" panose="020B0004020202020204" pitchFamily="34" charset="0"/>
              </a:rPr>
              <a:t> When a business has both high integrity and high quality, everything runs smoother. The company can recover quickly from computer crashes, leaders can make confident decisions without second-guessing their reports, and customers trust the business more.</a:t>
            </a:r>
          </a:p>
          <a:p>
            <a:r>
              <a:rPr lang="en-US" b="1" dirty="0">
                <a:latin typeface="Aptos" panose="020B0004020202020204" pitchFamily="34" charset="0"/>
              </a:rPr>
              <a:t>Cleaning and Organizing:</a:t>
            </a:r>
            <a:r>
              <a:rPr lang="en-US" dirty="0">
                <a:latin typeface="Aptos" panose="020B0004020202020204" pitchFamily="34" charset="0"/>
              </a:rPr>
              <a:t> To get good data, teams do "Data Cleansing" (hunting down and fixing errors or deleting duplicate files) and "Data Standardization" (converting messy, mixed-up data into one neat, unified format so computers can easily read it).</a:t>
            </a:r>
          </a:p>
          <a:p>
            <a:r>
              <a:rPr lang="en-US" b="1" dirty="0">
                <a:latin typeface="Aptos" panose="020B0004020202020204" pitchFamily="34" charset="0"/>
              </a:rPr>
              <a:t>Security and Rules:</a:t>
            </a:r>
            <a:r>
              <a:rPr lang="en-US" dirty="0">
                <a:latin typeface="Aptos" panose="020B0004020202020204" pitchFamily="34" charset="0"/>
              </a:rPr>
              <a:t> To maintain good data, businesses must use strict "Data Governance" (a clear company rulebook stating who is allowed to edit or move data) and "Data Encryption" (scrambling sensitive information into a secret code so hackers cannot read it even if they steal it).</a:t>
            </a:r>
          </a:p>
        </p:txBody>
      </p:sp>
    </p:spTree>
    <p:extLst>
      <p:ext uri="{BB962C8B-B14F-4D97-AF65-F5344CB8AC3E}">
        <p14:creationId xmlns:p14="http://schemas.microsoft.com/office/powerpoint/2010/main" val="29056234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9851-2895-006A-AD5F-4C487E4D8560}"/>
              </a:ext>
            </a:extLst>
          </p:cNvPr>
          <p:cNvSpPr>
            <a:spLocks noGrp="1"/>
          </p:cNvSpPr>
          <p:nvPr>
            <p:ph type="title"/>
          </p:nvPr>
        </p:nvSpPr>
        <p:spPr/>
        <p:txBody>
          <a:bodyPr>
            <a:normAutofit/>
          </a:bodyPr>
          <a:lstStyle/>
          <a:p>
            <a:r>
              <a:rPr lang="en-US" sz="3200" b="1" dirty="0">
                <a:latin typeface="Aptos" panose="020B0004020202020204" pitchFamily="34" charset="0"/>
              </a:rPr>
              <a:t>Table of Contents</a:t>
            </a:r>
          </a:p>
        </p:txBody>
      </p:sp>
      <p:sp>
        <p:nvSpPr>
          <p:cNvPr id="3" name="Content Placeholder 2">
            <a:extLst>
              <a:ext uri="{FF2B5EF4-FFF2-40B4-BE49-F238E27FC236}">
                <a16:creationId xmlns:a16="http://schemas.microsoft.com/office/drawing/2014/main" id="{ED6AA96D-5109-5D5C-E686-3AF0FB7D5737}"/>
              </a:ext>
            </a:extLst>
          </p:cNvPr>
          <p:cNvSpPr>
            <a:spLocks noGrp="1"/>
          </p:cNvSpPr>
          <p:nvPr>
            <p:ph idx="1"/>
          </p:nvPr>
        </p:nvSpPr>
        <p:spPr>
          <a:xfrm>
            <a:off x="2589212" y="1449421"/>
            <a:ext cx="8915400" cy="5282119"/>
          </a:xfrm>
        </p:spPr>
        <p:txBody>
          <a:bodyPr>
            <a:noAutofit/>
          </a:bodyPr>
          <a:lstStyle/>
          <a:p>
            <a:r>
              <a:rPr lang="en-US" sz="2000" dirty="0">
                <a:latin typeface="Aptos" panose="020B0004020202020204" pitchFamily="34" charset="0"/>
              </a:rPr>
              <a:t>Introduction to Business Analyst ?</a:t>
            </a:r>
          </a:p>
          <a:p>
            <a:r>
              <a:rPr lang="en-US" sz="2000" dirty="0">
                <a:latin typeface="Aptos" panose="020B0004020202020204" pitchFamily="34" charset="0"/>
              </a:rPr>
              <a:t>Daily Roles and Responsibilities</a:t>
            </a:r>
          </a:p>
          <a:p>
            <a:r>
              <a:rPr lang="en-US" sz="2000" dirty="0">
                <a:latin typeface="Aptos" panose="020B0004020202020204" pitchFamily="34" charset="0"/>
              </a:rPr>
              <a:t>Teamwork and Tools of the Trade</a:t>
            </a:r>
          </a:p>
          <a:p>
            <a:r>
              <a:rPr lang="en-US" sz="2000" dirty="0">
                <a:latin typeface="Aptos" panose="020B0004020202020204" pitchFamily="34" charset="0"/>
              </a:rPr>
              <a:t>Understanding the Role</a:t>
            </a:r>
          </a:p>
          <a:p>
            <a:r>
              <a:rPr lang="en-US" sz="2000" dirty="0">
                <a:latin typeface="Aptos" panose="020B0004020202020204" pitchFamily="34" charset="0"/>
              </a:rPr>
              <a:t>Essential Skills for Success</a:t>
            </a:r>
          </a:p>
          <a:p>
            <a:r>
              <a:rPr lang="en-US" sz="2000" dirty="0">
                <a:latin typeface="Aptos" panose="020B0004020202020204" pitchFamily="34" charset="0"/>
              </a:rPr>
              <a:t>The Four Ways to Look at Data</a:t>
            </a:r>
          </a:p>
          <a:p>
            <a:r>
              <a:rPr lang="en-US" sz="2000" dirty="0">
                <a:latin typeface="Aptos" panose="020B0004020202020204" pitchFamily="34" charset="0"/>
              </a:rPr>
              <a:t>Introduction to the Two Methods</a:t>
            </a:r>
          </a:p>
          <a:p>
            <a:r>
              <a:rPr lang="en-US" sz="2000" dirty="0">
                <a:latin typeface="Aptos" panose="020B0004020202020204" pitchFamily="34" charset="0"/>
              </a:rPr>
              <a:t>Key Differences in Action</a:t>
            </a:r>
          </a:p>
          <a:p>
            <a:r>
              <a:rPr lang="en-US" sz="2000" dirty="0">
                <a:latin typeface="Aptos" panose="020B0004020202020204" pitchFamily="34" charset="0"/>
              </a:rPr>
              <a:t>Choosing the Right Approach</a:t>
            </a:r>
          </a:p>
          <a:p>
            <a:r>
              <a:rPr lang="en-US" sz="2000" dirty="0">
                <a:latin typeface="Aptos" panose="020B0004020202020204" pitchFamily="34" charset="0"/>
              </a:rPr>
              <a:t>Introduction to Stakeholder Management</a:t>
            </a:r>
          </a:p>
          <a:p>
            <a:r>
              <a:rPr lang="en-US" sz="2000" dirty="0">
                <a:latin typeface="Aptos" panose="020B0004020202020204" pitchFamily="34" charset="0"/>
              </a:rPr>
              <a:t>Understanding and Organizing People</a:t>
            </a:r>
          </a:p>
          <a:p>
            <a:r>
              <a:rPr lang="en-US" sz="2000" dirty="0">
                <a:latin typeface="Aptos" panose="020B0004020202020204" pitchFamily="34" charset="0"/>
              </a:rPr>
              <a:t>Putting It Into Action</a:t>
            </a:r>
          </a:p>
        </p:txBody>
      </p:sp>
    </p:spTree>
    <p:extLst>
      <p:ext uri="{BB962C8B-B14F-4D97-AF65-F5344CB8AC3E}">
        <p14:creationId xmlns:p14="http://schemas.microsoft.com/office/powerpoint/2010/main" val="8773751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A307A-8CB1-89E9-2C30-85BC659AB083}"/>
              </a:ext>
            </a:extLst>
          </p:cNvPr>
          <p:cNvSpPr>
            <a:spLocks noGrp="1"/>
          </p:cNvSpPr>
          <p:nvPr>
            <p:ph type="title"/>
          </p:nvPr>
        </p:nvSpPr>
        <p:spPr/>
        <p:txBody>
          <a:bodyPr>
            <a:normAutofit/>
          </a:bodyPr>
          <a:lstStyle/>
          <a:p>
            <a:r>
              <a:rPr lang="en-US" sz="2800" b="1" dirty="0">
                <a:latin typeface="Aptos" panose="020B0004020202020204" pitchFamily="34" charset="0"/>
              </a:rPr>
              <a:t>What is a Business Analyst ?</a:t>
            </a:r>
            <a:br>
              <a:rPr lang="en-US" sz="2800" b="1" dirty="0">
                <a:latin typeface="Aptos" panose="020B0004020202020204" pitchFamily="34" charset="0"/>
              </a:rPr>
            </a:br>
            <a:r>
              <a:rPr lang="en-US" sz="2800" dirty="0">
                <a:latin typeface="Aptos" panose="020B0004020202020204" pitchFamily="34" charset="0"/>
              </a:rPr>
              <a:t>The Core Role, Bridging the Gap, The Main Goal</a:t>
            </a:r>
          </a:p>
        </p:txBody>
      </p:sp>
      <p:sp>
        <p:nvSpPr>
          <p:cNvPr id="3" name="Content Placeholder 2">
            <a:extLst>
              <a:ext uri="{FF2B5EF4-FFF2-40B4-BE49-F238E27FC236}">
                <a16:creationId xmlns:a16="http://schemas.microsoft.com/office/drawing/2014/main" id="{9AFC1F9E-8A6C-EFC5-E09A-041F7E65E130}"/>
              </a:ext>
            </a:extLst>
          </p:cNvPr>
          <p:cNvSpPr>
            <a:spLocks noGrp="1"/>
          </p:cNvSpPr>
          <p:nvPr>
            <p:ph idx="1"/>
          </p:nvPr>
        </p:nvSpPr>
        <p:spPr/>
        <p:txBody>
          <a:bodyPr/>
          <a:lstStyle/>
          <a:p>
            <a:r>
              <a:rPr lang="en-US" b="1" dirty="0">
                <a:latin typeface="Aptos" panose="020B0004020202020204" pitchFamily="34" charset="0"/>
              </a:rPr>
              <a:t>The Detective and Translator:</a:t>
            </a:r>
            <a:r>
              <a:rPr lang="en-US" dirty="0">
                <a:latin typeface="Aptos" panose="020B0004020202020204" pitchFamily="34" charset="0"/>
              </a:rPr>
              <a:t> A Business Analyst (BA) acts like a mix of a detective, a translator, and an advisor. Their main job is to investigate how a business runs, uncover what problems exist, and figure out the best way to solve them.</a:t>
            </a:r>
          </a:p>
          <a:p>
            <a:r>
              <a:rPr lang="en-US" b="1" dirty="0">
                <a:latin typeface="Aptos" panose="020B0004020202020204" pitchFamily="34" charset="0"/>
              </a:rPr>
              <a:t>Bridging the Gap:</a:t>
            </a:r>
            <a:r>
              <a:rPr lang="en-US" dirty="0">
                <a:latin typeface="Aptos" panose="020B0004020202020204" pitchFamily="34" charset="0"/>
              </a:rPr>
              <a:t> There is often a communication gap between business leaders (who focus on goals and money) and technical teams (who build the software). A Business Analyst acts as the bridge, ensuring both sides understand each other perfectly.</a:t>
            </a:r>
          </a:p>
          <a:p>
            <a:r>
              <a:rPr lang="en-US" b="1" dirty="0">
                <a:latin typeface="Aptos" panose="020B0004020202020204" pitchFamily="34" charset="0"/>
              </a:rPr>
              <a:t>The Main Goal:</a:t>
            </a:r>
            <a:r>
              <a:rPr lang="en-US" dirty="0">
                <a:latin typeface="Aptos" panose="020B0004020202020204" pitchFamily="34" charset="0"/>
              </a:rPr>
              <a:t> Whether working for a fast-growing startup, an established corporation, or an online platform, a BA's ultimate goal is always the same: align business needs with technical solutions so the company can be more successful and profitable.</a:t>
            </a:r>
          </a:p>
        </p:txBody>
      </p:sp>
    </p:spTree>
    <p:extLst>
      <p:ext uri="{BB962C8B-B14F-4D97-AF65-F5344CB8AC3E}">
        <p14:creationId xmlns:p14="http://schemas.microsoft.com/office/powerpoint/2010/main" val="4338693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56B18-A3C4-F046-0EE3-6B09A0842479}"/>
              </a:ext>
            </a:extLst>
          </p:cNvPr>
          <p:cNvSpPr>
            <a:spLocks noGrp="1"/>
          </p:cNvSpPr>
          <p:nvPr>
            <p:ph type="title"/>
          </p:nvPr>
        </p:nvSpPr>
        <p:spPr/>
        <p:txBody>
          <a:bodyPr>
            <a:noAutofit/>
          </a:bodyPr>
          <a:lstStyle/>
          <a:p>
            <a:r>
              <a:rPr lang="en-US" sz="2800" b="1" dirty="0">
                <a:latin typeface="Aptos" panose="020B0004020202020204" pitchFamily="34" charset="0"/>
              </a:rPr>
              <a:t>What Do Business Analysts Do Every Day ?</a:t>
            </a:r>
            <a:br>
              <a:rPr lang="en-US" sz="2800" b="1" dirty="0">
                <a:latin typeface="Aptos" panose="020B0004020202020204" pitchFamily="34" charset="0"/>
              </a:rPr>
            </a:br>
            <a:r>
              <a:rPr lang="en-US" sz="2800" dirty="0">
                <a:latin typeface="Aptos" panose="020B0004020202020204" pitchFamily="34" charset="0"/>
              </a:rPr>
              <a:t>Gathering Requirements, Defining Solutions, Data Analysis, Process Improvement</a:t>
            </a:r>
          </a:p>
        </p:txBody>
      </p:sp>
      <p:sp>
        <p:nvSpPr>
          <p:cNvPr id="3" name="Content Placeholder 2">
            <a:extLst>
              <a:ext uri="{FF2B5EF4-FFF2-40B4-BE49-F238E27FC236}">
                <a16:creationId xmlns:a16="http://schemas.microsoft.com/office/drawing/2014/main" id="{CDCC484C-6032-1272-6267-410507C4A5CC}"/>
              </a:ext>
            </a:extLst>
          </p:cNvPr>
          <p:cNvSpPr>
            <a:spLocks noGrp="1"/>
          </p:cNvSpPr>
          <p:nvPr>
            <p:ph idx="1"/>
          </p:nvPr>
        </p:nvSpPr>
        <p:spPr/>
        <p:txBody>
          <a:bodyPr>
            <a:normAutofit/>
          </a:bodyPr>
          <a:lstStyle/>
          <a:p>
            <a:r>
              <a:rPr lang="en-US" b="1" dirty="0">
                <a:latin typeface="Aptos" panose="020B0004020202020204" pitchFamily="34" charset="0"/>
              </a:rPr>
              <a:t>Gathering Requirements:</a:t>
            </a:r>
            <a:r>
              <a:rPr lang="en-US" dirty="0">
                <a:latin typeface="Aptos" panose="020B0004020202020204" pitchFamily="34" charset="0"/>
              </a:rPr>
              <a:t> BAs do not just guess what a business needs. They conduct interviews, run surveys, and ask the right questions to understand exactly what stakeholders want to achieve.</a:t>
            </a:r>
          </a:p>
          <a:p>
            <a:r>
              <a:rPr lang="en-US" b="1" dirty="0">
                <a:latin typeface="Aptos" panose="020B0004020202020204" pitchFamily="34" charset="0"/>
              </a:rPr>
              <a:t>Defining the Problem and Solution:</a:t>
            </a:r>
            <a:r>
              <a:rPr lang="en-US" dirty="0">
                <a:latin typeface="Aptos" panose="020B0004020202020204" pitchFamily="34" charset="0"/>
              </a:rPr>
              <a:t> Once they have the information, they break down large, confusing problems into small, manageable pieces. They then suggest realistic solutions that fit the company's budget and technical limits.</a:t>
            </a:r>
          </a:p>
          <a:p>
            <a:r>
              <a:rPr lang="en-US" b="1" dirty="0">
                <a:latin typeface="Aptos" panose="020B0004020202020204" pitchFamily="34" charset="0"/>
              </a:rPr>
              <a:t>Analyzing Data:</a:t>
            </a:r>
            <a:r>
              <a:rPr lang="en-US" dirty="0">
                <a:latin typeface="Aptos" panose="020B0004020202020204" pitchFamily="34" charset="0"/>
              </a:rPr>
              <a:t> BAs constantly look at data—like customer feedback or sales numbers—to spot trends. This helps business leaders make smart decisions based on facts rather than guesses.</a:t>
            </a:r>
          </a:p>
          <a:p>
            <a:r>
              <a:rPr lang="en-US" b="1" dirty="0">
                <a:latin typeface="Aptos" panose="020B0004020202020204" pitchFamily="34" charset="0"/>
              </a:rPr>
              <a:t>Improving Processes:</a:t>
            </a:r>
            <a:r>
              <a:rPr lang="en-US" dirty="0">
                <a:latin typeface="Aptos" panose="020B0004020202020204" pitchFamily="34" charset="0"/>
              </a:rPr>
              <a:t> BAs map out how work gets done and look for "bottlenecks." They suggest better, faster ways to do things to save time and reduce costs.</a:t>
            </a:r>
          </a:p>
        </p:txBody>
      </p:sp>
    </p:spTree>
    <p:extLst>
      <p:ext uri="{BB962C8B-B14F-4D97-AF65-F5344CB8AC3E}">
        <p14:creationId xmlns:p14="http://schemas.microsoft.com/office/powerpoint/2010/main" val="31757237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3132E-144B-8315-2AA5-D17B01CEF4EE}"/>
              </a:ext>
            </a:extLst>
          </p:cNvPr>
          <p:cNvSpPr>
            <a:spLocks noGrp="1"/>
          </p:cNvSpPr>
          <p:nvPr>
            <p:ph type="title"/>
          </p:nvPr>
        </p:nvSpPr>
        <p:spPr/>
        <p:txBody>
          <a:bodyPr>
            <a:noAutofit/>
          </a:bodyPr>
          <a:lstStyle/>
          <a:p>
            <a:r>
              <a:rPr lang="en-US" sz="2800" b="1" dirty="0">
                <a:latin typeface="Aptos" panose="020B0004020202020204" pitchFamily="34" charset="0"/>
              </a:rPr>
              <a:t>How Business Analysts Make It Happen</a:t>
            </a:r>
            <a:br>
              <a:rPr lang="en-US" sz="2800" b="1" dirty="0">
                <a:latin typeface="Aptos" panose="020B0004020202020204" pitchFamily="34" charset="0"/>
              </a:rPr>
            </a:br>
            <a:r>
              <a:rPr lang="en-US" sz="2800" dirty="0">
                <a:latin typeface="Aptos" panose="020B0004020202020204" pitchFamily="34" charset="0"/>
              </a:rPr>
              <a:t>Clear Communication, Testing Solutions, Essential Tools</a:t>
            </a:r>
          </a:p>
        </p:txBody>
      </p:sp>
      <p:sp>
        <p:nvSpPr>
          <p:cNvPr id="3" name="Content Placeholder 2">
            <a:extLst>
              <a:ext uri="{FF2B5EF4-FFF2-40B4-BE49-F238E27FC236}">
                <a16:creationId xmlns:a16="http://schemas.microsoft.com/office/drawing/2014/main" id="{A9A965F1-9B99-37DC-4201-FB2F480B99F2}"/>
              </a:ext>
            </a:extLst>
          </p:cNvPr>
          <p:cNvSpPr>
            <a:spLocks noGrp="1"/>
          </p:cNvSpPr>
          <p:nvPr>
            <p:ph idx="1"/>
          </p:nvPr>
        </p:nvSpPr>
        <p:spPr/>
        <p:txBody>
          <a:bodyPr/>
          <a:lstStyle/>
          <a:p>
            <a:r>
              <a:rPr lang="en-US" b="1" dirty="0">
                <a:latin typeface="Aptos" panose="020B0004020202020204" pitchFamily="34" charset="0"/>
              </a:rPr>
              <a:t>Clear Communication:</a:t>
            </a:r>
            <a:r>
              <a:rPr lang="en-US" dirty="0">
                <a:latin typeface="Aptos" panose="020B0004020202020204" pitchFamily="34" charset="0"/>
              </a:rPr>
              <a:t> A major part of the job is simply keeping everyone on the same page. BAs translate "business language" into "technical language" for developers, and then translate the tech updates back to the business leaders.</a:t>
            </a:r>
          </a:p>
          <a:p>
            <a:r>
              <a:rPr lang="en-US" b="1" dirty="0">
                <a:latin typeface="Aptos" panose="020B0004020202020204" pitchFamily="34" charset="0"/>
              </a:rPr>
              <a:t>Testing and Tracking:</a:t>
            </a:r>
            <a:r>
              <a:rPr lang="en-US" dirty="0">
                <a:latin typeface="Aptos" panose="020B0004020202020204" pitchFamily="34" charset="0"/>
              </a:rPr>
              <a:t> Once a solution is built, the BA helps test it to ensure it actually solves the original problem without breaking anything else. After it launches, they track its success over time.</a:t>
            </a:r>
          </a:p>
          <a:p>
            <a:r>
              <a:rPr lang="en-US" b="1" dirty="0">
                <a:latin typeface="Aptos" panose="020B0004020202020204" pitchFamily="34" charset="0"/>
              </a:rPr>
              <a:t>Essential Tools:</a:t>
            </a:r>
            <a:r>
              <a:rPr lang="en-US" dirty="0">
                <a:latin typeface="Aptos" panose="020B0004020202020204" pitchFamily="34" charset="0"/>
              </a:rPr>
              <a:t> BAs use a variety of software to do their jobs. This includes task-tracking tools (like JIRA or Trello), data analysis software (like Excel or Tableau), and process mapping programs (like Microsoft Visio) to draw clear visual diagrams of how the business should operate.</a:t>
            </a:r>
          </a:p>
        </p:txBody>
      </p:sp>
    </p:spTree>
    <p:extLst>
      <p:ext uri="{BB962C8B-B14F-4D97-AF65-F5344CB8AC3E}">
        <p14:creationId xmlns:p14="http://schemas.microsoft.com/office/powerpoint/2010/main" val="36810503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20583-F145-91C3-D6B2-F74084900C85}"/>
              </a:ext>
            </a:extLst>
          </p:cNvPr>
          <p:cNvSpPr>
            <a:spLocks noGrp="1"/>
          </p:cNvSpPr>
          <p:nvPr>
            <p:ph type="title"/>
          </p:nvPr>
        </p:nvSpPr>
        <p:spPr/>
        <p:txBody>
          <a:bodyPr>
            <a:noAutofit/>
          </a:bodyPr>
          <a:lstStyle/>
          <a:p>
            <a:r>
              <a:rPr lang="en-US" sz="2800" b="1" dirty="0">
                <a:latin typeface="Aptos" panose="020B0004020202020204" pitchFamily="34" charset="0"/>
              </a:rPr>
              <a:t>What is a Business Analytics Professional ?</a:t>
            </a:r>
            <a:br>
              <a:rPr lang="en-US" sz="2800" b="1" dirty="0">
                <a:latin typeface="Aptos" panose="020B0004020202020204" pitchFamily="34" charset="0"/>
              </a:rPr>
            </a:br>
            <a:r>
              <a:rPr lang="en-US" sz="2800" dirty="0">
                <a:latin typeface="Aptos" panose="020B0004020202020204" pitchFamily="34" charset="0"/>
              </a:rPr>
              <a:t>The Core Focus, Business Analyst vs. Business Analytics Professional</a:t>
            </a:r>
          </a:p>
        </p:txBody>
      </p:sp>
      <p:sp>
        <p:nvSpPr>
          <p:cNvPr id="3" name="Content Placeholder 2">
            <a:extLst>
              <a:ext uri="{FF2B5EF4-FFF2-40B4-BE49-F238E27FC236}">
                <a16:creationId xmlns:a16="http://schemas.microsoft.com/office/drawing/2014/main" id="{08464D54-6EE7-B0D5-ABAE-B4426C1FE9FC}"/>
              </a:ext>
            </a:extLst>
          </p:cNvPr>
          <p:cNvSpPr>
            <a:spLocks noGrp="1"/>
          </p:cNvSpPr>
          <p:nvPr>
            <p:ph idx="1"/>
          </p:nvPr>
        </p:nvSpPr>
        <p:spPr/>
        <p:txBody>
          <a:bodyPr/>
          <a:lstStyle/>
          <a:p>
            <a:r>
              <a:rPr lang="en-US" b="1" dirty="0">
                <a:latin typeface="Aptos" panose="020B0004020202020204" pitchFamily="34" charset="0"/>
              </a:rPr>
              <a:t>The Main Focus:</a:t>
            </a:r>
            <a:r>
              <a:rPr lang="en-US" dirty="0">
                <a:latin typeface="Aptos" panose="020B0004020202020204" pitchFamily="34" charset="0"/>
              </a:rPr>
              <a:t> A business analytics professional is someone who uses big data, statistical analysis, and reports to investigate how a business is performing. Their goal is to find hidden insights in the numbers and recommend ways to improve products, marketing, or the customer experience.</a:t>
            </a:r>
          </a:p>
          <a:p>
            <a:r>
              <a:rPr lang="en-US" b="1" dirty="0">
                <a:latin typeface="Aptos" panose="020B0004020202020204" pitchFamily="34" charset="0"/>
              </a:rPr>
              <a:t>The Big Confusion:</a:t>
            </a:r>
            <a:r>
              <a:rPr lang="en-US" dirty="0">
                <a:latin typeface="Aptos" panose="020B0004020202020204" pitchFamily="34" charset="0"/>
              </a:rPr>
              <a:t> People often confuse this role with a "Business Analyst.“</a:t>
            </a:r>
          </a:p>
          <a:p>
            <a:pPr lvl="1"/>
            <a:r>
              <a:rPr lang="en-US" dirty="0">
                <a:latin typeface="Aptos" panose="020B0004020202020204" pitchFamily="34" charset="0"/>
              </a:rPr>
              <a:t>A Business Analyst focuses mostly on internal company processes (like changing policies or coordinating between teams so the office runs smoother).</a:t>
            </a:r>
          </a:p>
          <a:p>
            <a:pPr lvl="1"/>
            <a:r>
              <a:rPr lang="en-US" dirty="0">
                <a:latin typeface="Aptos" panose="020B0004020202020204" pitchFamily="34" charset="0"/>
              </a:rPr>
              <a:t>A Business Analytics Professional focuses heavily on data. They look at the numbers to drive business strategy.</a:t>
            </a:r>
          </a:p>
        </p:txBody>
      </p:sp>
    </p:spTree>
    <p:extLst>
      <p:ext uri="{BB962C8B-B14F-4D97-AF65-F5344CB8AC3E}">
        <p14:creationId xmlns:p14="http://schemas.microsoft.com/office/powerpoint/2010/main" val="31364899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91AE7-F69E-9697-A4DB-C41CF939763F}"/>
              </a:ext>
            </a:extLst>
          </p:cNvPr>
          <p:cNvSpPr>
            <a:spLocks noGrp="1"/>
          </p:cNvSpPr>
          <p:nvPr>
            <p:ph type="title"/>
          </p:nvPr>
        </p:nvSpPr>
        <p:spPr/>
        <p:txBody>
          <a:bodyPr>
            <a:noAutofit/>
          </a:bodyPr>
          <a:lstStyle/>
          <a:p>
            <a:r>
              <a:rPr lang="en-US" sz="2800" b="1" dirty="0">
                <a:latin typeface="Aptos" panose="020B0004020202020204" pitchFamily="34" charset="0"/>
              </a:rPr>
              <a:t>Top Skills Needed in Business Analytics</a:t>
            </a:r>
            <a:br>
              <a:rPr lang="en-US" sz="2800" b="1" dirty="0">
                <a:latin typeface="Aptos" panose="020B0004020202020204" pitchFamily="34" charset="0"/>
              </a:rPr>
            </a:br>
            <a:r>
              <a:rPr lang="en-US" sz="2800" dirty="0">
                <a:latin typeface="Aptos" panose="020B0004020202020204" pitchFamily="34" charset="0"/>
              </a:rPr>
              <a:t>Soft Skills (Personality Traits), Hard Skills (Technical Tools)</a:t>
            </a:r>
          </a:p>
        </p:txBody>
      </p:sp>
      <p:sp>
        <p:nvSpPr>
          <p:cNvPr id="3" name="Content Placeholder 2">
            <a:extLst>
              <a:ext uri="{FF2B5EF4-FFF2-40B4-BE49-F238E27FC236}">
                <a16:creationId xmlns:a16="http://schemas.microsoft.com/office/drawing/2014/main" id="{F86DE13D-B4CD-5082-5916-A2B6E1A30AD1}"/>
              </a:ext>
            </a:extLst>
          </p:cNvPr>
          <p:cNvSpPr>
            <a:spLocks noGrp="1"/>
          </p:cNvSpPr>
          <p:nvPr>
            <p:ph idx="1"/>
          </p:nvPr>
        </p:nvSpPr>
        <p:spPr>
          <a:xfrm>
            <a:off x="2589212" y="2133600"/>
            <a:ext cx="8915400" cy="4100290"/>
          </a:xfrm>
        </p:spPr>
        <p:txBody>
          <a:bodyPr>
            <a:normAutofit lnSpcReduction="10000"/>
          </a:bodyPr>
          <a:lstStyle/>
          <a:p>
            <a:r>
              <a:rPr lang="en-US" b="1" dirty="0">
                <a:latin typeface="Aptos" panose="020B0004020202020204" pitchFamily="34" charset="0"/>
              </a:rPr>
              <a:t>The "Soft" Skills:</a:t>
            </a:r>
            <a:r>
              <a:rPr lang="en-US" dirty="0">
                <a:latin typeface="Aptos" panose="020B0004020202020204" pitchFamily="34" charset="0"/>
              </a:rPr>
              <a:t> You don't just need to be good at math; you need to be a well-rounded thinker. Great analytics professionals are:</a:t>
            </a:r>
          </a:p>
          <a:p>
            <a:pPr lvl="1"/>
            <a:r>
              <a:rPr lang="en-US" b="1" dirty="0">
                <a:latin typeface="Aptos" panose="020B0004020202020204" pitchFamily="34" charset="0"/>
              </a:rPr>
              <a:t>Great Communicators:</a:t>
            </a:r>
            <a:r>
              <a:rPr lang="en-US" dirty="0">
                <a:latin typeface="Aptos" panose="020B0004020202020204" pitchFamily="34" charset="0"/>
              </a:rPr>
              <a:t> They must be able to translate complex data into a simple story that business leaders can easily understand.</a:t>
            </a:r>
          </a:p>
          <a:p>
            <a:pPr lvl="1"/>
            <a:r>
              <a:rPr lang="en-US" b="1" dirty="0">
                <a:latin typeface="Aptos" panose="020B0004020202020204" pitchFamily="34" charset="0"/>
              </a:rPr>
              <a:t>Inquisitive Problem Solvers:</a:t>
            </a:r>
            <a:r>
              <a:rPr lang="en-US" dirty="0">
                <a:latin typeface="Aptos" panose="020B0004020202020204" pitchFamily="34" charset="0"/>
              </a:rPr>
              <a:t> They naturally want to connect the dots, figure out how things work, and use logic to fix problems.</a:t>
            </a:r>
          </a:p>
          <a:p>
            <a:pPr lvl="1"/>
            <a:r>
              <a:rPr lang="en-US" b="1" dirty="0">
                <a:latin typeface="Aptos" panose="020B0004020202020204" pitchFamily="34" charset="0"/>
              </a:rPr>
              <a:t>Visualizers:</a:t>
            </a:r>
            <a:r>
              <a:rPr lang="en-US" dirty="0">
                <a:latin typeface="Aptos" panose="020B0004020202020204" pitchFamily="34" charset="0"/>
              </a:rPr>
              <a:t> They know how to take massive, messy spreadsheets and turn them into clean, easy-to-read charts and graphs.</a:t>
            </a:r>
          </a:p>
          <a:p>
            <a:r>
              <a:rPr lang="en-US" b="1" dirty="0">
                <a:latin typeface="Aptos" panose="020B0004020202020204" pitchFamily="34" charset="0"/>
              </a:rPr>
              <a:t>The "Hard" Technical Skills:</a:t>
            </a:r>
            <a:r>
              <a:rPr lang="en-US" dirty="0">
                <a:latin typeface="Aptos" panose="020B0004020202020204" pitchFamily="34" charset="0"/>
              </a:rPr>
              <a:t> To do the job, professionals rely on technical tools:</a:t>
            </a:r>
          </a:p>
          <a:p>
            <a:pPr lvl="1"/>
            <a:r>
              <a:rPr lang="en-US" b="1" dirty="0">
                <a:latin typeface="Aptos" panose="020B0004020202020204" pitchFamily="34" charset="0"/>
              </a:rPr>
              <a:t>SQL:</a:t>
            </a:r>
            <a:r>
              <a:rPr lang="en-US" dirty="0">
                <a:latin typeface="Aptos" panose="020B0004020202020204" pitchFamily="34" charset="0"/>
              </a:rPr>
              <a:t> The most important coding language used to "talk" to databases and pull out the exact information they need.</a:t>
            </a:r>
          </a:p>
          <a:p>
            <a:pPr lvl="1"/>
            <a:r>
              <a:rPr lang="en-US" b="1" dirty="0">
                <a:latin typeface="Aptos" panose="020B0004020202020204" pitchFamily="34" charset="0"/>
              </a:rPr>
              <a:t>Programming and Software:</a:t>
            </a:r>
            <a:r>
              <a:rPr lang="en-US" dirty="0">
                <a:latin typeface="Aptos" panose="020B0004020202020204" pitchFamily="34" charset="0"/>
              </a:rPr>
              <a:t> They often use languages like Python or R, or software like Excel, SPSS, or SAS to organize and calculate massive datasets.</a:t>
            </a:r>
          </a:p>
          <a:p>
            <a:endParaRPr lang="en-US" dirty="0">
              <a:latin typeface="Aptos" panose="020B0004020202020204" pitchFamily="34" charset="0"/>
            </a:endParaRPr>
          </a:p>
        </p:txBody>
      </p:sp>
    </p:spTree>
    <p:extLst>
      <p:ext uri="{BB962C8B-B14F-4D97-AF65-F5344CB8AC3E}">
        <p14:creationId xmlns:p14="http://schemas.microsoft.com/office/powerpoint/2010/main" val="1854696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2E03C-56CF-8B36-7033-4A38F7744A5F}"/>
              </a:ext>
            </a:extLst>
          </p:cNvPr>
          <p:cNvSpPr>
            <a:spLocks noGrp="1"/>
          </p:cNvSpPr>
          <p:nvPr>
            <p:ph type="title"/>
          </p:nvPr>
        </p:nvSpPr>
        <p:spPr/>
        <p:txBody>
          <a:bodyPr>
            <a:normAutofit/>
          </a:bodyPr>
          <a:lstStyle/>
          <a:p>
            <a:r>
              <a:rPr lang="en-US" sz="2800" b="1" dirty="0"/>
              <a:t>The Four Types of Analytics</a:t>
            </a:r>
            <a:br>
              <a:rPr lang="en-US" sz="2800" b="1" dirty="0"/>
            </a:br>
            <a:r>
              <a:rPr lang="en-US" sz="2800" dirty="0"/>
              <a:t>Descriptive, Diagnostic, Predictive, Prescriptive</a:t>
            </a:r>
          </a:p>
        </p:txBody>
      </p:sp>
      <p:sp>
        <p:nvSpPr>
          <p:cNvPr id="3" name="Content Placeholder 2">
            <a:extLst>
              <a:ext uri="{FF2B5EF4-FFF2-40B4-BE49-F238E27FC236}">
                <a16:creationId xmlns:a16="http://schemas.microsoft.com/office/drawing/2014/main" id="{6DC81418-4774-86A2-289F-6B462480B30D}"/>
              </a:ext>
            </a:extLst>
          </p:cNvPr>
          <p:cNvSpPr>
            <a:spLocks noGrp="1"/>
          </p:cNvSpPr>
          <p:nvPr>
            <p:ph idx="1"/>
          </p:nvPr>
        </p:nvSpPr>
        <p:spPr/>
        <p:txBody>
          <a:bodyPr/>
          <a:lstStyle/>
          <a:p>
            <a:r>
              <a:rPr lang="en-US" b="1" dirty="0">
                <a:latin typeface="Aptos" panose="020B0004020202020204" pitchFamily="34" charset="0"/>
              </a:rPr>
              <a:t>Descriptive Analytics (What is happening right now?):</a:t>
            </a:r>
            <a:r>
              <a:rPr lang="en-US" dirty="0">
                <a:latin typeface="Aptos" panose="020B0004020202020204" pitchFamily="34" charset="0"/>
              </a:rPr>
              <a:t> This is the starting point. It involves looking at current data on real-time dashboards to see exactly what is going on in the business today.</a:t>
            </a:r>
          </a:p>
          <a:p>
            <a:r>
              <a:rPr lang="en-US" b="1" dirty="0">
                <a:latin typeface="Aptos" panose="020B0004020202020204" pitchFamily="34" charset="0"/>
              </a:rPr>
              <a:t>Diagnostic Analytics (Why did it happen?):</a:t>
            </a:r>
            <a:r>
              <a:rPr lang="en-US" dirty="0">
                <a:latin typeface="Aptos" panose="020B0004020202020204" pitchFamily="34" charset="0"/>
              </a:rPr>
              <a:t> This looks at past performance to figure out cause-and-effect. If sales dropped last month, diagnostic analytics helps find out exactly why it occurred.</a:t>
            </a:r>
          </a:p>
          <a:p>
            <a:r>
              <a:rPr lang="en-US" b="1" dirty="0">
                <a:latin typeface="Aptos" panose="020B0004020202020204" pitchFamily="34" charset="0"/>
              </a:rPr>
              <a:t>Predictive Analytics (What will happen in the future?):</a:t>
            </a:r>
            <a:r>
              <a:rPr lang="en-US" dirty="0">
                <a:latin typeface="Aptos" panose="020B0004020202020204" pitchFamily="34" charset="0"/>
              </a:rPr>
              <a:t> This uses statistics and forecasting to look ahead. Based on what happened in the past, it predicts likely scenarios for the future.</a:t>
            </a:r>
          </a:p>
          <a:p>
            <a:r>
              <a:rPr lang="en-US" b="1" dirty="0">
                <a:latin typeface="Aptos" panose="020B0004020202020204" pitchFamily="34" charset="0"/>
              </a:rPr>
              <a:t>Prescriptive Analytics (What should we do?):</a:t>
            </a:r>
            <a:r>
              <a:rPr lang="en-US" dirty="0">
                <a:latin typeface="Aptos" panose="020B0004020202020204" pitchFamily="34" charset="0"/>
              </a:rPr>
              <a:t> This is the ultimate goal. It uses all the data to give highly focused advice on what exact actions the business needs to take in order to succeed.</a:t>
            </a:r>
          </a:p>
        </p:txBody>
      </p:sp>
    </p:spTree>
    <p:extLst>
      <p:ext uri="{BB962C8B-B14F-4D97-AF65-F5344CB8AC3E}">
        <p14:creationId xmlns:p14="http://schemas.microsoft.com/office/powerpoint/2010/main" val="27220700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FA923-49CF-3EF2-5063-8C3CEE5B3A01}"/>
              </a:ext>
            </a:extLst>
          </p:cNvPr>
          <p:cNvSpPr>
            <a:spLocks noGrp="1"/>
          </p:cNvSpPr>
          <p:nvPr>
            <p:ph type="title"/>
          </p:nvPr>
        </p:nvSpPr>
        <p:spPr/>
        <p:txBody>
          <a:bodyPr>
            <a:normAutofit/>
          </a:bodyPr>
          <a:lstStyle/>
          <a:p>
            <a:r>
              <a:rPr lang="en-US" sz="2800" b="1" dirty="0">
                <a:latin typeface="Aptos" panose="020B0004020202020204" pitchFamily="34" charset="0"/>
              </a:rPr>
              <a:t>Agile vs. Waterfall: The Basics</a:t>
            </a:r>
            <a:br>
              <a:rPr lang="en-US" sz="2800" b="1" dirty="0">
                <a:latin typeface="Aptos" panose="020B0004020202020204" pitchFamily="34" charset="0"/>
              </a:rPr>
            </a:br>
            <a:r>
              <a:rPr lang="en-US" sz="2800" dirty="0">
                <a:latin typeface="Aptos" panose="020B0004020202020204" pitchFamily="34" charset="0"/>
              </a:rPr>
              <a:t>What is Waterfall? What is Agile? The Main Focus</a:t>
            </a:r>
          </a:p>
        </p:txBody>
      </p:sp>
      <p:sp>
        <p:nvSpPr>
          <p:cNvPr id="3" name="Content Placeholder 2">
            <a:extLst>
              <a:ext uri="{FF2B5EF4-FFF2-40B4-BE49-F238E27FC236}">
                <a16:creationId xmlns:a16="http://schemas.microsoft.com/office/drawing/2014/main" id="{A9D53B18-E7C4-0B28-A466-B8F8315C8646}"/>
              </a:ext>
            </a:extLst>
          </p:cNvPr>
          <p:cNvSpPr>
            <a:spLocks noGrp="1"/>
          </p:cNvSpPr>
          <p:nvPr>
            <p:ph idx="1"/>
          </p:nvPr>
        </p:nvSpPr>
        <p:spPr/>
        <p:txBody>
          <a:bodyPr/>
          <a:lstStyle/>
          <a:p>
            <a:r>
              <a:rPr lang="en-US" b="1" dirty="0">
                <a:latin typeface="Aptos" panose="020B0004020202020204" pitchFamily="34" charset="0"/>
              </a:rPr>
              <a:t>What is Waterfall?</a:t>
            </a:r>
            <a:r>
              <a:rPr lang="en-US" dirty="0">
                <a:latin typeface="Aptos" panose="020B0004020202020204" pitchFamily="34" charset="0"/>
              </a:rPr>
              <a:t> Waterfall is a traditional, step-by-step approach to a project. It is "linear," meaning you must completely finish one phase (like planning) before moving on to the next phase (like building).</a:t>
            </a:r>
          </a:p>
          <a:p>
            <a:r>
              <a:rPr lang="en-US" b="1" dirty="0">
                <a:latin typeface="Aptos" panose="020B0004020202020204" pitchFamily="34" charset="0"/>
              </a:rPr>
              <a:t>What is Agile?</a:t>
            </a:r>
            <a:r>
              <a:rPr lang="en-US" dirty="0">
                <a:latin typeface="Aptos" panose="020B0004020202020204" pitchFamily="34" charset="0"/>
              </a:rPr>
              <a:t> Agile is a highly flexible, team-based approach. Instead of tackling a massive project all at once, teams break the work down into bite-sized, manageable pieces.</a:t>
            </a:r>
          </a:p>
          <a:p>
            <a:r>
              <a:rPr lang="en-US" b="1" dirty="0">
                <a:latin typeface="Aptos" panose="020B0004020202020204" pitchFamily="34" charset="0"/>
              </a:rPr>
              <a:t>The Main Focus:</a:t>
            </a:r>
            <a:r>
              <a:rPr lang="en-US" dirty="0">
                <a:latin typeface="Aptos" panose="020B0004020202020204" pitchFamily="34" charset="0"/>
              </a:rPr>
              <a:t> Waterfall focuses on strict, upfront planning and following a clear roadmap from start to finish. Agile focuses on constant teamwork, continuous improvement, and quickly adapting to customer feedback along the way.</a:t>
            </a:r>
          </a:p>
        </p:txBody>
      </p:sp>
    </p:spTree>
    <p:extLst>
      <p:ext uri="{BB962C8B-B14F-4D97-AF65-F5344CB8AC3E}">
        <p14:creationId xmlns:p14="http://schemas.microsoft.com/office/powerpoint/2010/main" val="27623241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142E0-9DC3-9F27-F1D0-ECFC004F815C}"/>
              </a:ext>
            </a:extLst>
          </p:cNvPr>
          <p:cNvSpPr>
            <a:spLocks noGrp="1"/>
          </p:cNvSpPr>
          <p:nvPr>
            <p:ph type="title"/>
          </p:nvPr>
        </p:nvSpPr>
        <p:spPr/>
        <p:txBody>
          <a:bodyPr>
            <a:noAutofit/>
          </a:bodyPr>
          <a:lstStyle/>
          <a:p>
            <a:r>
              <a:rPr lang="en-US" sz="2800" b="1" dirty="0">
                <a:latin typeface="Aptos" panose="020B0004020202020204" pitchFamily="34" charset="0"/>
              </a:rPr>
              <a:t>How They Differ Day-to-Day</a:t>
            </a:r>
            <a:br>
              <a:rPr lang="en-US" sz="2800" b="1" dirty="0">
                <a:latin typeface="Aptos" panose="020B0004020202020204" pitchFamily="34" charset="0"/>
              </a:rPr>
            </a:br>
            <a:r>
              <a:rPr lang="en-US" sz="2800" dirty="0">
                <a:latin typeface="Aptos" panose="020B0004020202020204" pitchFamily="34" charset="0"/>
              </a:rPr>
              <a:t>Planning &amp; Scope, Speed &amp; Delivery, Flexibility &amp; Testing</a:t>
            </a:r>
          </a:p>
        </p:txBody>
      </p:sp>
      <p:sp>
        <p:nvSpPr>
          <p:cNvPr id="3" name="Content Placeholder 2">
            <a:extLst>
              <a:ext uri="{FF2B5EF4-FFF2-40B4-BE49-F238E27FC236}">
                <a16:creationId xmlns:a16="http://schemas.microsoft.com/office/drawing/2014/main" id="{407F84B1-16CE-17EE-646C-1F92995C5FA5}"/>
              </a:ext>
            </a:extLst>
          </p:cNvPr>
          <p:cNvSpPr>
            <a:spLocks noGrp="1"/>
          </p:cNvSpPr>
          <p:nvPr>
            <p:ph idx="1"/>
          </p:nvPr>
        </p:nvSpPr>
        <p:spPr/>
        <p:txBody>
          <a:bodyPr/>
          <a:lstStyle/>
          <a:p>
            <a:r>
              <a:rPr lang="en-US" b="1" dirty="0">
                <a:latin typeface="Aptos" panose="020B0004020202020204" pitchFamily="34" charset="0"/>
              </a:rPr>
              <a:t>Planning and Scope:</a:t>
            </a:r>
            <a:r>
              <a:rPr lang="en-US" dirty="0">
                <a:latin typeface="Aptos" panose="020B0004020202020204" pitchFamily="34" charset="0"/>
              </a:rPr>
              <a:t> In Waterfall, all the rules and goals are set in stone at the very beginning; changing your mind later is costly and difficult. In Agile, planning happens continuously, allowing the team to easily change direction if new ideas pop up.</a:t>
            </a:r>
            <a:endParaRPr lang="en-US" b="1" dirty="0">
              <a:latin typeface="Aptos" panose="020B0004020202020204" pitchFamily="34" charset="0"/>
            </a:endParaRPr>
          </a:p>
          <a:p>
            <a:r>
              <a:rPr lang="en-US" b="1" dirty="0">
                <a:latin typeface="Aptos" panose="020B0004020202020204" pitchFamily="34" charset="0"/>
              </a:rPr>
              <a:t>Speed and Delivery:</a:t>
            </a:r>
            <a:r>
              <a:rPr lang="en-US" dirty="0">
                <a:latin typeface="Aptos" panose="020B0004020202020204" pitchFamily="34" charset="0"/>
              </a:rPr>
              <a:t> Waterfall projects often take longer to show results because the final product is only delivered at the very end. Agile delivers small, workable pieces of the project quickly and frequently.</a:t>
            </a:r>
          </a:p>
          <a:p>
            <a:r>
              <a:rPr lang="en-US" b="1" dirty="0">
                <a:latin typeface="Aptos" panose="020B0004020202020204" pitchFamily="34" charset="0"/>
              </a:rPr>
              <a:t>Flexibility and Testing:</a:t>
            </a:r>
            <a:r>
              <a:rPr lang="en-US" dirty="0">
                <a:latin typeface="Aptos" panose="020B0004020202020204" pitchFamily="34" charset="0"/>
              </a:rPr>
              <a:t> Agile teams embrace change and test their work constantly throughout the entire process to catch mistakes early. Waterfall teams generally resist changes once the project starts and save most of their testing for specific milestones near the end.</a:t>
            </a:r>
          </a:p>
        </p:txBody>
      </p:sp>
    </p:spTree>
    <p:extLst>
      <p:ext uri="{BB962C8B-B14F-4D97-AF65-F5344CB8AC3E}">
        <p14:creationId xmlns:p14="http://schemas.microsoft.com/office/powerpoint/2010/main" val="30435029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B05B9-20E5-9EFE-7291-EBA78DD768D8}"/>
              </a:ext>
            </a:extLst>
          </p:cNvPr>
          <p:cNvSpPr>
            <a:spLocks noGrp="1"/>
          </p:cNvSpPr>
          <p:nvPr>
            <p:ph type="title"/>
          </p:nvPr>
        </p:nvSpPr>
        <p:spPr/>
        <p:txBody>
          <a:bodyPr>
            <a:noAutofit/>
          </a:bodyPr>
          <a:lstStyle/>
          <a:p>
            <a:r>
              <a:rPr lang="en-US" sz="2800" b="1" dirty="0"/>
              <a:t>When to Use Agile vs. Waterfall</a:t>
            </a:r>
            <a:br>
              <a:rPr lang="en-US" sz="2800" b="1" dirty="0"/>
            </a:br>
            <a:r>
              <a:rPr lang="en-US" sz="2800" dirty="0"/>
              <a:t>Best Fit for Waterfall, Best Fit for Agile, The Final Decision</a:t>
            </a:r>
          </a:p>
        </p:txBody>
      </p:sp>
      <p:sp>
        <p:nvSpPr>
          <p:cNvPr id="3" name="Content Placeholder 2">
            <a:extLst>
              <a:ext uri="{FF2B5EF4-FFF2-40B4-BE49-F238E27FC236}">
                <a16:creationId xmlns:a16="http://schemas.microsoft.com/office/drawing/2014/main" id="{89DC9DC3-9415-DC47-B71E-ADF8E90DE724}"/>
              </a:ext>
            </a:extLst>
          </p:cNvPr>
          <p:cNvSpPr>
            <a:spLocks noGrp="1"/>
          </p:cNvSpPr>
          <p:nvPr>
            <p:ph idx="1"/>
          </p:nvPr>
        </p:nvSpPr>
        <p:spPr/>
        <p:txBody>
          <a:bodyPr/>
          <a:lstStyle/>
          <a:p>
            <a:r>
              <a:rPr lang="en-US" b="1" dirty="0">
                <a:latin typeface="Aptos" panose="020B0004020202020204" pitchFamily="34" charset="0"/>
              </a:rPr>
              <a:t>When to Use Waterfall:</a:t>
            </a:r>
            <a:r>
              <a:rPr lang="en-US" dirty="0">
                <a:latin typeface="Aptos" panose="020B0004020202020204" pitchFamily="34" charset="0"/>
              </a:rPr>
              <a:t> This method is perfect for straightforward projects with clear deadlines and highly predictable outcomes. If you know exactly what the customer wants from day one and don't expect any surprises, Waterfall is the best choice.</a:t>
            </a:r>
          </a:p>
          <a:p>
            <a:r>
              <a:rPr lang="en-US" b="1" dirty="0">
                <a:latin typeface="Aptos" panose="020B0004020202020204" pitchFamily="34" charset="0"/>
              </a:rPr>
              <a:t>When to Use Agile:</a:t>
            </a:r>
            <a:r>
              <a:rPr lang="en-US" dirty="0">
                <a:latin typeface="Aptos" panose="020B0004020202020204" pitchFamily="34" charset="0"/>
              </a:rPr>
              <a:t> Agile thrives in the unknown. It is ideal for complex projects (like creating new software, startup ideas, or creative campaigns) where the final goal might shift, timelines are tight, and constant feedback is required.</a:t>
            </a:r>
          </a:p>
          <a:p>
            <a:r>
              <a:rPr lang="en-US" b="1" dirty="0">
                <a:latin typeface="Aptos" panose="020B0004020202020204" pitchFamily="34" charset="0"/>
              </a:rPr>
              <a:t>The Final Decision:</a:t>
            </a:r>
            <a:r>
              <a:rPr lang="en-US" dirty="0">
                <a:latin typeface="Aptos" panose="020B0004020202020204" pitchFamily="34" charset="0"/>
              </a:rPr>
              <a:t> There is no single "correct" method. Success comes from looking at the nature of your project, the needs of your stakeholders, and how much flexibility you require, and then choosing the tool that perfectly fits the job.</a:t>
            </a:r>
          </a:p>
        </p:txBody>
      </p:sp>
    </p:spTree>
    <p:extLst>
      <p:ext uri="{BB962C8B-B14F-4D97-AF65-F5344CB8AC3E}">
        <p14:creationId xmlns:p14="http://schemas.microsoft.com/office/powerpoint/2010/main" val="1692222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CBA7C-0BF3-3C42-E2B7-4EC84A5A4EE2}"/>
              </a:ext>
            </a:extLst>
          </p:cNvPr>
          <p:cNvSpPr>
            <a:spLocks noGrp="1"/>
          </p:cNvSpPr>
          <p:nvPr>
            <p:ph type="title"/>
          </p:nvPr>
        </p:nvSpPr>
        <p:spPr/>
        <p:txBody>
          <a:bodyPr>
            <a:noAutofit/>
          </a:bodyPr>
          <a:lstStyle/>
          <a:p>
            <a:r>
              <a:rPr lang="en-US" sz="2800" b="1" dirty="0">
                <a:latin typeface="Aptos" panose="020B0004020202020204" pitchFamily="34" charset="0"/>
              </a:rPr>
              <a:t>What is Stakeholder Management?</a:t>
            </a:r>
            <a:br>
              <a:rPr lang="en-US" sz="2800" b="1" dirty="0">
                <a:latin typeface="Aptos" panose="020B0004020202020204" pitchFamily="34" charset="0"/>
              </a:rPr>
            </a:br>
            <a:r>
              <a:rPr lang="en-US" sz="2800" dirty="0">
                <a:latin typeface="Aptos" panose="020B0004020202020204" pitchFamily="34" charset="0"/>
              </a:rPr>
              <a:t>Who are Stakeholders? The True Definition, The Big Benefits</a:t>
            </a:r>
          </a:p>
        </p:txBody>
      </p:sp>
      <p:sp>
        <p:nvSpPr>
          <p:cNvPr id="3" name="Content Placeholder 2">
            <a:extLst>
              <a:ext uri="{FF2B5EF4-FFF2-40B4-BE49-F238E27FC236}">
                <a16:creationId xmlns:a16="http://schemas.microsoft.com/office/drawing/2014/main" id="{CE4B218E-389C-FDD5-CAA8-50A8574B8938}"/>
              </a:ext>
            </a:extLst>
          </p:cNvPr>
          <p:cNvSpPr>
            <a:spLocks noGrp="1"/>
          </p:cNvSpPr>
          <p:nvPr>
            <p:ph idx="1"/>
          </p:nvPr>
        </p:nvSpPr>
        <p:spPr/>
        <p:txBody>
          <a:bodyPr/>
          <a:lstStyle/>
          <a:p>
            <a:r>
              <a:rPr lang="en-US" b="1" dirty="0">
                <a:latin typeface="Aptos" panose="020B0004020202020204" pitchFamily="34" charset="0"/>
              </a:rPr>
              <a:t>Who are Stakeholders?</a:t>
            </a:r>
            <a:r>
              <a:rPr lang="en-US" dirty="0">
                <a:latin typeface="Aptos" panose="020B0004020202020204" pitchFamily="34" charset="0"/>
              </a:rPr>
              <a:t> A stakeholder is any person, group, or community that is impacted by a project, policy, or organization's actions.</a:t>
            </a:r>
          </a:p>
          <a:p>
            <a:r>
              <a:rPr lang="en-US" b="1" dirty="0">
                <a:latin typeface="Aptos" panose="020B0004020202020204" pitchFamily="34" charset="0"/>
              </a:rPr>
              <a:t>The True Definition:</a:t>
            </a:r>
            <a:r>
              <a:rPr lang="en-US" dirty="0">
                <a:latin typeface="Aptos" panose="020B0004020202020204" pitchFamily="34" charset="0"/>
              </a:rPr>
              <a:t> Stakeholder management is the process of organizing, tracking, and improving your relationships with these groups. What it isn't: It is not public relations, marketing, or a trick to manipulate people into doing what you want.</a:t>
            </a:r>
          </a:p>
          <a:p>
            <a:r>
              <a:rPr lang="en-US" b="1" dirty="0">
                <a:latin typeface="Aptos" panose="020B0004020202020204" pitchFamily="34" charset="0"/>
              </a:rPr>
              <a:t>The Big Benefits:</a:t>
            </a:r>
            <a:r>
              <a:rPr lang="en-US" dirty="0">
                <a:latin typeface="Aptos" panose="020B0004020202020204" pitchFamily="34" charset="0"/>
              </a:rPr>
              <a:t> Doing this well provides massive advantages. It helps a company build a good reputation, avoid project delays, manage risks, and meet legal privacy and reporting requirements.</a:t>
            </a:r>
          </a:p>
        </p:txBody>
      </p:sp>
    </p:spTree>
    <p:extLst>
      <p:ext uri="{BB962C8B-B14F-4D97-AF65-F5344CB8AC3E}">
        <p14:creationId xmlns:p14="http://schemas.microsoft.com/office/powerpoint/2010/main" val="40760709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EA7F1-5BD2-C8C6-586F-9FF51E0F03C9}"/>
              </a:ext>
            </a:extLst>
          </p:cNvPr>
          <p:cNvSpPr>
            <a:spLocks noGrp="1"/>
          </p:cNvSpPr>
          <p:nvPr>
            <p:ph type="title"/>
          </p:nvPr>
        </p:nvSpPr>
        <p:spPr/>
        <p:txBody>
          <a:bodyPr>
            <a:noAutofit/>
          </a:bodyPr>
          <a:lstStyle/>
          <a:p>
            <a:r>
              <a:rPr lang="en-US" sz="2800" b="1" dirty="0">
                <a:latin typeface="Aptos" panose="020B0004020202020204" pitchFamily="34" charset="0"/>
              </a:rPr>
              <a:t>Analyzing and Mapping Your Stakeholders</a:t>
            </a:r>
            <a:br>
              <a:rPr lang="en-US" sz="2800" b="1" dirty="0">
                <a:latin typeface="Aptos" panose="020B0004020202020204" pitchFamily="34" charset="0"/>
              </a:rPr>
            </a:br>
            <a:r>
              <a:rPr lang="en-US" sz="2800" dirty="0">
                <a:latin typeface="Aptos" panose="020B0004020202020204" pitchFamily="34" charset="0"/>
              </a:rPr>
              <a:t>Understanding Needs, Gathering Data, Stakeholder Mapping</a:t>
            </a:r>
          </a:p>
        </p:txBody>
      </p:sp>
      <p:sp>
        <p:nvSpPr>
          <p:cNvPr id="3" name="Content Placeholder 2">
            <a:extLst>
              <a:ext uri="{FF2B5EF4-FFF2-40B4-BE49-F238E27FC236}">
                <a16:creationId xmlns:a16="http://schemas.microsoft.com/office/drawing/2014/main" id="{866C25EE-9857-9CF2-3B3A-6B5FEF4E4E0E}"/>
              </a:ext>
            </a:extLst>
          </p:cNvPr>
          <p:cNvSpPr>
            <a:spLocks noGrp="1"/>
          </p:cNvSpPr>
          <p:nvPr>
            <p:ph idx="1"/>
          </p:nvPr>
        </p:nvSpPr>
        <p:spPr/>
        <p:txBody>
          <a:bodyPr/>
          <a:lstStyle/>
          <a:p>
            <a:r>
              <a:rPr lang="en-US" b="1" dirty="0">
                <a:latin typeface="Aptos" panose="020B0004020202020204" pitchFamily="34" charset="0"/>
              </a:rPr>
              <a:t>Understanding Needs:</a:t>
            </a:r>
            <a:r>
              <a:rPr lang="en-US" dirty="0">
                <a:latin typeface="Aptos" panose="020B0004020202020204" pitchFamily="34" charset="0"/>
              </a:rPr>
              <a:t> Before you can engage with stakeholders, you have to understand them. This means looking closely at their expectations, financial or emotional interests, hidden motivations, and how they currently view your project.</a:t>
            </a:r>
          </a:p>
          <a:p>
            <a:r>
              <a:rPr lang="en-US" b="1" dirty="0">
                <a:latin typeface="Aptos" panose="020B0004020202020204" pitchFamily="34" charset="0"/>
              </a:rPr>
              <a:t>Stakeholder Mapping:</a:t>
            </a:r>
            <a:r>
              <a:rPr lang="en-US" dirty="0">
                <a:latin typeface="Aptos" panose="020B0004020202020204" pitchFamily="34" charset="0"/>
              </a:rPr>
              <a:t> Because you can't treat everyone exactly the same, you need to "map" or categorize them. This involves visually plotting stakeholders on a chart based on specific criteria.</a:t>
            </a:r>
          </a:p>
          <a:p>
            <a:r>
              <a:rPr lang="en-US" b="1" dirty="0">
                <a:latin typeface="Aptos" panose="020B0004020202020204" pitchFamily="34" charset="0"/>
              </a:rPr>
              <a:t>Common Mapping Methods:</a:t>
            </a:r>
            <a:r>
              <a:rPr lang="en-US" dirty="0">
                <a:latin typeface="Aptos" panose="020B0004020202020204" pitchFamily="34" charset="0"/>
              </a:rPr>
              <a:t> A popular method is looking at a stakeholder's Influence (how much power they have over the project), Interest (how much they care about the project), and Impact (how much the project affects them). This helps you prioritize who needs the most attention.</a:t>
            </a:r>
          </a:p>
        </p:txBody>
      </p:sp>
    </p:spTree>
    <p:extLst>
      <p:ext uri="{BB962C8B-B14F-4D97-AF65-F5344CB8AC3E}">
        <p14:creationId xmlns:p14="http://schemas.microsoft.com/office/powerpoint/2010/main" val="28082581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61BB5-5D51-3C52-1B03-BE9066AE3388}"/>
              </a:ext>
            </a:extLst>
          </p:cNvPr>
          <p:cNvSpPr>
            <a:spLocks noGrp="1"/>
          </p:cNvSpPr>
          <p:nvPr>
            <p:ph type="title"/>
          </p:nvPr>
        </p:nvSpPr>
        <p:spPr/>
        <p:txBody>
          <a:bodyPr>
            <a:noAutofit/>
          </a:bodyPr>
          <a:lstStyle/>
          <a:p>
            <a:r>
              <a:rPr lang="en-US" sz="2800" b="1" dirty="0">
                <a:latin typeface="Aptos" panose="020B0004020202020204" pitchFamily="34" charset="0"/>
              </a:rPr>
              <a:t>Creating Your Management Plan</a:t>
            </a:r>
            <a:br>
              <a:rPr lang="en-US" sz="2800" b="1" dirty="0">
                <a:latin typeface="Aptos" panose="020B0004020202020204" pitchFamily="34" charset="0"/>
              </a:rPr>
            </a:br>
            <a:r>
              <a:rPr lang="en-US" sz="2800" dirty="0">
                <a:latin typeface="Aptos" panose="020B0004020202020204" pitchFamily="34" charset="0"/>
              </a:rPr>
              <a:t>The Stakeholder Management Plan, Key Questions to Ask, Tracking Changes</a:t>
            </a:r>
          </a:p>
        </p:txBody>
      </p:sp>
      <p:sp>
        <p:nvSpPr>
          <p:cNvPr id="3" name="Content Placeholder 2">
            <a:extLst>
              <a:ext uri="{FF2B5EF4-FFF2-40B4-BE49-F238E27FC236}">
                <a16:creationId xmlns:a16="http://schemas.microsoft.com/office/drawing/2014/main" id="{35BCB721-5ADD-54D4-1E58-E40CD96418CC}"/>
              </a:ext>
            </a:extLst>
          </p:cNvPr>
          <p:cNvSpPr>
            <a:spLocks noGrp="1"/>
          </p:cNvSpPr>
          <p:nvPr>
            <p:ph idx="1"/>
          </p:nvPr>
        </p:nvSpPr>
        <p:spPr/>
        <p:txBody>
          <a:bodyPr/>
          <a:lstStyle/>
          <a:p>
            <a:r>
              <a:rPr lang="en-US" b="1" dirty="0">
                <a:latin typeface="Aptos" panose="020B0004020202020204" pitchFamily="34" charset="0"/>
              </a:rPr>
              <a:t>Creating a Plan:</a:t>
            </a:r>
            <a:r>
              <a:rPr lang="en-US" dirty="0">
                <a:latin typeface="Aptos" panose="020B0004020202020204" pitchFamily="34" charset="0"/>
              </a:rPr>
              <a:t> A Stakeholder Management Plan is a clear, written strategy on how your team will engage with different groups throughout the entire life of the project.</a:t>
            </a:r>
          </a:p>
          <a:p>
            <a:r>
              <a:rPr lang="en-US" b="1" dirty="0">
                <a:latin typeface="Aptos" panose="020B0004020202020204" pitchFamily="34" charset="0"/>
              </a:rPr>
              <a:t>Key Questions to Ask:</a:t>
            </a:r>
            <a:r>
              <a:rPr lang="en-US" dirty="0">
                <a:latin typeface="Aptos" panose="020B0004020202020204" pitchFamily="34" charset="0"/>
              </a:rPr>
              <a:t> To build this plan, business leaders must ask: Why are we consulting these people? What are their biggest issues? What is the best way to communicate with them (e.g., email, town halls, surveys)? Who on our team is responsible for talking to them?</a:t>
            </a:r>
          </a:p>
          <a:p>
            <a:r>
              <a:rPr lang="en-US" b="1" dirty="0">
                <a:latin typeface="Aptos" panose="020B0004020202020204" pitchFamily="34" charset="0"/>
              </a:rPr>
              <a:t>Tracking Changes:</a:t>
            </a:r>
            <a:r>
              <a:rPr lang="en-US" dirty="0">
                <a:latin typeface="Aptos" panose="020B0004020202020204" pitchFamily="34" charset="0"/>
              </a:rPr>
              <a:t> People change their minds. A stakeholder who is highly supportive today might become frustrated tomorrow. A good management process tracks these shifting relationships over time so the project can quickly adapt to new challenges.</a:t>
            </a:r>
          </a:p>
        </p:txBody>
      </p:sp>
    </p:spTree>
    <p:extLst>
      <p:ext uri="{BB962C8B-B14F-4D97-AF65-F5344CB8AC3E}">
        <p14:creationId xmlns:p14="http://schemas.microsoft.com/office/powerpoint/2010/main" val="406967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1346C-D919-D846-763E-817BEA7D235D}"/>
              </a:ext>
            </a:extLst>
          </p:cNvPr>
          <p:cNvSpPr>
            <a:spLocks noGrp="1"/>
          </p:cNvSpPr>
          <p:nvPr>
            <p:ph type="title"/>
          </p:nvPr>
        </p:nvSpPr>
        <p:spPr/>
        <p:txBody>
          <a:bodyPr>
            <a:normAutofit/>
          </a:bodyPr>
          <a:lstStyle/>
          <a:p>
            <a:r>
              <a:rPr lang="en-US" sz="3200" b="1" dirty="0">
                <a:latin typeface="Aptos" panose="020B0004020202020204" pitchFamily="34" charset="0"/>
              </a:rPr>
              <a:t>Table of Contents</a:t>
            </a:r>
          </a:p>
        </p:txBody>
      </p:sp>
      <p:sp>
        <p:nvSpPr>
          <p:cNvPr id="3" name="Content Placeholder 2">
            <a:extLst>
              <a:ext uri="{FF2B5EF4-FFF2-40B4-BE49-F238E27FC236}">
                <a16:creationId xmlns:a16="http://schemas.microsoft.com/office/drawing/2014/main" id="{4D4D5211-7AF6-C679-907B-15485D535BCE}"/>
              </a:ext>
            </a:extLst>
          </p:cNvPr>
          <p:cNvSpPr>
            <a:spLocks noGrp="1"/>
          </p:cNvSpPr>
          <p:nvPr>
            <p:ph idx="1"/>
          </p:nvPr>
        </p:nvSpPr>
        <p:spPr>
          <a:xfrm>
            <a:off x="2589212" y="1468877"/>
            <a:ext cx="8915400" cy="4442345"/>
          </a:xfrm>
        </p:spPr>
        <p:txBody>
          <a:bodyPr>
            <a:noAutofit/>
          </a:bodyPr>
          <a:lstStyle/>
          <a:p>
            <a:r>
              <a:rPr lang="en-US" sz="2000" dirty="0">
                <a:latin typeface="Aptos" panose="020B0004020202020204" pitchFamily="34" charset="0"/>
              </a:rPr>
              <a:t>The Starting Point</a:t>
            </a:r>
          </a:p>
          <a:p>
            <a:r>
              <a:rPr lang="en-US" sz="2000" dirty="0">
                <a:latin typeface="Aptos" panose="020B0004020202020204" pitchFamily="34" charset="0"/>
              </a:rPr>
              <a:t>Making Sense of the Noise</a:t>
            </a:r>
          </a:p>
          <a:p>
            <a:r>
              <a:rPr lang="en-US" sz="2000" dirty="0">
                <a:latin typeface="Aptos" panose="020B0004020202020204" pitchFamily="34" charset="0"/>
              </a:rPr>
              <a:t>Why Do We Process Data?</a:t>
            </a:r>
          </a:p>
          <a:p>
            <a:r>
              <a:rPr lang="en-US" sz="2000" dirty="0">
                <a:latin typeface="Aptos" panose="020B0004020202020204" pitchFamily="34" charset="0"/>
              </a:rPr>
              <a:t>Laying the Foundation</a:t>
            </a:r>
          </a:p>
          <a:p>
            <a:r>
              <a:rPr lang="en-US" sz="2000" dirty="0">
                <a:latin typeface="Aptos" panose="020B0004020202020204" pitchFamily="34" charset="0"/>
              </a:rPr>
              <a:t>Bringing the Strategy to Life</a:t>
            </a:r>
          </a:p>
          <a:p>
            <a:r>
              <a:rPr lang="en-US" sz="2000" dirty="0">
                <a:latin typeface="Aptos" panose="020B0004020202020204" pitchFamily="34" charset="0"/>
              </a:rPr>
              <a:t>Measuring Success and Growing</a:t>
            </a:r>
          </a:p>
          <a:p>
            <a:r>
              <a:rPr lang="en-US" sz="2000" dirty="0">
                <a:latin typeface="Aptos" panose="020B0004020202020204" pitchFamily="34" charset="0"/>
              </a:rPr>
              <a:t>Why Information is the Key to Success</a:t>
            </a:r>
          </a:p>
          <a:p>
            <a:r>
              <a:rPr lang="en-US" sz="2000" dirty="0">
                <a:latin typeface="Aptos" panose="020B0004020202020204" pitchFamily="34" charset="0"/>
              </a:rPr>
              <a:t>When Things Go Wrong</a:t>
            </a:r>
          </a:p>
          <a:p>
            <a:r>
              <a:rPr lang="en-US" sz="2000" dirty="0">
                <a:latin typeface="Aptos" panose="020B0004020202020204" pitchFamily="34" charset="0"/>
              </a:rPr>
              <a:t>Fixing the Information Gap</a:t>
            </a:r>
          </a:p>
        </p:txBody>
      </p:sp>
    </p:spTree>
    <p:extLst>
      <p:ext uri="{BB962C8B-B14F-4D97-AF65-F5344CB8AC3E}">
        <p14:creationId xmlns:p14="http://schemas.microsoft.com/office/powerpoint/2010/main" val="36446463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DA440-C83A-1E1D-01C3-1F9A92C59011}"/>
              </a:ext>
            </a:extLst>
          </p:cNvPr>
          <p:cNvSpPr>
            <a:spLocks noGrp="1"/>
          </p:cNvSpPr>
          <p:nvPr>
            <p:ph type="title"/>
          </p:nvPr>
        </p:nvSpPr>
        <p:spPr/>
        <p:txBody>
          <a:bodyPr>
            <a:noAutofit/>
          </a:bodyPr>
          <a:lstStyle/>
          <a:p>
            <a:r>
              <a:rPr lang="en-US" sz="2800" b="1" dirty="0">
                <a:latin typeface="Aptos" panose="020B0004020202020204" pitchFamily="34" charset="0"/>
              </a:rPr>
              <a:t>What is Raw Data?</a:t>
            </a:r>
            <a:br>
              <a:rPr lang="en-US" sz="2800" b="1" dirty="0">
                <a:latin typeface="Aptos" panose="020B0004020202020204" pitchFamily="34" charset="0"/>
              </a:rPr>
            </a:br>
            <a:r>
              <a:rPr lang="en-US" sz="2800" dirty="0">
                <a:latin typeface="Aptos" panose="020B0004020202020204" pitchFamily="34" charset="0"/>
              </a:rPr>
              <a:t>The Definition, Common Examples, Key Characteristics</a:t>
            </a:r>
          </a:p>
        </p:txBody>
      </p:sp>
      <p:sp>
        <p:nvSpPr>
          <p:cNvPr id="3" name="Content Placeholder 2">
            <a:extLst>
              <a:ext uri="{FF2B5EF4-FFF2-40B4-BE49-F238E27FC236}">
                <a16:creationId xmlns:a16="http://schemas.microsoft.com/office/drawing/2014/main" id="{7CB28C76-53FD-E54E-1A65-4CA693C3D14E}"/>
              </a:ext>
            </a:extLst>
          </p:cNvPr>
          <p:cNvSpPr>
            <a:spLocks noGrp="1"/>
          </p:cNvSpPr>
          <p:nvPr>
            <p:ph idx="1"/>
          </p:nvPr>
        </p:nvSpPr>
        <p:spPr/>
        <p:txBody>
          <a:bodyPr>
            <a:normAutofit/>
          </a:bodyPr>
          <a:lstStyle/>
          <a:p>
            <a:r>
              <a:rPr lang="en-US" dirty="0">
                <a:latin typeface="Aptos" panose="020B0004020202020204" pitchFamily="34" charset="0"/>
              </a:rPr>
              <a:t>The Basics: Raw data (sometimes called unprocessed data) is the original, untouched information collected directly from a source. It is exactly as it was gathered, before anyone has had a chance to clean it up, organize it, or analyze it.</a:t>
            </a:r>
          </a:p>
          <a:p>
            <a:r>
              <a:rPr lang="en-US" dirty="0">
                <a:latin typeface="Aptos" panose="020B0004020202020204" pitchFamily="34" charset="0"/>
              </a:rPr>
              <a:t>Common Examples: Raw data is everywhere. It can be a massive list of individual answers from a customer survey, a raw audio file, a log of every single transaction at a cash register, or the unedited sensor readings from a smartwatch.</a:t>
            </a:r>
          </a:p>
          <a:p>
            <a:r>
              <a:rPr lang="en-US" dirty="0">
                <a:latin typeface="Aptos" panose="020B0004020202020204" pitchFamily="34" charset="0"/>
              </a:rPr>
              <a:t>Key Characteristics:</a:t>
            </a:r>
          </a:p>
          <a:p>
            <a:pPr lvl="1"/>
            <a:r>
              <a:rPr lang="en-US" dirty="0">
                <a:latin typeface="Aptos" panose="020B0004020202020204" pitchFamily="34" charset="0"/>
              </a:rPr>
              <a:t>Unfiltered &amp; Messy: It remains exactly as it was collected.</a:t>
            </a:r>
          </a:p>
          <a:p>
            <a:pPr lvl="1"/>
            <a:r>
              <a:rPr lang="en-US" dirty="0">
                <a:latin typeface="Aptos" panose="020B0004020202020204" pitchFamily="34" charset="0"/>
              </a:rPr>
              <a:t>Massive Volume: It is usually a huge, overwhelming amount of information.</a:t>
            </a:r>
          </a:p>
          <a:p>
            <a:pPr lvl="1"/>
            <a:r>
              <a:rPr lang="en-US" dirty="0">
                <a:latin typeface="Aptos" panose="020B0004020202020204" pitchFamily="34" charset="0"/>
              </a:rPr>
              <a:t>Prone to Errors: Because it is untouched, it often contains duplicates, typos, or irrelevant blank spaces.</a:t>
            </a:r>
          </a:p>
        </p:txBody>
      </p:sp>
    </p:spTree>
    <p:extLst>
      <p:ext uri="{BB962C8B-B14F-4D97-AF65-F5344CB8AC3E}">
        <p14:creationId xmlns:p14="http://schemas.microsoft.com/office/powerpoint/2010/main" val="6724436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4BAF9-089B-46A0-7C69-32E8671C788F}"/>
              </a:ext>
            </a:extLst>
          </p:cNvPr>
          <p:cNvSpPr>
            <a:spLocks noGrp="1"/>
          </p:cNvSpPr>
          <p:nvPr>
            <p:ph type="title"/>
          </p:nvPr>
        </p:nvSpPr>
        <p:spPr/>
        <p:txBody>
          <a:bodyPr>
            <a:noAutofit/>
          </a:bodyPr>
          <a:lstStyle/>
          <a:p>
            <a:r>
              <a:rPr lang="en-US" sz="2800" b="1" dirty="0">
                <a:latin typeface="Aptos" panose="020B0004020202020204" pitchFamily="34" charset="0"/>
              </a:rPr>
              <a:t>What is Processed Data?</a:t>
            </a:r>
            <a:br>
              <a:rPr lang="en-US" sz="2800" b="1" dirty="0">
                <a:latin typeface="Aptos" panose="020B0004020202020204" pitchFamily="34" charset="0"/>
              </a:rPr>
            </a:br>
            <a:r>
              <a:rPr lang="en-US" sz="2800" dirty="0">
                <a:latin typeface="Aptos" panose="020B0004020202020204" pitchFamily="34" charset="0"/>
              </a:rPr>
              <a:t>The Definition, How It Transforms, Key Characteristics</a:t>
            </a:r>
          </a:p>
        </p:txBody>
      </p:sp>
      <p:sp>
        <p:nvSpPr>
          <p:cNvPr id="3" name="Content Placeholder 2">
            <a:extLst>
              <a:ext uri="{FF2B5EF4-FFF2-40B4-BE49-F238E27FC236}">
                <a16:creationId xmlns:a16="http://schemas.microsoft.com/office/drawing/2014/main" id="{F74108B6-8152-B3FA-B5D0-9C181F358496}"/>
              </a:ext>
            </a:extLst>
          </p:cNvPr>
          <p:cNvSpPr>
            <a:spLocks noGrp="1"/>
          </p:cNvSpPr>
          <p:nvPr>
            <p:ph idx="1"/>
          </p:nvPr>
        </p:nvSpPr>
        <p:spPr/>
        <p:txBody>
          <a:bodyPr>
            <a:normAutofit/>
          </a:bodyPr>
          <a:lstStyle/>
          <a:p>
            <a:r>
              <a:rPr lang="en-US" b="1" dirty="0">
                <a:latin typeface="Aptos" panose="020B0004020202020204" pitchFamily="34" charset="0"/>
              </a:rPr>
              <a:t>The Basics:</a:t>
            </a:r>
            <a:r>
              <a:rPr lang="en-US" dirty="0">
                <a:latin typeface="Aptos" panose="020B0004020202020204" pitchFamily="34" charset="0"/>
              </a:rPr>
              <a:t> Processed data is raw data that has gone through a digital makeover. It has been transformed, cleaned, and organized so that humans and computers can actually understand it and use it to find meaningful patterns.</a:t>
            </a:r>
          </a:p>
          <a:p>
            <a:r>
              <a:rPr lang="en-US" b="1" dirty="0">
                <a:latin typeface="Aptos" panose="020B0004020202020204" pitchFamily="34" charset="0"/>
              </a:rPr>
              <a:t>How the Transformation Happens:</a:t>
            </a:r>
            <a:r>
              <a:rPr lang="en-US" dirty="0">
                <a:latin typeface="Aptos" panose="020B0004020202020204" pitchFamily="34" charset="0"/>
              </a:rPr>
              <a:t> To process data, a team goes through a few specific steps:</a:t>
            </a:r>
          </a:p>
          <a:p>
            <a:pPr lvl="1"/>
            <a:r>
              <a:rPr lang="en-US" b="1" dirty="0">
                <a:latin typeface="Aptos" panose="020B0004020202020204" pitchFamily="34" charset="0"/>
              </a:rPr>
              <a:t>Cleaning:</a:t>
            </a:r>
            <a:r>
              <a:rPr lang="en-US" dirty="0">
                <a:latin typeface="Aptos" panose="020B0004020202020204" pitchFamily="34" charset="0"/>
              </a:rPr>
              <a:t> Deleting duplicate files, fixing typos, and removing useless information.</a:t>
            </a:r>
          </a:p>
          <a:p>
            <a:pPr lvl="1"/>
            <a:r>
              <a:rPr lang="en-US" b="1" dirty="0">
                <a:latin typeface="Aptos" panose="020B0004020202020204" pitchFamily="34" charset="0"/>
              </a:rPr>
              <a:t>Organizing:</a:t>
            </a:r>
            <a:r>
              <a:rPr lang="en-US" dirty="0">
                <a:latin typeface="Aptos" panose="020B0004020202020204" pitchFamily="34" charset="0"/>
              </a:rPr>
              <a:t> Formatting the data neatly into structured tables, charts, or databases.</a:t>
            </a:r>
          </a:p>
          <a:p>
            <a:pPr lvl="1"/>
            <a:r>
              <a:rPr lang="en-US" b="1" dirty="0">
                <a:latin typeface="Aptos" panose="020B0004020202020204" pitchFamily="34" charset="0"/>
              </a:rPr>
              <a:t>Aggregating:</a:t>
            </a:r>
            <a:r>
              <a:rPr lang="en-US" dirty="0">
                <a:latin typeface="Aptos" panose="020B0004020202020204" pitchFamily="34" charset="0"/>
              </a:rPr>
              <a:t> Summarizing massive lists of numbers into simple totals or averages.</a:t>
            </a:r>
          </a:p>
          <a:p>
            <a:r>
              <a:rPr lang="en-US" b="1" dirty="0">
                <a:latin typeface="Aptos" panose="020B0004020202020204" pitchFamily="34" charset="0"/>
              </a:rPr>
              <a:t>Key Characteristics:</a:t>
            </a:r>
            <a:r>
              <a:rPr lang="en-US" dirty="0">
                <a:latin typeface="Aptos" panose="020B0004020202020204" pitchFamily="34" charset="0"/>
              </a:rPr>
              <a:t> Unlike raw data, processed data is clean, highly structured, very reliable, and specifically designed to highlight trends and insights.</a:t>
            </a:r>
          </a:p>
        </p:txBody>
      </p:sp>
    </p:spTree>
    <p:extLst>
      <p:ext uri="{BB962C8B-B14F-4D97-AF65-F5344CB8AC3E}">
        <p14:creationId xmlns:p14="http://schemas.microsoft.com/office/powerpoint/2010/main" val="28240625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106F5-FA37-5FEA-7D5C-57B9F1A94926}"/>
              </a:ext>
            </a:extLst>
          </p:cNvPr>
          <p:cNvSpPr>
            <a:spLocks noGrp="1"/>
          </p:cNvSpPr>
          <p:nvPr>
            <p:ph type="title"/>
          </p:nvPr>
        </p:nvSpPr>
        <p:spPr/>
        <p:txBody>
          <a:bodyPr>
            <a:noAutofit/>
          </a:bodyPr>
          <a:lstStyle/>
          <a:p>
            <a:r>
              <a:rPr lang="en-US" sz="2800" b="1" dirty="0">
                <a:latin typeface="Aptos" panose="020B0004020202020204" pitchFamily="34" charset="0"/>
              </a:rPr>
              <a:t>The Key Difference and Real-World Value</a:t>
            </a:r>
            <a:br>
              <a:rPr lang="en-US" sz="2800" b="1" dirty="0">
                <a:latin typeface="Aptos" panose="020B0004020202020204" pitchFamily="34" charset="0"/>
              </a:rPr>
            </a:br>
            <a:r>
              <a:rPr lang="en-US" sz="2800" dirty="0">
                <a:latin typeface="Aptos" panose="020B0004020202020204" pitchFamily="34" charset="0"/>
              </a:rPr>
              <a:t>A Quick Comparison, The Importance of Processing, The Ultimate Goal</a:t>
            </a:r>
          </a:p>
        </p:txBody>
      </p:sp>
      <p:sp>
        <p:nvSpPr>
          <p:cNvPr id="3" name="Content Placeholder 2">
            <a:extLst>
              <a:ext uri="{FF2B5EF4-FFF2-40B4-BE49-F238E27FC236}">
                <a16:creationId xmlns:a16="http://schemas.microsoft.com/office/drawing/2014/main" id="{62A01A36-DFBE-B7C2-2D5C-C3B84EF5F395}"/>
              </a:ext>
            </a:extLst>
          </p:cNvPr>
          <p:cNvSpPr>
            <a:spLocks noGrp="1"/>
          </p:cNvSpPr>
          <p:nvPr>
            <p:ph idx="1"/>
          </p:nvPr>
        </p:nvSpPr>
        <p:spPr>
          <a:xfrm>
            <a:off x="2589212" y="2133600"/>
            <a:ext cx="8915400" cy="4100290"/>
          </a:xfrm>
        </p:spPr>
        <p:txBody>
          <a:bodyPr>
            <a:normAutofit lnSpcReduction="10000"/>
          </a:bodyPr>
          <a:lstStyle/>
          <a:p>
            <a:r>
              <a:rPr lang="en-US" b="1" dirty="0">
                <a:latin typeface="Aptos" panose="020B0004020202020204" pitchFamily="34" charset="0"/>
              </a:rPr>
              <a:t>The Big Differences:</a:t>
            </a:r>
          </a:p>
          <a:p>
            <a:pPr lvl="1"/>
            <a:r>
              <a:rPr lang="en-US" b="1" dirty="0">
                <a:latin typeface="Aptos" panose="020B0004020202020204" pitchFamily="34" charset="0"/>
              </a:rPr>
              <a:t>Usability:</a:t>
            </a:r>
            <a:r>
              <a:rPr lang="en-US" dirty="0">
                <a:latin typeface="Aptos" panose="020B0004020202020204" pitchFamily="34" charset="0"/>
              </a:rPr>
              <a:t> Raw data is difficult to use and requires a lot of preparation. Processed data is immediately ready for reporting and analysis.</a:t>
            </a:r>
          </a:p>
          <a:p>
            <a:pPr lvl="1"/>
            <a:r>
              <a:rPr lang="en-US" b="1" dirty="0">
                <a:latin typeface="Aptos" panose="020B0004020202020204" pitchFamily="34" charset="0"/>
              </a:rPr>
              <a:t>Insights:</a:t>
            </a:r>
            <a:r>
              <a:rPr lang="en-US" dirty="0">
                <a:latin typeface="Aptos" panose="020B0004020202020204" pitchFamily="34" charset="0"/>
              </a:rPr>
              <a:t> Raw data provides almost no insights on its own. Processed data easily reveals valuable trends and business patterns.</a:t>
            </a:r>
          </a:p>
          <a:p>
            <a:pPr lvl="1"/>
            <a:r>
              <a:rPr lang="en-US" b="1" dirty="0">
                <a:latin typeface="Aptos" panose="020B0004020202020204" pitchFamily="34" charset="0"/>
              </a:rPr>
              <a:t>Size:</a:t>
            </a:r>
            <a:r>
              <a:rPr lang="en-US" dirty="0">
                <a:latin typeface="Aptos" panose="020B0004020202020204" pitchFamily="34" charset="0"/>
              </a:rPr>
              <a:t> Processed data is much smaller and easier to manage because all the "junk" has been filtered out.</a:t>
            </a:r>
          </a:p>
          <a:p>
            <a:r>
              <a:rPr lang="en-US" b="1" dirty="0">
                <a:latin typeface="Aptos" panose="020B0004020202020204" pitchFamily="34" charset="0"/>
              </a:rPr>
              <a:t>Why It Matters:</a:t>
            </a:r>
            <a:r>
              <a:rPr lang="en-US" dirty="0">
                <a:latin typeface="Aptos" panose="020B0004020202020204" pitchFamily="34" charset="0"/>
              </a:rPr>
              <a:t> Processing data is not just about staying neat; it is essential for business success. It drastically improves the accuracy of the information, saves employees massive amounts of time, and ensures a company is following legal reporting rules.</a:t>
            </a:r>
          </a:p>
          <a:p>
            <a:r>
              <a:rPr lang="en-US" b="1" dirty="0">
                <a:latin typeface="Aptos" panose="020B0004020202020204" pitchFamily="34" charset="0"/>
              </a:rPr>
              <a:t>The Ultimate Goal:</a:t>
            </a:r>
            <a:r>
              <a:rPr lang="en-US" dirty="0">
                <a:latin typeface="Aptos" panose="020B0004020202020204" pitchFamily="34" charset="0"/>
              </a:rPr>
              <a:t> At the end of the day, the goal of processing data is to turn a chaotic mountain of numbers into clear, actionable advice that helps business leaders make smart, confident decisions.</a:t>
            </a:r>
          </a:p>
        </p:txBody>
      </p:sp>
    </p:spTree>
    <p:extLst>
      <p:ext uri="{BB962C8B-B14F-4D97-AF65-F5344CB8AC3E}">
        <p14:creationId xmlns:p14="http://schemas.microsoft.com/office/powerpoint/2010/main" val="39558928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2F81E-F793-FBBD-4A9B-86EE8A45E6CB}"/>
              </a:ext>
            </a:extLst>
          </p:cNvPr>
          <p:cNvSpPr>
            <a:spLocks noGrp="1"/>
          </p:cNvSpPr>
          <p:nvPr>
            <p:ph type="title"/>
          </p:nvPr>
        </p:nvSpPr>
        <p:spPr/>
        <p:txBody>
          <a:bodyPr>
            <a:noAutofit/>
          </a:bodyPr>
          <a:lstStyle/>
          <a:p>
            <a:r>
              <a:rPr lang="en-US" sz="2800" b="1" dirty="0">
                <a:latin typeface="Aptos" panose="020B0004020202020204" pitchFamily="34" charset="0"/>
              </a:rPr>
              <a:t>Getting Started with Better Information Management</a:t>
            </a:r>
            <a:br>
              <a:rPr lang="en-US" sz="2800" b="1" dirty="0">
                <a:latin typeface="Aptos" panose="020B0004020202020204" pitchFamily="34" charset="0"/>
              </a:rPr>
            </a:br>
            <a:r>
              <a:rPr lang="en-US" sz="2800" dirty="0">
                <a:latin typeface="Aptos" panose="020B0004020202020204" pitchFamily="34" charset="0"/>
              </a:rPr>
              <a:t>The Core Challenge, Starting Small, Creating a Shared Vocabulary</a:t>
            </a:r>
          </a:p>
        </p:txBody>
      </p:sp>
      <p:sp>
        <p:nvSpPr>
          <p:cNvPr id="3" name="Content Placeholder 2">
            <a:extLst>
              <a:ext uri="{FF2B5EF4-FFF2-40B4-BE49-F238E27FC236}">
                <a16:creationId xmlns:a16="http://schemas.microsoft.com/office/drawing/2014/main" id="{0787BAB0-2EE2-1F69-6A43-B461F27BF625}"/>
              </a:ext>
            </a:extLst>
          </p:cNvPr>
          <p:cNvSpPr>
            <a:spLocks noGrp="1"/>
          </p:cNvSpPr>
          <p:nvPr>
            <p:ph idx="1"/>
          </p:nvPr>
        </p:nvSpPr>
        <p:spPr/>
        <p:txBody>
          <a:bodyPr>
            <a:normAutofit/>
          </a:bodyPr>
          <a:lstStyle/>
          <a:p>
            <a:r>
              <a:rPr lang="en-US" b="1" dirty="0">
                <a:latin typeface="Aptos" panose="020B0004020202020204" pitchFamily="34" charset="0"/>
              </a:rPr>
              <a:t>The Core Challenge:</a:t>
            </a:r>
            <a:r>
              <a:rPr lang="en-US" dirty="0">
                <a:latin typeface="Aptos" panose="020B0004020202020204" pitchFamily="34" charset="0"/>
              </a:rPr>
              <a:t> Businesses change rapidly, and managing massive amounts of company data can feel overwhelming (like trying to "boil the ocean"). To get real value out of technology, a company must focus on how information is organized and accessed.</a:t>
            </a:r>
          </a:p>
          <a:p>
            <a:r>
              <a:rPr lang="en-US" b="1" dirty="0">
                <a:latin typeface="Aptos" panose="020B0004020202020204" pitchFamily="34" charset="0"/>
              </a:rPr>
              <a:t>Step 1:</a:t>
            </a:r>
            <a:r>
              <a:rPr lang="en-US" dirty="0">
                <a:latin typeface="Aptos" panose="020B0004020202020204" pitchFamily="34" charset="0"/>
              </a:rPr>
              <a:t> Start with One Process: Don't try to fix the whole company at once! Pick one specific business problem or department to focus on first. However, always keep the broader company in mind so you don't accidentally create isolated "silos" of information.</a:t>
            </a:r>
          </a:p>
          <a:p>
            <a:r>
              <a:rPr lang="en-US" b="1" dirty="0">
                <a:latin typeface="Aptos" panose="020B0004020202020204" pitchFamily="34" charset="0"/>
              </a:rPr>
              <a:t>Step 2:</a:t>
            </a:r>
            <a:r>
              <a:rPr lang="en-US" dirty="0">
                <a:latin typeface="Aptos" panose="020B0004020202020204" pitchFamily="34" charset="0"/>
              </a:rPr>
              <a:t> Speak the Same Language: Different departments often use different words to describe the same products or risks. You must create a "common business language" across the company. Important note: This is not just a job for the IT department; everyday business workers must help define the vocabulary they actually use.</a:t>
            </a:r>
          </a:p>
        </p:txBody>
      </p:sp>
    </p:spTree>
    <p:extLst>
      <p:ext uri="{BB962C8B-B14F-4D97-AF65-F5344CB8AC3E}">
        <p14:creationId xmlns:p14="http://schemas.microsoft.com/office/powerpoint/2010/main" val="22889253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14DBB-48D1-BE50-2EB2-BDF8D539CBF9}"/>
              </a:ext>
            </a:extLst>
          </p:cNvPr>
          <p:cNvSpPr>
            <a:spLocks noGrp="1"/>
          </p:cNvSpPr>
          <p:nvPr>
            <p:ph type="title"/>
          </p:nvPr>
        </p:nvSpPr>
        <p:spPr/>
        <p:txBody>
          <a:bodyPr>
            <a:noAutofit/>
          </a:bodyPr>
          <a:lstStyle/>
          <a:p>
            <a:r>
              <a:rPr lang="en-US" sz="2800" b="1" dirty="0">
                <a:latin typeface="Aptos" panose="020B0004020202020204" pitchFamily="34" charset="0"/>
              </a:rPr>
              <a:t>Embedding Rules and Building Good Habits</a:t>
            </a:r>
            <a:br>
              <a:rPr lang="en-US" sz="2800" b="1" dirty="0">
                <a:latin typeface="Aptos" panose="020B0004020202020204" pitchFamily="34" charset="0"/>
              </a:rPr>
            </a:br>
            <a:r>
              <a:rPr lang="en-US" sz="2800" dirty="0">
                <a:latin typeface="Aptos" panose="020B0004020202020204" pitchFamily="34" charset="0"/>
              </a:rPr>
              <a:t>Updating Tools, Governing the System, Information Hygiene</a:t>
            </a:r>
          </a:p>
        </p:txBody>
      </p:sp>
      <p:sp>
        <p:nvSpPr>
          <p:cNvPr id="3" name="Content Placeholder 2">
            <a:extLst>
              <a:ext uri="{FF2B5EF4-FFF2-40B4-BE49-F238E27FC236}">
                <a16:creationId xmlns:a16="http://schemas.microsoft.com/office/drawing/2014/main" id="{4E600479-47B0-6851-FC25-19AB82A7583B}"/>
              </a:ext>
            </a:extLst>
          </p:cNvPr>
          <p:cNvSpPr>
            <a:spLocks noGrp="1"/>
          </p:cNvSpPr>
          <p:nvPr>
            <p:ph idx="1"/>
          </p:nvPr>
        </p:nvSpPr>
        <p:spPr>
          <a:xfrm>
            <a:off x="2589212" y="2133600"/>
            <a:ext cx="8915400" cy="4100290"/>
          </a:xfrm>
        </p:spPr>
        <p:txBody>
          <a:bodyPr>
            <a:normAutofit/>
          </a:bodyPr>
          <a:lstStyle/>
          <a:p>
            <a:r>
              <a:rPr lang="en-US" b="1" dirty="0">
                <a:latin typeface="Aptos" panose="020B0004020202020204" pitchFamily="34" charset="0"/>
              </a:rPr>
              <a:t>Step 3:</a:t>
            </a:r>
            <a:r>
              <a:rPr lang="en-US" dirty="0">
                <a:latin typeface="Aptos" panose="020B0004020202020204" pitchFamily="34" charset="0"/>
              </a:rPr>
              <a:t> Update Your Tools: Once you have a common vocabulary, build it directly into the everyday software your company uses (like search bars, data warehouses, and reporting tools). This ensures consistency everywhere.</a:t>
            </a:r>
          </a:p>
          <a:p>
            <a:r>
              <a:rPr lang="en-US" b="1" dirty="0">
                <a:latin typeface="Aptos" panose="020B0004020202020204" pitchFamily="34" charset="0"/>
              </a:rPr>
              <a:t>Step 4:</a:t>
            </a:r>
            <a:r>
              <a:rPr lang="en-US" dirty="0">
                <a:latin typeface="Aptos" panose="020B0004020202020204" pitchFamily="34" charset="0"/>
              </a:rPr>
              <a:t> Govern and Manage Change: Organizing data is never a "one-and-done" project. You need "Governance" (clear leaders and rules to keep the system updated as the company grows) and "Change Management" (training to ensure employees actually understand and adopt the new system).</a:t>
            </a:r>
          </a:p>
          <a:p>
            <a:r>
              <a:rPr lang="en-US" b="1" dirty="0">
                <a:latin typeface="Aptos" panose="020B0004020202020204" pitchFamily="34" charset="0"/>
              </a:rPr>
              <a:t>Step 5:</a:t>
            </a:r>
            <a:r>
              <a:rPr lang="en-US" dirty="0">
                <a:latin typeface="Aptos" panose="020B0004020202020204" pitchFamily="34" charset="0"/>
              </a:rPr>
              <a:t> Practice Good "Information Hygiene": The vast majority of new business data is messy and unstructured (like random emails, Word documents, or videos). Companies must build healthy habits by deleting outdated clutter, securely organizing active files, and assigning clear "owners" to manage important folders.</a:t>
            </a:r>
          </a:p>
        </p:txBody>
      </p:sp>
    </p:spTree>
    <p:extLst>
      <p:ext uri="{BB962C8B-B14F-4D97-AF65-F5344CB8AC3E}">
        <p14:creationId xmlns:p14="http://schemas.microsoft.com/office/powerpoint/2010/main" val="40405024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CDF0C-F87B-DED5-CD41-EAC58F5C4271}"/>
              </a:ext>
            </a:extLst>
          </p:cNvPr>
          <p:cNvSpPr>
            <a:spLocks noGrp="1"/>
          </p:cNvSpPr>
          <p:nvPr>
            <p:ph type="title"/>
          </p:nvPr>
        </p:nvSpPr>
        <p:spPr/>
        <p:txBody>
          <a:bodyPr>
            <a:noAutofit/>
          </a:bodyPr>
          <a:lstStyle/>
          <a:p>
            <a:r>
              <a:rPr lang="en-US" sz="2800" b="1" dirty="0">
                <a:latin typeface="Aptos" panose="020B0004020202020204" pitchFamily="34" charset="0"/>
              </a:rPr>
              <a:t>Tracking Impact and Expanding the Strategy</a:t>
            </a:r>
            <a:br>
              <a:rPr lang="en-US" sz="2800" b="1" dirty="0">
                <a:latin typeface="Aptos" panose="020B0004020202020204" pitchFamily="34" charset="0"/>
              </a:rPr>
            </a:br>
            <a:r>
              <a:rPr lang="en-US" sz="2800" dirty="0">
                <a:latin typeface="Aptos" panose="020B0004020202020204" pitchFamily="34" charset="0"/>
              </a:rPr>
              <a:t>Measuring Data Quality, Measuring Business Value, Scaling UP</a:t>
            </a:r>
          </a:p>
        </p:txBody>
      </p:sp>
      <p:sp>
        <p:nvSpPr>
          <p:cNvPr id="3" name="Content Placeholder 2">
            <a:extLst>
              <a:ext uri="{FF2B5EF4-FFF2-40B4-BE49-F238E27FC236}">
                <a16:creationId xmlns:a16="http://schemas.microsoft.com/office/drawing/2014/main" id="{D73960C1-054C-EB2F-D1B0-897B56B0DE02}"/>
              </a:ext>
            </a:extLst>
          </p:cNvPr>
          <p:cNvSpPr>
            <a:spLocks noGrp="1"/>
          </p:cNvSpPr>
          <p:nvPr>
            <p:ph idx="1"/>
          </p:nvPr>
        </p:nvSpPr>
        <p:spPr/>
        <p:txBody>
          <a:bodyPr>
            <a:normAutofit/>
          </a:bodyPr>
          <a:lstStyle/>
          <a:p>
            <a:r>
              <a:rPr lang="en-US" b="1" dirty="0">
                <a:latin typeface="Aptos" panose="020B0004020202020204" pitchFamily="34" charset="0"/>
              </a:rPr>
              <a:t>Step 6:</a:t>
            </a:r>
            <a:r>
              <a:rPr lang="en-US" dirty="0">
                <a:latin typeface="Aptos" panose="020B0004020202020204" pitchFamily="34" charset="0"/>
              </a:rPr>
              <a:t> Measure the Information Process: You need to track if your new cleanup efforts are actually working. Look at metrics like: Are search results more accurate? How old is our average document? How much useless clutter have we successfully deleted?</a:t>
            </a:r>
          </a:p>
          <a:p>
            <a:r>
              <a:rPr lang="en-US" b="1" dirty="0">
                <a:latin typeface="Aptos" panose="020B0004020202020204" pitchFamily="34" charset="0"/>
              </a:rPr>
              <a:t>Step 7:</a:t>
            </a:r>
            <a:r>
              <a:rPr lang="en-US" dirty="0">
                <a:latin typeface="Aptos" panose="020B0004020202020204" pitchFamily="34" charset="0"/>
              </a:rPr>
              <a:t> Measure the Business Impact: Clean data should make the company better. Track how high-quality information improves daily work. For example, does a newly organized document library help the sales team close deals faster or help customer service answer questions quicker?</a:t>
            </a:r>
          </a:p>
          <a:p>
            <a:r>
              <a:rPr lang="en-US" b="1" dirty="0">
                <a:latin typeface="Aptos" panose="020B0004020202020204" pitchFamily="34" charset="0"/>
              </a:rPr>
              <a:t>Step 8:</a:t>
            </a:r>
            <a:r>
              <a:rPr lang="en-US" dirty="0">
                <a:latin typeface="Aptos" panose="020B0004020202020204" pitchFamily="34" charset="0"/>
              </a:rPr>
              <a:t> Repeat Department by Department: Once you have successfully organized one process or department, use what you learned to create a "Center of Excellence." Use this expert team to teach these same good habits to the next department, continuing until the entire organization is transformed.</a:t>
            </a:r>
          </a:p>
        </p:txBody>
      </p:sp>
    </p:spTree>
    <p:extLst>
      <p:ext uri="{BB962C8B-B14F-4D97-AF65-F5344CB8AC3E}">
        <p14:creationId xmlns:p14="http://schemas.microsoft.com/office/powerpoint/2010/main" val="22977055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A27F7-6BE2-669C-9211-D50A46010280}"/>
              </a:ext>
            </a:extLst>
          </p:cNvPr>
          <p:cNvSpPr>
            <a:spLocks noGrp="1"/>
          </p:cNvSpPr>
          <p:nvPr>
            <p:ph type="title"/>
          </p:nvPr>
        </p:nvSpPr>
        <p:spPr/>
        <p:txBody>
          <a:bodyPr>
            <a:noAutofit/>
          </a:bodyPr>
          <a:lstStyle/>
          <a:p>
            <a:r>
              <a:rPr lang="en-US" sz="2800" b="1" dirty="0">
                <a:latin typeface="Aptos" panose="020B0004020202020204" pitchFamily="34" charset="0"/>
              </a:rPr>
              <a:t>The Power of Information in Decision Making</a:t>
            </a:r>
            <a:br>
              <a:rPr lang="en-US" sz="2800" b="1" dirty="0">
                <a:latin typeface="Aptos" panose="020B0004020202020204" pitchFamily="34" charset="0"/>
              </a:rPr>
            </a:br>
            <a:r>
              <a:rPr lang="en-US" sz="2800" dirty="0">
                <a:latin typeface="Aptos" panose="020B0004020202020204" pitchFamily="34" charset="0"/>
              </a:rPr>
              <a:t>Resource Allocation, Risk Management, Market &amp; Policy Decisions</a:t>
            </a:r>
          </a:p>
        </p:txBody>
      </p:sp>
      <p:sp>
        <p:nvSpPr>
          <p:cNvPr id="3" name="Content Placeholder 2">
            <a:extLst>
              <a:ext uri="{FF2B5EF4-FFF2-40B4-BE49-F238E27FC236}">
                <a16:creationId xmlns:a16="http://schemas.microsoft.com/office/drawing/2014/main" id="{AB6818CE-519F-5D08-96F2-65F35A15B1B7}"/>
              </a:ext>
            </a:extLst>
          </p:cNvPr>
          <p:cNvSpPr>
            <a:spLocks noGrp="1"/>
          </p:cNvSpPr>
          <p:nvPr>
            <p:ph idx="1"/>
          </p:nvPr>
        </p:nvSpPr>
        <p:spPr/>
        <p:txBody>
          <a:bodyPr/>
          <a:lstStyle/>
          <a:p>
            <a:r>
              <a:rPr lang="en-US" b="1" dirty="0">
                <a:latin typeface="Aptos" panose="020B0004020202020204" pitchFamily="34" charset="0"/>
              </a:rPr>
              <a:t>The Basics:</a:t>
            </a:r>
            <a:r>
              <a:rPr lang="en-US" dirty="0">
                <a:latin typeface="Aptos" panose="020B0004020202020204" pitchFamily="34" charset="0"/>
              </a:rPr>
              <a:t> In economics and business, everyone—from shoppers and company owners to the government—needs to make choices. Information is the fuel that makes these choices successful.</a:t>
            </a:r>
          </a:p>
          <a:p>
            <a:r>
              <a:rPr lang="en-US" b="1" dirty="0">
                <a:latin typeface="Aptos" panose="020B0004020202020204" pitchFamily="34" charset="0"/>
              </a:rPr>
              <a:t>Making Smart Choices:</a:t>
            </a:r>
            <a:r>
              <a:rPr lang="en-US" dirty="0">
                <a:latin typeface="Aptos" panose="020B0004020202020204" pitchFamily="34" charset="0"/>
              </a:rPr>
              <a:t> Good information helps businesses figure out exactly what customers want and how to produce it without wasting money. It also helps governments understand the economy so they can create policies that lower unemployment and keep prices stable.</a:t>
            </a:r>
          </a:p>
          <a:p>
            <a:r>
              <a:rPr lang="en-US" b="1" dirty="0">
                <a:latin typeface="Aptos" panose="020B0004020202020204" pitchFamily="34" charset="0"/>
              </a:rPr>
              <a:t>Managing Risks:</a:t>
            </a:r>
            <a:r>
              <a:rPr lang="en-US" dirty="0">
                <a:latin typeface="Aptos" panose="020B0004020202020204" pitchFamily="34" charset="0"/>
              </a:rPr>
              <a:t> When business leaders and investors have accurate, up-to-date data, they can see potential problems coming from a mile away. This allows them to avoid bad investments and prepare for challenges before they happen.</a:t>
            </a:r>
          </a:p>
        </p:txBody>
      </p:sp>
    </p:spTree>
    <p:extLst>
      <p:ext uri="{BB962C8B-B14F-4D97-AF65-F5344CB8AC3E}">
        <p14:creationId xmlns:p14="http://schemas.microsoft.com/office/powerpoint/2010/main" val="32709226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40072-E486-4686-C9CC-265C1511BC6C}"/>
              </a:ext>
            </a:extLst>
          </p:cNvPr>
          <p:cNvSpPr>
            <a:spLocks noGrp="1"/>
          </p:cNvSpPr>
          <p:nvPr>
            <p:ph type="title"/>
          </p:nvPr>
        </p:nvSpPr>
        <p:spPr/>
        <p:txBody>
          <a:bodyPr>
            <a:normAutofit/>
          </a:bodyPr>
          <a:lstStyle/>
          <a:p>
            <a:r>
              <a:rPr lang="en-US" sz="2800" b="1" dirty="0">
                <a:latin typeface="Aptos" panose="020B0004020202020204" pitchFamily="34" charset="0"/>
              </a:rPr>
              <a:t>The Problem of “Asymmetric Information”</a:t>
            </a:r>
            <a:br>
              <a:rPr lang="en-US" sz="2800" b="1" dirty="0">
                <a:latin typeface="Aptos" panose="020B0004020202020204" pitchFamily="34" charset="0"/>
              </a:rPr>
            </a:br>
            <a:r>
              <a:rPr lang="en-US" sz="2800" dirty="0">
                <a:latin typeface="Aptos" panose="020B0004020202020204" pitchFamily="34" charset="0"/>
              </a:rPr>
              <a:t>The Definition, Adverse Selection, Moral Hazard</a:t>
            </a:r>
          </a:p>
        </p:txBody>
      </p:sp>
      <p:sp>
        <p:nvSpPr>
          <p:cNvPr id="3" name="Content Placeholder 2">
            <a:extLst>
              <a:ext uri="{FF2B5EF4-FFF2-40B4-BE49-F238E27FC236}">
                <a16:creationId xmlns:a16="http://schemas.microsoft.com/office/drawing/2014/main" id="{ACF0DF13-59C0-259E-35FD-FD845A2DB2EA}"/>
              </a:ext>
            </a:extLst>
          </p:cNvPr>
          <p:cNvSpPr>
            <a:spLocks noGrp="1"/>
          </p:cNvSpPr>
          <p:nvPr>
            <p:ph idx="1"/>
          </p:nvPr>
        </p:nvSpPr>
        <p:spPr/>
        <p:txBody>
          <a:bodyPr/>
          <a:lstStyle/>
          <a:p>
            <a:r>
              <a:rPr lang="en-US" b="1" dirty="0">
                <a:latin typeface="Aptos" panose="020B0004020202020204" pitchFamily="34" charset="0"/>
              </a:rPr>
              <a:t>What is Asymmetric Information?</a:t>
            </a:r>
            <a:r>
              <a:rPr lang="en-US" dirty="0">
                <a:latin typeface="Aptos" panose="020B0004020202020204" pitchFamily="34" charset="0"/>
              </a:rPr>
              <a:t> This happens when one person in a deal knows a lot more than the other person. This imbalance is dangerous because it can cause a market to fail or operate unfairly.</a:t>
            </a:r>
          </a:p>
          <a:p>
            <a:r>
              <a:rPr lang="en-US" b="1" dirty="0">
                <a:latin typeface="Aptos" panose="020B0004020202020204" pitchFamily="34" charset="0"/>
              </a:rPr>
              <a:t>Adverse Selection (Hiding the Truth):</a:t>
            </a:r>
            <a:r>
              <a:rPr lang="en-US" dirty="0">
                <a:latin typeface="Aptos" panose="020B0004020202020204" pitchFamily="34" charset="0"/>
              </a:rPr>
              <a:t> This happens before a deal is made. For example, someone buying health insurance might secretly know they are sick, while the insurance company does not. This forces insurance companies to raise prices for everyone to cover the unknown risks.</a:t>
            </a:r>
          </a:p>
          <a:p>
            <a:r>
              <a:rPr lang="en-US" b="1" dirty="0">
                <a:latin typeface="Aptos" panose="020B0004020202020204" pitchFamily="34" charset="0"/>
              </a:rPr>
              <a:t>Moral Hazard (Changing Behavior):</a:t>
            </a:r>
            <a:r>
              <a:rPr lang="en-US" dirty="0">
                <a:latin typeface="Aptos" panose="020B0004020202020204" pitchFamily="34" charset="0"/>
              </a:rPr>
              <a:t> This happens after a deal is made. Once a person feels protected, they might start acting recklessly because they know the other party will pay for their mistakes. For example, someone might drive less carefully once they know their car insurance will cover any accidents.</a:t>
            </a:r>
          </a:p>
        </p:txBody>
      </p:sp>
    </p:spTree>
    <p:extLst>
      <p:ext uri="{BB962C8B-B14F-4D97-AF65-F5344CB8AC3E}">
        <p14:creationId xmlns:p14="http://schemas.microsoft.com/office/powerpoint/2010/main" val="13451595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2A616-90AE-F029-DF3B-F6B300F2B656}"/>
              </a:ext>
            </a:extLst>
          </p:cNvPr>
          <p:cNvSpPr>
            <a:spLocks noGrp="1"/>
          </p:cNvSpPr>
          <p:nvPr>
            <p:ph type="title"/>
          </p:nvPr>
        </p:nvSpPr>
        <p:spPr/>
        <p:txBody>
          <a:bodyPr>
            <a:noAutofit/>
          </a:bodyPr>
          <a:lstStyle/>
          <a:p>
            <a:r>
              <a:rPr lang="en-US" sz="2800" b="1" dirty="0">
                <a:latin typeface="Aptos" panose="020B0004020202020204" pitchFamily="34" charset="0"/>
              </a:rPr>
              <a:t>Overcoming Information Challenges</a:t>
            </a:r>
            <a:br>
              <a:rPr lang="en-US" sz="2800" b="1" dirty="0">
                <a:latin typeface="Aptos" panose="020B0004020202020204" pitchFamily="34" charset="0"/>
              </a:rPr>
            </a:br>
            <a:r>
              <a:rPr lang="en-US" sz="2800" dirty="0">
                <a:latin typeface="Aptos" panose="020B0004020202020204" pitchFamily="34" charset="0"/>
              </a:rPr>
              <a:t>The Cost of Data, Screening and Signaling, Government Rules</a:t>
            </a:r>
          </a:p>
        </p:txBody>
      </p:sp>
      <p:sp>
        <p:nvSpPr>
          <p:cNvPr id="3" name="Content Placeholder 2">
            <a:extLst>
              <a:ext uri="{FF2B5EF4-FFF2-40B4-BE49-F238E27FC236}">
                <a16:creationId xmlns:a16="http://schemas.microsoft.com/office/drawing/2014/main" id="{A6A45DE0-07D5-747F-D2D7-FF24E8B5CDB0}"/>
              </a:ext>
            </a:extLst>
          </p:cNvPr>
          <p:cNvSpPr>
            <a:spLocks noGrp="1"/>
          </p:cNvSpPr>
          <p:nvPr>
            <p:ph idx="1"/>
          </p:nvPr>
        </p:nvSpPr>
        <p:spPr/>
        <p:txBody>
          <a:bodyPr>
            <a:normAutofit/>
          </a:bodyPr>
          <a:lstStyle/>
          <a:p>
            <a:r>
              <a:rPr lang="en-US" b="1" dirty="0">
                <a:latin typeface="Aptos" panose="020B0004020202020204" pitchFamily="34" charset="0"/>
              </a:rPr>
              <a:t>The Cost Challenge:</a:t>
            </a:r>
            <a:r>
              <a:rPr lang="en-US" dirty="0">
                <a:latin typeface="Aptos" panose="020B0004020202020204" pitchFamily="34" charset="0"/>
              </a:rPr>
              <a:t> Perfect information does not exist, and gathering good data is expensive and time-consuming. Businesses always have to weigh whether the cost of researching a problem is worth the benefit of solving it.</a:t>
            </a:r>
          </a:p>
          <a:p>
            <a:r>
              <a:rPr lang="en-US" b="1" dirty="0">
                <a:latin typeface="Aptos" panose="020B0004020202020204" pitchFamily="34" charset="0"/>
              </a:rPr>
              <a:t>Screening and Signaling:</a:t>
            </a:r>
            <a:r>
              <a:rPr lang="en-US" dirty="0">
                <a:latin typeface="Aptos" panose="020B0004020202020204" pitchFamily="34" charset="0"/>
              </a:rPr>
              <a:t> To fix information imbalances, markets use two tricks:</a:t>
            </a:r>
          </a:p>
          <a:p>
            <a:pPr lvl="1"/>
            <a:r>
              <a:rPr lang="en-US" b="1" dirty="0">
                <a:latin typeface="Aptos" panose="020B0004020202020204" pitchFamily="34" charset="0"/>
              </a:rPr>
              <a:t>Screening:</a:t>
            </a:r>
            <a:r>
              <a:rPr lang="en-US" dirty="0">
                <a:latin typeface="Aptos" panose="020B0004020202020204" pitchFamily="34" charset="0"/>
              </a:rPr>
              <a:t> The party with less information tries to test the other side (e.g., an employer requiring a background check).</a:t>
            </a:r>
          </a:p>
          <a:p>
            <a:pPr lvl="1"/>
            <a:r>
              <a:rPr lang="en-US" b="1" dirty="0">
                <a:latin typeface="Aptos" panose="020B0004020202020204" pitchFamily="34" charset="0"/>
              </a:rPr>
              <a:t>Signaling:</a:t>
            </a:r>
            <a:r>
              <a:rPr lang="en-US" dirty="0">
                <a:latin typeface="Aptos" panose="020B0004020202020204" pitchFamily="34" charset="0"/>
              </a:rPr>
              <a:t> The party with more information tries to prove they are trustworthy (e.g., a car dealer offering a long warranty to prove a used car is not broken).</a:t>
            </a:r>
          </a:p>
          <a:p>
            <a:r>
              <a:rPr lang="en-US" b="1" dirty="0">
                <a:latin typeface="Aptos" panose="020B0004020202020204" pitchFamily="34" charset="0"/>
              </a:rPr>
              <a:t>Government Intervention:</a:t>
            </a:r>
            <a:r>
              <a:rPr lang="en-US" dirty="0">
                <a:latin typeface="Aptos" panose="020B0004020202020204" pitchFamily="34" charset="0"/>
              </a:rPr>
              <a:t> When markets cannot fix these gaps on their own, the government steps in. They create strict laws and disclosure rules forcing companies to be honest and share relevant information with the public.</a:t>
            </a:r>
          </a:p>
        </p:txBody>
      </p:sp>
    </p:spTree>
    <p:extLst>
      <p:ext uri="{BB962C8B-B14F-4D97-AF65-F5344CB8AC3E}">
        <p14:creationId xmlns:p14="http://schemas.microsoft.com/office/powerpoint/2010/main" val="8507546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ADA25-8170-A08D-DDC6-0A96CBE60BBC}"/>
              </a:ext>
            </a:extLst>
          </p:cNvPr>
          <p:cNvSpPr>
            <a:spLocks noGrp="1"/>
          </p:cNvSpPr>
          <p:nvPr>
            <p:ph type="title"/>
          </p:nvPr>
        </p:nvSpPr>
        <p:spPr/>
        <p:txBody>
          <a:bodyPr>
            <a:normAutofit/>
          </a:bodyPr>
          <a:lstStyle/>
          <a:p>
            <a:r>
              <a:rPr lang="en-US" sz="3200" b="1" dirty="0">
                <a:latin typeface="Aptos" panose="020B0004020202020204" pitchFamily="34" charset="0"/>
              </a:rPr>
              <a:t>Table of Contents</a:t>
            </a:r>
          </a:p>
        </p:txBody>
      </p:sp>
      <p:sp>
        <p:nvSpPr>
          <p:cNvPr id="3" name="Content Placeholder 2">
            <a:extLst>
              <a:ext uri="{FF2B5EF4-FFF2-40B4-BE49-F238E27FC236}">
                <a16:creationId xmlns:a16="http://schemas.microsoft.com/office/drawing/2014/main" id="{A896B424-D578-E68B-AFAE-193E0FC50E08}"/>
              </a:ext>
            </a:extLst>
          </p:cNvPr>
          <p:cNvSpPr>
            <a:spLocks noGrp="1"/>
          </p:cNvSpPr>
          <p:nvPr>
            <p:ph idx="1"/>
          </p:nvPr>
        </p:nvSpPr>
        <p:spPr>
          <a:xfrm>
            <a:off x="2589212" y="1449422"/>
            <a:ext cx="8915400" cy="5272392"/>
          </a:xfrm>
        </p:spPr>
        <p:txBody>
          <a:bodyPr>
            <a:noAutofit/>
          </a:bodyPr>
          <a:lstStyle/>
          <a:p>
            <a:r>
              <a:rPr lang="en-US" sz="2000" dirty="0">
                <a:latin typeface="Aptos" panose="020B0004020202020204" pitchFamily="34" charset="0"/>
              </a:rPr>
              <a:t>Introduction to Data-Driven Decisions</a:t>
            </a:r>
          </a:p>
          <a:p>
            <a:r>
              <a:rPr lang="en-US" sz="2000" dirty="0">
                <a:latin typeface="Aptos" panose="020B0004020202020204" pitchFamily="34" charset="0"/>
              </a:rPr>
              <a:t>The Step-by-Step Process</a:t>
            </a:r>
          </a:p>
          <a:p>
            <a:r>
              <a:rPr lang="en-US" sz="2000" dirty="0">
                <a:latin typeface="Aptos" panose="020B0004020202020204" pitchFamily="34" charset="0"/>
              </a:rPr>
              <a:t>Best Practices and Real-World Success</a:t>
            </a:r>
          </a:p>
          <a:p>
            <a:r>
              <a:rPr lang="en-US" sz="2000" dirty="0">
                <a:latin typeface="Aptos" panose="020B0004020202020204" pitchFamily="34" charset="0"/>
              </a:rPr>
              <a:t>Introduction to Data-Driven Decisions</a:t>
            </a:r>
          </a:p>
          <a:p>
            <a:r>
              <a:rPr lang="en-US" sz="2000" dirty="0">
                <a:latin typeface="Aptos" panose="020B0004020202020204" pitchFamily="34" charset="0"/>
              </a:rPr>
              <a:t>Setting the Strategy</a:t>
            </a:r>
          </a:p>
          <a:p>
            <a:r>
              <a:rPr lang="en-US" sz="2000" dirty="0">
                <a:latin typeface="Aptos" panose="020B0004020202020204" pitchFamily="34" charset="0"/>
              </a:rPr>
              <a:t>Taking Action</a:t>
            </a:r>
          </a:p>
          <a:p>
            <a:r>
              <a:rPr lang="en-US" sz="2000" dirty="0">
                <a:latin typeface="Aptos" panose="020B0004020202020204" pitchFamily="34" charset="0"/>
              </a:rPr>
              <a:t>What is Data-Driven Decision Making?</a:t>
            </a:r>
          </a:p>
          <a:p>
            <a:r>
              <a:rPr lang="en-US" sz="2000" dirty="0">
                <a:latin typeface="Aptos" panose="020B0004020202020204" pitchFamily="34" charset="0"/>
              </a:rPr>
              <a:t>The 5-Step Strategy</a:t>
            </a:r>
          </a:p>
          <a:p>
            <a:r>
              <a:rPr lang="en-US" sz="2000" dirty="0">
                <a:latin typeface="Aptos" panose="020B0004020202020204" pitchFamily="34" charset="0"/>
              </a:rPr>
              <a:t>Real-World Success and Key Careers</a:t>
            </a:r>
          </a:p>
          <a:p>
            <a:r>
              <a:rPr lang="en-US" sz="2000" dirty="0">
                <a:latin typeface="Aptos" panose="020B0004020202020204" pitchFamily="34" charset="0"/>
              </a:rPr>
              <a:t>The Risks of Data-Driven Decisions</a:t>
            </a:r>
          </a:p>
          <a:p>
            <a:r>
              <a:rPr lang="en-US" sz="2000" dirty="0">
                <a:latin typeface="Aptos" panose="020B0004020202020204" pitchFamily="34" charset="0"/>
              </a:rPr>
              <a:t>Where the Process Goes Wrong</a:t>
            </a:r>
          </a:p>
          <a:p>
            <a:r>
              <a:rPr lang="en-US" sz="2000" dirty="0">
                <a:latin typeface="Aptos" panose="020B0004020202020204" pitchFamily="34" charset="0"/>
              </a:rPr>
              <a:t>The Human Element of Data</a:t>
            </a:r>
          </a:p>
        </p:txBody>
      </p:sp>
    </p:spTree>
    <p:extLst>
      <p:ext uri="{BB962C8B-B14F-4D97-AF65-F5344CB8AC3E}">
        <p14:creationId xmlns:p14="http://schemas.microsoft.com/office/powerpoint/2010/main" val="20103245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BDED6-8174-FC47-036C-A6B14A613686}"/>
              </a:ext>
            </a:extLst>
          </p:cNvPr>
          <p:cNvSpPr>
            <a:spLocks noGrp="1"/>
          </p:cNvSpPr>
          <p:nvPr>
            <p:ph type="title"/>
          </p:nvPr>
        </p:nvSpPr>
        <p:spPr/>
        <p:txBody>
          <a:bodyPr>
            <a:noAutofit/>
          </a:bodyPr>
          <a:lstStyle/>
          <a:p>
            <a:r>
              <a:rPr lang="en-US" sz="2800" b="1" dirty="0">
                <a:latin typeface="Aptos" panose="020B0004020202020204" pitchFamily="34" charset="0"/>
              </a:rPr>
              <a:t>What is Data-Driven Decision-Making (DDDM)?</a:t>
            </a:r>
            <a:br>
              <a:rPr lang="en-US" sz="2800" b="1" dirty="0">
                <a:latin typeface="Aptos" panose="020B0004020202020204" pitchFamily="34" charset="0"/>
              </a:rPr>
            </a:br>
            <a:r>
              <a:rPr lang="en-US" sz="2800" dirty="0">
                <a:latin typeface="Aptos" panose="020B0004020202020204" pitchFamily="34" charset="0"/>
              </a:rPr>
              <a:t>The Definition, DDDM vs. Traditional Methods, The Core Benefits</a:t>
            </a:r>
          </a:p>
        </p:txBody>
      </p:sp>
      <p:sp>
        <p:nvSpPr>
          <p:cNvPr id="3" name="Content Placeholder 2">
            <a:extLst>
              <a:ext uri="{FF2B5EF4-FFF2-40B4-BE49-F238E27FC236}">
                <a16:creationId xmlns:a16="http://schemas.microsoft.com/office/drawing/2014/main" id="{F7681CDA-9E42-3B64-79B2-77189F872A2C}"/>
              </a:ext>
            </a:extLst>
          </p:cNvPr>
          <p:cNvSpPr>
            <a:spLocks noGrp="1"/>
          </p:cNvSpPr>
          <p:nvPr>
            <p:ph idx="1"/>
          </p:nvPr>
        </p:nvSpPr>
        <p:spPr/>
        <p:txBody>
          <a:bodyPr/>
          <a:lstStyle/>
          <a:p>
            <a:r>
              <a:rPr lang="en-US" b="1" dirty="0">
                <a:latin typeface="Aptos" panose="020B0004020202020204" pitchFamily="34" charset="0"/>
              </a:rPr>
              <a:t>The Basics:</a:t>
            </a:r>
            <a:r>
              <a:rPr lang="en-US" dirty="0">
                <a:latin typeface="Aptos" panose="020B0004020202020204" pitchFamily="34" charset="0"/>
              </a:rPr>
              <a:t> Data-Driven Decision-Making is exactly what it sounds like. It is the practice of using evidence, facts, and structured data to make strategic choices, rather than relying solely on "gut feelings" or guessing.</a:t>
            </a:r>
          </a:p>
          <a:p>
            <a:r>
              <a:rPr lang="en-US" b="1" dirty="0">
                <a:latin typeface="Aptos" panose="020B0004020202020204" pitchFamily="34" charset="0"/>
              </a:rPr>
              <a:t>Traditional vs. DDDM:</a:t>
            </a:r>
            <a:r>
              <a:rPr lang="en-US" dirty="0">
                <a:latin typeface="Aptos" panose="020B0004020202020204" pitchFamily="34" charset="0"/>
              </a:rPr>
              <a:t> Traditional decision-making relies heavily on human experience and intuition, which can sometimes lead to personal bias or errors. DDDM relies on objective evidence, ensuring every move a company makes is a calculated risk rather than a shot in the dark.</a:t>
            </a:r>
          </a:p>
          <a:p>
            <a:r>
              <a:rPr lang="en-US" b="1" dirty="0">
                <a:latin typeface="Aptos" panose="020B0004020202020204" pitchFamily="34" charset="0"/>
              </a:rPr>
              <a:t>The Core Benefits:</a:t>
            </a:r>
            <a:r>
              <a:rPr lang="en-US" dirty="0">
                <a:latin typeface="Aptos" panose="020B0004020202020204" pitchFamily="34" charset="0"/>
              </a:rPr>
              <a:t> Using data makes decisions highly reliable. It removes personal bias, helps leaders predict future outcomes, and allows a company to pivot quickly when the market changes.</a:t>
            </a:r>
          </a:p>
        </p:txBody>
      </p:sp>
    </p:spTree>
    <p:extLst>
      <p:ext uri="{BB962C8B-B14F-4D97-AF65-F5344CB8AC3E}">
        <p14:creationId xmlns:p14="http://schemas.microsoft.com/office/powerpoint/2010/main" val="36054978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1141D-44C1-305D-343C-923E2C08940F}"/>
              </a:ext>
            </a:extLst>
          </p:cNvPr>
          <p:cNvSpPr>
            <a:spLocks noGrp="1"/>
          </p:cNvSpPr>
          <p:nvPr>
            <p:ph type="title"/>
          </p:nvPr>
        </p:nvSpPr>
        <p:spPr/>
        <p:txBody>
          <a:bodyPr>
            <a:normAutofit/>
          </a:bodyPr>
          <a:lstStyle/>
          <a:p>
            <a:r>
              <a:rPr lang="en-US" sz="2800" b="1" dirty="0">
                <a:latin typeface="Aptos" panose="020B0004020202020204" pitchFamily="34" charset="0"/>
              </a:rPr>
              <a:t>5 Steps to Implementing Data-Driven Decisions</a:t>
            </a:r>
            <a:br>
              <a:rPr lang="en-US" sz="2800" b="1" dirty="0">
                <a:latin typeface="Aptos" panose="020B0004020202020204" pitchFamily="34" charset="0"/>
              </a:rPr>
            </a:br>
            <a:r>
              <a:rPr lang="en-US" sz="2800" dirty="0">
                <a:latin typeface="Aptos" panose="020B0004020202020204" pitchFamily="34" charset="0"/>
              </a:rPr>
              <a:t>Finding the Need, Gathering Data, Taking Action </a:t>
            </a:r>
          </a:p>
        </p:txBody>
      </p:sp>
      <p:sp>
        <p:nvSpPr>
          <p:cNvPr id="3" name="Content Placeholder 2">
            <a:extLst>
              <a:ext uri="{FF2B5EF4-FFF2-40B4-BE49-F238E27FC236}">
                <a16:creationId xmlns:a16="http://schemas.microsoft.com/office/drawing/2014/main" id="{DFEEDA60-0AAA-E8E8-4880-3E5162D7D620}"/>
              </a:ext>
            </a:extLst>
          </p:cNvPr>
          <p:cNvSpPr>
            <a:spLocks noGrp="1"/>
          </p:cNvSpPr>
          <p:nvPr>
            <p:ph idx="1"/>
          </p:nvPr>
        </p:nvSpPr>
        <p:spPr/>
        <p:txBody>
          <a:bodyPr/>
          <a:lstStyle/>
          <a:p>
            <a:r>
              <a:rPr lang="en-US" b="1" dirty="0">
                <a:latin typeface="Aptos" panose="020B0004020202020204" pitchFamily="34" charset="0"/>
              </a:rPr>
              <a:t>Steps 1 &amp; 2:</a:t>
            </a:r>
            <a:r>
              <a:rPr lang="en-US" dirty="0">
                <a:latin typeface="Aptos" panose="020B0004020202020204" pitchFamily="34" charset="0"/>
              </a:rPr>
              <a:t> Identify Needs and Goals: First, you must determine what specific business challenge you are trying to solve. Once you know the problem, set clear, measurable goals for what you want to achieve.</a:t>
            </a:r>
          </a:p>
          <a:p>
            <a:r>
              <a:rPr lang="en-US" b="1" dirty="0">
                <a:latin typeface="Aptos" panose="020B0004020202020204" pitchFamily="34" charset="0"/>
              </a:rPr>
              <a:t>Steps 3 &amp; 4:</a:t>
            </a:r>
            <a:r>
              <a:rPr lang="en-US" dirty="0">
                <a:latin typeface="Aptos" panose="020B0004020202020204" pitchFamily="34" charset="0"/>
              </a:rPr>
              <a:t> Target and Collect Data: Pinpoint exactly where the relevant information lives. Gather this targeted data and use analytical tools to sift through it and uncover hidden trends or insights.</a:t>
            </a:r>
          </a:p>
          <a:p>
            <a:r>
              <a:rPr lang="en-US" b="1" dirty="0">
                <a:latin typeface="Aptos" panose="020B0004020202020204" pitchFamily="34" charset="0"/>
              </a:rPr>
              <a:t>Step 5:</a:t>
            </a:r>
            <a:r>
              <a:rPr lang="en-US" dirty="0">
                <a:latin typeface="Aptos" panose="020B0004020202020204" pitchFamily="34" charset="0"/>
              </a:rPr>
              <a:t> Turn Insights into Action: Data is useless if you don't do anything with it. The final step is translating the numbers into a real-world strategy and acting on it to achieve your original business goals.</a:t>
            </a:r>
          </a:p>
        </p:txBody>
      </p:sp>
    </p:spTree>
    <p:extLst>
      <p:ext uri="{BB962C8B-B14F-4D97-AF65-F5344CB8AC3E}">
        <p14:creationId xmlns:p14="http://schemas.microsoft.com/office/powerpoint/2010/main" val="11410602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6BB47-B77E-998D-0614-8E3BCF24B147}"/>
              </a:ext>
            </a:extLst>
          </p:cNvPr>
          <p:cNvSpPr>
            <a:spLocks noGrp="1"/>
          </p:cNvSpPr>
          <p:nvPr>
            <p:ph type="title"/>
          </p:nvPr>
        </p:nvSpPr>
        <p:spPr/>
        <p:txBody>
          <a:bodyPr>
            <a:noAutofit/>
          </a:bodyPr>
          <a:lstStyle/>
          <a:p>
            <a:r>
              <a:rPr lang="en-US" sz="2800" b="1" dirty="0">
                <a:latin typeface="Aptos" panose="020B0004020202020204" pitchFamily="34" charset="0"/>
              </a:rPr>
              <a:t>How to Ensure Data Success</a:t>
            </a:r>
            <a:br>
              <a:rPr lang="en-US" sz="2800" b="1" dirty="0">
                <a:latin typeface="Aptos" panose="020B0004020202020204" pitchFamily="34" charset="0"/>
              </a:rPr>
            </a:br>
            <a:r>
              <a:rPr lang="en-US" sz="2800" dirty="0">
                <a:latin typeface="Aptos" panose="020B0004020202020204" pitchFamily="34" charset="0"/>
              </a:rPr>
              <a:t>Data Quality, The Role of Technology, Real-World Examples</a:t>
            </a:r>
          </a:p>
        </p:txBody>
      </p:sp>
      <p:sp>
        <p:nvSpPr>
          <p:cNvPr id="3" name="Content Placeholder 2">
            <a:extLst>
              <a:ext uri="{FF2B5EF4-FFF2-40B4-BE49-F238E27FC236}">
                <a16:creationId xmlns:a16="http://schemas.microsoft.com/office/drawing/2014/main" id="{7900417B-4928-AB9D-EAD8-1D7232B5B018}"/>
              </a:ext>
            </a:extLst>
          </p:cNvPr>
          <p:cNvSpPr>
            <a:spLocks noGrp="1"/>
          </p:cNvSpPr>
          <p:nvPr>
            <p:ph idx="1"/>
          </p:nvPr>
        </p:nvSpPr>
        <p:spPr/>
        <p:txBody>
          <a:bodyPr/>
          <a:lstStyle/>
          <a:p>
            <a:r>
              <a:rPr lang="en-US" b="1" dirty="0">
                <a:latin typeface="Aptos" panose="020B0004020202020204" pitchFamily="34" charset="0"/>
              </a:rPr>
              <a:t>Data Quality is Everything:</a:t>
            </a:r>
            <a:r>
              <a:rPr lang="en-US" dirty="0">
                <a:latin typeface="Aptos" panose="020B0004020202020204" pitchFamily="34" charset="0"/>
              </a:rPr>
              <a:t> The reliability of your decisions depends entirely on the quality of your data. Businesses must regularly "clean" their data (removing errors and duplicates) and follow strict rules to ensure the information is accurate, complete, and trustworthy.</a:t>
            </a:r>
          </a:p>
          <a:p>
            <a:r>
              <a:rPr lang="en-US" b="1" dirty="0">
                <a:latin typeface="Aptos" panose="020B0004020202020204" pitchFamily="34" charset="0"/>
              </a:rPr>
              <a:t>The Power of AI:</a:t>
            </a:r>
            <a:r>
              <a:rPr lang="en-US" dirty="0">
                <a:latin typeface="Aptos" panose="020B0004020202020204" pitchFamily="34" charset="0"/>
              </a:rPr>
              <a:t> Today, technology plays a massive role. Tools like Artificial Intelligence (AI) and Machine Learning help businesses easily scan massive amounts of data to find patterns that a human could never see on their own.</a:t>
            </a:r>
          </a:p>
          <a:p>
            <a:r>
              <a:rPr lang="en-US" b="1" dirty="0">
                <a:latin typeface="Aptos" panose="020B0004020202020204" pitchFamily="34" charset="0"/>
              </a:rPr>
              <a:t>Real-World Success:</a:t>
            </a:r>
            <a:r>
              <a:rPr lang="en-US" dirty="0">
                <a:latin typeface="Aptos" panose="020B0004020202020204" pitchFamily="34" charset="0"/>
              </a:rPr>
              <a:t> Major companies thrive on DDDM. For example, Netflix uses viewer data to create personalized show recommendations, and Airbnb uses local data to dynamically adjust rental prices based on seasonal demand.</a:t>
            </a:r>
          </a:p>
        </p:txBody>
      </p:sp>
    </p:spTree>
    <p:extLst>
      <p:ext uri="{BB962C8B-B14F-4D97-AF65-F5344CB8AC3E}">
        <p14:creationId xmlns:p14="http://schemas.microsoft.com/office/powerpoint/2010/main" val="17333263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4F0FD-3A0E-58D1-935A-4A764C231C6C}"/>
              </a:ext>
            </a:extLst>
          </p:cNvPr>
          <p:cNvSpPr>
            <a:spLocks noGrp="1"/>
          </p:cNvSpPr>
          <p:nvPr>
            <p:ph type="title"/>
          </p:nvPr>
        </p:nvSpPr>
        <p:spPr/>
        <p:txBody>
          <a:bodyPr>
            <a:noAutofit/>
          </a:bodyPr>
          <a:lstStyle/>
          <a:p>
            <a:r>
              <a:rPr lang="en-US" sz="2800" b="1" dirty="0">
                <a:latin typeface="Aptos" panose="020B0004020202020204" pitchFamily="34" charset="0"/>
              </a:rPr>
              <a:t>What is Data-Driven Decision Making (DDDM)?</a:t>
            </a:r>
            <a:br>
              <a:rPr lang="en-US" sz="2800" b="1" dirty="0">
                <a:latin typeface="Aptos" panose="020B0004020202020204" pitchFamily="34" charset="0"/>
              </a:rPr>
            </a:br>
            <a:r>
              <a:rPr lang="en-US" sz="2800" dirty="0">
                <a:latin typeface="Aptos" panose="020B0004020202020204" pitchFamily="34" charset="0"/>
              </a:rPr>
              <a:t>The Definition, The Problem with Guessing, The Main Benefits</a:t>
            </a:r>
          </a:p>
        </p:txBody>
      </p:sp>
      <p:sp>
        <p:nvSpPr>
          <p:cNvPr id="3" name="Content Placeholder 2">
            <a:extLst>
              <a:ext uri="{FF2B5EF4-FFF2-40B4-BE49-F238E27FC236}">
                <a16:creationId xmlns:a16="http://schemas.microsoft.com/office/drawing/2014/main" id="{B587C4C6-89B4-C64D-98B0-82BA098F9640}"/>
              </a:ext>
            </a:extLst>
          </p:cNvPr>
          <p:cNvSpPr>
            <a:spLocks noGrp="1"/>
          </p:cNvSpPr>
          <p:nvPr>
            <p:ph idx="1"/>
          </p:nvPr>
        </p:nvSpPr>
        <p:spPr>
          <a:xfrm>
            <a:off x="2589212" y="2133599"/>
            <a:ext cx="8915400" cy="4189379"/>
          </a:xfrm>
        </p:spPr>
        <p:txBody>
          <a:bodyPr>
            <a:normAutofit lnSpcReduction="10000"/>
          </a:bodyPr>
          <a:lstStyle/>
          <a:p>
            <a:r>
              <a:rPr lang="en-US" b="1" dirty="0">
                <a:latin typeface="Aptos" panose="020B0004020202020204" pitchFamily="34" charset="0"/>
              </a:rPr>
              <a:t>What is it?</a:t>
            </a:r>
            <a:r>
              <a:rPr lang="en-US" dirty="0">
                <a:latin typeface="Aptos" panose="020B0004020202020204" pitchFamily="34" charset="0"/>
              </a:rPr>
              <a:t> Data-Driven Decision Making (DDDM) is the process of collecting and analyzing numbers and facts, and then using that information to guide important business choices. It is a systematic, organized approach rather than just quickly glancing at website analytics.</a:t>
            </a:r>
          </a:p>
          <a:p>
            <a:r>
              <a:rPr lang="en-US" b="1" dirty="0">
                <a:latin typeface="Aptos" panose="020B0004020202020204" pitchFamily="34" charset="0"/>
              </a:rPr>
              <a:t>Why Not Guess?</a:t>
            </a:r>
            <a:r>
              <a:rPr lang="en-US" dirty="0">
                <a:latin typeface="Aptos" panose="020B0004020202020204" pitchFamily="34" charset="0"/>
              </a:rPr>
              <a:t> Making decisions based on "gut feelings," assumptions, or personal bias is risky. DDDM ensures that every business move is backed by logic, reasoning, and solid numerical evidence.</a:t>
            </a:r>
          </a:p>
          <a:p>
            <a:r>
              <a:rPr lang="en-US" b="1" dirty="0">
                <a:latin typeface="Aptos" panose="020B0004020202020204" pitchFamily="34" charset="0"/>
              </a:rPr>
              <a:t>The Big Benefits:</a:t>
            </a:r>
            <a:r>
              <a:rPr lang="en-US" dirty="0">
                <a:latin typeface="Aptos" panose="020B0004020202020204" pitchFamily="34" charset="0"/>
              </a:rPr>
              <a:t> Companies that use data are generally more productive and profitable. The main benefits include:</a:t>
            </a:r>
          </a:p>
          <a:p>
            <a:pPr lvl="1"/>
            <a:r>
              <a:rPr lang="en-US" b="1" dirty="0">
                <a:latin typeface="Aptos" panose="020B0004020202020204" pitchFamily="34" charset="0"/>
              </a:rPr>
              <a:t>It is Objective:</a:t>
            </a:r>
            <a:r>
              <a:rPr lang="en-US" dirty="0">
                <a:latin typeface="Aptos" panose="020B0004020202020204" pitchFamily="34" charset="0"/>
              </a:rPr>
              <a:t> Decisions are based on facts, not emotions.</a:t>
            </a:r>
          </a:p>
          <a:p>
            <a:pPr lvl="1"/>
            <a:r>
              <a:rPr lang="en-US" b="1" dirty="0">
                <a:latin typeface="Aptos" panose="020B0004020202020204" pitchFamily="34" charset="0"/>
              </a:rPr>
              <a:t>It gives you Control:</a:t>
            </a:r>
            <a:r>
              <a:rPr lang="en-US" dirty="0">
                <a:latin typeface="Aptos" panose="020B0004020202020204" pitchFamily="34" charset="0"/>
              </a:rPr>
              <a:t> You can easily measure if a decision is working.</a:t>
            </a:r>
          </a:p>
          <a:p>
            <a:pPr lvl="1"/>
            <a:r>
              <a:rPr lang="en-US" b="1" dirty="0">
                <a:latin typeface="Aptos" panose="020B0004020202020204" pitchFamily="34" charset="0"/>
              </a:rPr>
              <a:t>It makes you Agile:</a:t>
            </a:r>
            <a:r>
              <a:rPr lang="en-US" dirty="0">
                <a:latin typeface="Aptos" panose="020B0004020202020204" pitchFamily="34" charset="0"/>
              </a:rPr>
              <a:t> You can spot new opportunities and fix problems much faster.</a:t>
            </a:r>
          </a:p>
          <a:p>
            <a:pPr lvl="1"/>
            <a:r>
              <a:rPr lang="en-US" b="1" dirty="0">
                <a:latin typeface="Aptos" panose="020B0004020202020204" pitchFamily="34" charset="0"/>
              </a:rPr>
              <a:t>It builds Trust:</a:t>
            </a:r>
            <a:r>
              <a:rPr lang="en-US" dirty="0">
                <a:latin typeface="Aptos" panose="020B0004020202020204" pitchFamily="34" charset="0"/>
              </a:rPr>
              <a:t> The process is highly transparent and holds everyone accountable.</a:t>
            </a:r>
          </a:p>
        </p:txBody>
      </p:sp>
    </p:spTree>
    <p:extLst>
      <p:ext uri="{BB962C8B-B14F-4D97-AF65-F5344CB8AC3E}">
        <p14:creationId xmlns:p14="http://schemas.microsoft.com/office/powerpoint/2010/main" val="40742771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A852A-7ACA-268C-94FD-935F826630E9}"/>
              </a:ext>
            </a:extLst>
          </p:cNvPr>
          <p:cNvSpPr>
            <a:spLocks noGrp="1"/>
          </p:cNvSpPr>
          <p:nvPr>
            <p:ph type="title"/>
          </p:nvPr>
        </p:nvSpPr>
        <p:spPr/>
        <p:txBody>
          <a:bodyPr>
            <a:noAutofit/>
          </a:bodyPr>
          <a:lstStyle/>
          <a:p>
            <a:r>
              <a:rPr lang="en-US" sz="2800" b="1" dirty="0">
                <a:latin typeface="Aptos" panose="020B0004020202020204" pitchFamily="34" charset="0"/>
              </a:rPr>
              <a:t>Getting Started: Goals and Data Gathering</a:t>
            </a:r>
            <a:br>
              <a:rPr lang="en-US" sz="2800" b="1" dirty="0">
                <a:latin typeface="Aptos" panose="020B0004020202020204" pitchFamily="34" charset="0"/>
              </a:rPr>
            </a:br>
            <a:r>
              <a:rPr lang="en-US" sz="2800" dirty="0">
                <a:latin typeface="Aptos" panose="020B0004020202020204" pitchFamily="34" charset="0"/>
              </a:rPr>
              <a:t>Defining the Goal, Making a Hypothesis, Identifying Data Needs</a:t>
            </a:r>
          </a:p>
        </p:txBody>
      </p:sp>
      <p:sp>
        <p:nvSpPr>
          <p:cNvPr id="3" name="Content Placeholder 2">
            <a:extLst>
              <a:ext uri="{FF2B5EF4-FFF2-40B4-BE49-F238E27FC236}">
                <a16:creationId xmlns:a16="http://schemas.microsoft.com/office/drawing/2014/main" id="{FA7B50A7-32B6-74EF-6A8B-E48D546D9ECC}"/>
              </a:ext>
            </a:extLst>
          </p:cNvPr>
          <p:cNvSpPr>
            <a:spLocks noGrp="1"/>
          </p:cNvSpPr>
          <p:nvPr>
            <p:ph idx="1"/>
          </p:nvPr>
        </p:nvSpPr>
        <p:spPr/>
        <p:txBody>
          <a:bodyPr>
            <a:normAutofit/>
          </a:bodyPr>
          <a:lstStyle/>
          <a:p>
            <a:r>
              <a:rPr lang="en-US" b="1" dirty="0">
                <a:latin typeface="Aptos" panose="020B0004020202020204" pitchFamily="34" charset="0"/>
              </a:rPr>
              <a:t>Step 1: Define Your Goal:</a:t>
            </a:r>
            <a:r>
              <a:rPr lang="en-US" dirty="0">
                <a:latin typeface="Aptos" panose="020B0004020202020204" pitchFamily="34" charset="0"/>
              </a:rPr>
              <a:t> Before looking at numbers, you need to know what you want to achieve. Do you want to increase sales, improve customer service, or make operations faster? This goal must be clearly communicated to your entire team.</a:t>
            </a:r>
          </a:p>
          <a:p>
            <a:r>
              <a:rPr lang="en-US" b="1" dirty="0">
                <a:latin typeface="Aptos" panose="020B0004020202020204" pitchFamily="34" charset="0"/>
              </a:rPr>
              <a:t>Step 2: Establish a Hypothesis:</a:t>
            </a:r>
            <a:r>
              <a:rPr lang="en-US" dirty="0">
                <a:latin typeface="Aptos" panose="020B0004020202020204" pitchFamily="34" charset="0"/>
              </a:rPr>
              <a:t> Come up with a proposed strategy to solve your problem. For example, "If we offer a free guide on our website, we will collect more customer email addresses.“</a:t>
            </a:r>
          </a:p>
          <a:p>
            <a:r>
              <a:rPr lang="en-US" b="1" dirty="0">
                <a:latin typeface="Aptos" panose="020B0004020202020204" pitchFamily="34" charset="0"/>
              </a:rPr>
              <a:t>Step 3: Identify What Data You Need:</a:t>
            </a:r>
            <a:r>
              <a:rPr lang="en-US" dirty="0">
                <a:latin typeface="Aptos" panose="020B0004020202020204" pitchFamily="34" charset="0"/>
              </a:rPr>
              <a:t> Figure out exactly what type of information will help you test your hypothesis. There are two main types:</a:t>
            </a:r>
          </a:p>
          <a:p>
            <a:pPr lvl="1"/>
            <a:r>
              <a:rPr lang="en-US" b="1" dirty="0">
                <a:latin typeface="Aptos" panose="020B0004020202020204" pitchFamily="34" charset="0"/>
              </a:rPr>
              <a:t>Qualitative Data:</a:t>
            </a:r>
            <a:r>
              <a:rPr lang="en-US" dirty="0">
                <a:latin typeface="Aptos" panose="020B0004020202020204" pitchFamily="34" charset="0"/>
              </a:rPr>
              <a:t> Subjective feedback, like reading customer reviews or opinions.</a:t>
            </a:r>
          </a:p>
          <a:p>
            <a:pPr lvl="1"/>
            <a:r>
              <a:rPr lang="en-US" b="1" dirty="0">
                <a:latin typeface="Aptos" panose="020B0004020202020204" pitchFamily="34" charset="0"/>
              </a:rPr>
              <a:t>Quantitative Data:</a:t>
            </a:r>
            <a:r>
              <a:rPr lang="en-US" dirty="0">
                <a:latin typeface="Aptos" panose="020B0004020202020204" pitchFamily="34" charset="0"/>
              </a:rPr>
              <a:t> Objective, hard numbers, like exactly how many people clicked a link.</a:t>
            </a:r>
          </a:p>
        </p:txBody>
      </p:sp>
    </p:spTree>
    <p:extLst>
      <p:ext uri="{BB962C8B-B14F-4D97-AF65-F5344CB8AC3E}">
        <p14:creationId xmlns:p14="http://schemas.microsoft.com/office/powerpoint/2010/main" val="36123715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CD26F-37E8-411A-EED8-A3836E4B0588}"/>
              </a:ext>
            </a:extLst>
          </p:cNvPr>
          <p:cNvSpPr>
            <a:spLocks noGrp="1"/>
          </p:cNvSpPr>
          <p:nvPr>
            <p:ph type="title"/>
          </p:nvPr>
        </p:nvSpPr>
        <p:spPr/>
        <p:txBody>
          <a:bodyPr>
            <a:noAutofit/>
          </a:bodyPr>
          <a:lstStyle/>
          <a:p>
            <a:r>
              <a:rPr lang="en-US" sz="2800" b="1" dirty="0">
                <a:latin typeface="Aptos" panose="020B0004020202020204" pitchFamily="34" charset="0"/>
              </a:rPr>
              <a:t>Processing Information and Making the Call</a:t>
            </a:r>
            <a:br>
              <a:rPr lang="en-US" sz="2800" b="1" dirty="0">
                <a:latin typeface="Aptos" panose="020B0004020202020204" pitchFamily="34" charset="0"/>
              </a:rPr>
            </a:br>
            <a:r>
              <a:rPr lang="en-US" sz="2800" dirty="0">
                <a:latin typeface="Aptos" panose="020B0004020202020204" pitchFamily="34" charset="0"/>
              </a:rPr>
              <a:t>Collecting the Data, Analyzing Information, Making the Decision</a:t>
            </a:r>
          </a:p>
        </p:txBody>
      </p:sp>
      <p:sp>
        <p:nvSpPr>
          <p:cNvPr id="3" name="Content Placeholder 2">
            <a:extLst>
              <a:ext uri="{FF2B5EF4-FFF2-40B4-BE49-F238E27FC236}">
                <a16:creationId xmlns:a16="http://schemas.microsoft.com/office/drawing/2014/main" id="{3292A1CC-D891-558A-7BBE-ACC99C2FD848}"/>
              </a:ext>
            </a:extLst>
          </p:cNvPr>
          <p:cNvSpPr>
            <a:spLocks noGrp="1"/>
          </p:cNvSpPr>
          <p:nvPr>
            <p:ph idx="1"/>
          </p:nvPr>
        </p:nvSpPr>
        <p:spPr/>
        <p:txBody>
          <a:bodyPr/>
          <a:lstStyle/>
          <a:p>
            <a:r>
              <a:rPr lang="en-US" b="1" dirty="0">
                <a:latin typeface="Aptos" panose="020B0004020202020204" pitchFamily="34" charset="0"/>
              </a:rPr>
              <a:t>Step 4: Build a Collection Process:</a:t>
            </a:r>
            <a:r>
              <a:rPr lang="en-US" dirty="0">
                <a:latin typeface="Aptos" panose="020B0004020202020204" pitchFamily="34" charset="0"/>
              </a:rPr>
              <a:t> You must decide how to gather the information. Most companies use multiple sources to get a complete picture. It is crucial that the sources are reliable and that the data is "clean" (free of errors and duplicates).</a:t>
            </a:r>
          </a:p>
          <a:p>
            <a:r>
              <a:rPr lang="en-US" b="1" dirty="0">
                <a:latin typeface="Aptos" panose="020B0004020202020204" pitchFamily="34" charset="0"/>
              </a:rPr>
              <a:t>Step 5: Analyze the Data:</a:t>
            </a:r>
            <a:r>
              <a:rPr lang="en-US" dirty="0">
                <a:latin typeface="Aptos" panose="020B0004020202020204" pitchFamily="34" charset="0"/>
              </a:rPr>
              <a:t> Once the numbers are collected, they need to be sorted. Many companies invest in high-quality software tools or hire trained specialists to securely manage and analyze the information.</a:t>
            </a:r>
          </a:p>
          <a:p>
            <a:r>
              <a:rPr lang="en-US" b="1" dirty="0">
                <a:latin typeface="Aptos" panose="020B0004020202020204" pitchFamily="34" charset="0"/>
              </a:rPr>
              <a:t>Step 6: Make a Decision:</a:t>
            </a:r>
            <a:r>
              <a:rPr lang="en-US" dirty="0">
                <a:latin typeface="Aptos" panose="020B0004020202020204" pitchFamily="34" charset="0"/>
              </a:rPr>
              <a:t> This is the final step. Take the insights you have learned and turn them into a real-world business strategy. When you present your final decision to the company, you can be confident because it is backed up by objective, solid facts.</a:t>
            </a:r>
          </a:p>
        </p:txBody>
      </p:sp>
    </p:spTree>
    <p:extLst>
      <p:ext uri="{BB962C8B-B14F-4D97-AF65-F5344CB8AC3E}">
        <p14:creationId xmlns:p14="http://schemas.microsoft.com/office/powerpoint/2010/main" val="20949479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0B5A6-9666-CA9E-B48B-E8C4025A042C}"/>
              </a:ext>
            </a:extLst>
          </p:cNvPr>
          <p:cNvSpPr>
            <a:spLocks noGrp="1"/>
          </p:cNvSpPr>
          <p:nvPr>
            <p:ph type="title"/>
          </p:nvPr>
        </p:nvSpPr>
        <p:spPr/>
        <p:txBody>
          <a:bodyPr>
            <a:noAutofit/>
          </a:bodyPr>
          <a:lstStyle/>
          <a:p>
            <a:r>
              <a:rPr lang="en-US" sz="2800" b="1" dirty="0">
                <a:latin typeface="Aptos" panose="020B0004020202020204" pitchFamily="34" charset="0"/>
              </a:rPr>
              <a:t>Understanding Data-Driven Decisions</a:t>
            </a:r>
            <a:br>
              <a:rPr lang="en-US" sz="2800" b="1" dirty="0">
                <a:latin typeface="Aptos" panose="020B0004020202020204" pitchFamily="34" charset="0"/>
              </a:rPr>
            </a:br>
            <a:r>
              <a:rPr lang="en-US" sz="2800" dirty="0">
                <a:latin typeface="Aptos" panose="020B0004020202020204" pitchFamily="34" charset="0"/>
              </a:rPr>
              <a:t>The Definition, “Gut Feelings” vs. Data, The Main Benefits</a:t>
            </a:r>
          </a:p>
        </p:txBody>
      </p:sp>
      <p:sp>
        <p:nvSpPr>
          <p:cNvPr id="3" name="Content Placeholder 2">
            <a:extLst>
              <a:ext uri="{FF2B5EF4-FFF2-40B4-BE49-F238E27FC236}">
                <a16:creationId xmlns:a16="http://schemas.microsoft.com/office/drawing/2014/main" id="{EA7CEC6B-A9AF-92A5-BD02-2C93CF3D4DDF}"/>
              </a:ext>
            </a:extLst>
          </p:cNvPr>
          <p:cNvSpPr>
            <a:spLocks noGrp="1"/>
          </p:cNvSpPr>
          <p:nvPr>
            <p:ph idx="1"/>
          </p:nvPr>
        </p:nvSpPr>
        <p:spPr/>
        <p:txBody>
          <a:bodyPr/>
          <a:lstStyle/>
          <a:p>
            <a:r>
              <a:rPr lang="en-US" b="1" dirty="0">
                <a:latin typeface="Aptos" panose="020B0004020202020204" pitchFamily="34" charset="0"/>
              </a:rPr>
              <a:t>The Basics:</a:t>
            </a:r>
            <a:r>
              <a:rPr lang="en-US" dirty="0">
                <a:latin typeface="Aptos" panose="020B0004020202020204" pitchFamily="34" charset="0"/>
              </a:rPr>
              <a:t> Data-Driven Decision Making (DDDM) simply means using facts, numbers, and analytics to make important business choices instead of guessing.</a:t>
            </a:r>
          </a:p>
          <a:p>
            <a:r>
              <a:rPr lang="en-US" b="1" dirty="0">
                <a:latin typeface="Aptos" panose="020B0004020202020204" pitchFamily="34" charset="0"/>
              </a:rPr>
              <a:t>Gut Feeling vs. Data:</a:t>
            </a:r>
            <a:r>
              <a:rPr lang="en-US" dirty="0">
                <a:latin typeface="Aptos" panose="020B0004020202020204" pitchFamily="34" charset="0"/>
              </a:rPr>
              <a:t> Humans naturally want to make decisions based on emotions, intuition, or a "gut feeling." However, relying on data gives a business reliable, measurable, and highly accurate results.</a:t>
            </a:r>
          </a:p>
          <a:p>
            <a:r>
              <a:rPr lang="en-US" b="1" dirty="0">
                <a:latin typeface="Aptos" panose="020B0004020202020204" pitchFamily="34" charset="0"/>
              </a:rPr>
              <a:t>The Main Benefits:</a:t>
            </a:r>
            <a:r>
              <a:rPr lang="en-US" dirty="0">
                <a:latin typeface="Aptos" panose="020B0004020202020204" pitchFamily="34" charset="0"/>
              </a:rPr>
              <a:t> Today, there is an endless supply of information available. By finding the right data and ignoring the useless noise, a company can increase its profits, solve problems more effectively, and keep customers happy.</a:t>
            </a:r>
          </a:p>
        </p:txBody>
      </p:sp>
    </p:spTree>
    <p:extLst>
      <p:ext uri="{BB962C8B-B14F-4D97-AF65-F5344CB8AC3E}">
        <p14:creationId xmlns:p14="http://schemas.microsoft.com/office/powerpoint/2010/main" val="4198988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33140-2B61-BFB6-206A-3EBA480F66D0}"/>
              </a:ext>
            </a:extLst>
          </p:cNvPr>
          <p:cNvSpPr>
            <a:spLocks noGrp="1"/>
          </p:cNvSpPr>
          <p:nvPr>
            <p:ph type="title"/>
          </p:nvPr>
        </p:nvSpPr>
        <p:spPr/>
        <p:txBody>
          <a:bodyPr>
            <a:noAutofit/>
          </a:bodyPr>
          <a:lstStyle/>
          <a:p>
            <a:r>
              <a:rPr lang="en-US" sz="2800" b="1" dirty="0">
                <a:latin typeface="Aptos" panose="020B0004020202020204" pitchFamily="34" charset="0"/>
              </a:rPr>
              <a:t>How to Put Data into Action</a:t>
            </a:r>
            <a:br>
              <a:rPr lang="en-US" sz="2800" b="1" dirty="0">
                <a:latin typeface="Aptos" panose="020B0004020202020204" pitchFamily="34" charset="0"/>
              </a:rPr>
            </a:br>
            <a:r>
              <a:rPr lang="en-US" sz="2800" dirty="0">
                <a:latin typeface="Aptos" panose="020B0004020202020204" pitchFamily="34" charset="0"/>
              </a:rPr>
              <a:t>Asking the Right Questions, Collecting Data, Taking Action</a:t>
            </a:r>
          </a:p>
        </p:txBody>
      </p:sp>
      <p:sp>
        <p:nvSpPr>
          <p:cNvPr id="3" name="Content Placeholder 2">
            <a:extLst>
              <a:ext uri="{FF2B5EF4-FFF2-40B4-BE49-F238E27FC236}">
                <a16:creationId xmlns:a16="http://schemas.microsoft.com/office/drawing/2014/main" id="{B14EE58F-86AC-3C9D-74A5-0C651E54442F}"/>
              </a:ext>
            </a:extLst>
          </p:cNvPr>
          <p:cNvSpPr>
            <a:spLocks noGrp="1"/>
          </p:cNvSpPr>
          <p:nvPr>
            <p:ph idx="1"/>
          </p:nvPr>
        </p:nvSpPr>
        <p:spPr/>
        <p:txBody>
          <a:bodyPr/>
          <a:lstStyle/>
          <a:p>
            <a:r>
              <a:rPr lang="en-US" b="1" dirty="0">
                <a:latin typeface="Aptos" panose="020B0004020202020204" pitchFamily="34" charset="0"/>
              </a:rPr>
              <a:t>Step 1: Find the Issue:</a:t>
            </a:r>
            <a:r>
              <a:rPr lang="en-US" dirty="0">
                <a:latin typeface="Aptos" panose="020B0004020202020204" pitchFamily="34" charset="0"/>
              </a:rPr>
              <a:t> Start by figuring out exactly what problem the company needs to solve or what new opportunity it wants to explore.</a:t>
            </a:r>
          </a:p>
          <a:p>
            <a:r>
              <a:rPr lang="en-US" b="1" dirty="0">
                <a:latin typeface="Aptos" panose="020B0004020202020204" pitchFamily="34" charset="0"/>
              </a:rPr>
              <a:t>Step 2: Set Clear Goals:</a:t>
            </a:r>
            <a:r>
              <a:rPr lang="en-US" dirty="0">
                <a:latin typeface="Aptos" panose="020B0004020202020204" pitchFamily="34" charset="0"/>
              </a:rPr>
              <a:t> Decide what you realistically want to accomplish, who will manage the project, and how you will measure success at the end.</a:t>
            </a:r>
          </a:p>
          <a:p>
            <a:r>
              <a:rPr lang="en-US" b="1" dirty="0">
                <a:latin typeface="Aptos" panose="020B0004020202020204" pitchFamily="34" charset="0"/>
              </a:rPr>
              <a:t>Step 3 &amp; 4:</a:t>
            </a:r>
            <a:r>
              <a:rPr lang="en-US" dirty="0">
                <a:latin typeface="Aptos" panose="020B0004020202020204" pitchFamily="34" charset="0"/>
              </a:rPr>
              <a:t> Target, Collect, and Analyze: Pinpoint what specific information you need (like customer surveys or sales numbers). Gather that information using the right software, look for hidden patterns, and figure out what the numbers are telling you.</a:t>
            </a:r>
          </a:p>
          <a:p>
            <a:r>
              <a:rPr lang="en-US" b="1" dirty="0">
                <a:latin typeface="Aptos" panose="020B0004020202020204" pitchFamily="34" charset="0"/>
              </a:rPr>
              <a:t>Step 5: Make the Decision:</a:t>
            </a:r>
            <a:r>
              <a:rPr lang="en-US" dirty="0">
                <a:latin typeface="Aptos" panose="020B0004020202020204" pitchFamily="34" charset="0"/>
              </a:rPr>
              <a:t> Take the insights you uncovered and use them to take real-world action. Company leaders can move forward with confidence because the facts support their choices.</a:t>
            </a:r>
          </a:p>
        </p:txBody>
      </p:sp>
    </p:spTree>
    <p:extLst>
      <p:ext uri="{BB962C8B-B14F-4D97-AF65-F5344CB8AC3E}">
        <p14:creationId xmlns:p14="http://schemas.microsoft.com/office/powerpoint/2010/main" val="21219246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A5043-6072-C0DD-8780-9DC076EE9541}"/>
              </a:ext>
            </a:extLst>
          </p:cNvPr>
          <p:cNvSpPr>
            <a:spLocks noGrp="1"/>
          </p:cNvSpPr>
          <p:nvPr>
            <p:ph type="title"/>
          </p:nvPr>
        </p:nvSpPr>
        <p:spPr/>
        <p:txBody>
          <a:bodyPr>
            <a:normAutofit/>
          </a:bodyPr>
          <a:lstStyle/>
          <a:p>
            <a:r>
              <a:rPr lang="en-US" sz="2800" b="1" dirty="0">
                <a:latin typeface="Aptos" panose="020B0004020202020204" pitchFamily="34" charset="0"/>
              </a:rPr>
              <a:t>Data in Action and Who Makes It Happen</a:t>
            </a:r>
            <a:br>
              <a:rPr lang="en-US" sz="2800" b="1" dirty="0">
                <a:latin typeface="Aptos" panose="020B0004020202020204" pitchFamily="34" charset="0"/>
              </a:rPr>
            </a:br>
            <a:r>
              <a:rPr lang="en-US" sz="2800" dirty="0">
                <a:latin typeface="Aptos" panose="020B0004020202020204" pitchFamily="34" charset="0"/>
              </a:rPr>
              <a:t>Big Business Success Stories, Essential Data Careers</a:t>
            </a:r>
          </a:p>
        </p:txBody>
      </p:sp>
      <p:sp>
        <p:nvSpPr>
          <p:cNvPr id="3" name="Content Placeholder 2">
            <a:extLst>
              <a:ext uri="{FF2B5EF4-FFF2-40B4-BE49-F238E27FC236}">
                <a16:creationId xmlns:a16="http://schemas.microsoft.com/office/drawing/2014/main" id="{CCBB421F-2A43-EF4C-5E47-948E37A0FC29}"/>
              </a:ext>
            </a:extLst>
          </p:cNvPr>
          <p:cNvSpPr>
            <a:spLocks noGrp="1"/>
          </p:cNvSpPr>
          <p:nvPr>
            <p:ph idx="1"/>
          </p:nvPr>
        </p:nvSpPr>
        <p:spPr/>
        <p:txBody>
          <a:bodyPr>
            <a:normAutofit/>
          </a:bodyPr>
          <a:lstStyle/>
          <a:p>
            <a:r>
              <a:rPr lang="en-US" b="1" dirty="0">
                <a:latin typeface="Aptos" panose="020B0004020202020204" pitchFamily="34" charset="0"/>
              </a:rPr>
              <a:t>Real-World Success:</a:t>
            </a:r>
            <a:r>
              <a:rPr lang="en-US" dirty="0">
                <a:latin typeface="Aptos" panose="020B0004020202020204" pitchFamily="34" charset="0"/>
              </a:rPr>
              <a:t> Major companies rely heavily on data. For example, the airline Lufthansa completely reorganized their data and boosted their company-wide efficiency by 30%. Nike used data to understand their supply chain, which lowered costs and allowed them to deliver shoes faster to loyal customers.</a:t>
            </a:r>
          </a:p>
          <a:p>
            <a:r>
              <a:rPr lang="en-US" b="1" dirty="0">
                <a:latin typeface="Aptos" panose="020B0004020202020204" pitchFamily="34" charset="0"/>
              </a:rPr>
              <a:t>Who Makes It Happen?</a:t>
            </a:r>
            <a:r>
              <a:rPr lang="en-US" dirty="0">
                <a:latin typeface="Aptos" panose="020B0004020202020204" pitchFamily="34" charset="0"/>
              </a:rPr>
              <a:t> It takes skilled professionals to turn massive files of raw numbers into brilliant business decisions. Some of the most important roles include:</a:t>
            </a:r>
          </a:p>
          <a:p>
            <a:pPr lvl="1"/>
            <a:r>
              <a:rPr lang="en-US" b="1" dirty="0">
                <a:latin typeface="Aptos" panose="020B0004020202020204" pitchFamily="34" charset="0"/>
              </a:rPr>
              <a:t>Data Analysts:</a:t>
            </a:r>
            <a:r>
              <a:rPr lang="en-US" dirty="0">
                <a:latin typeface="Aptos" panose="020B0004020202020204" pitchFamily="34" charset="0"/>
              </a:rPr>
              <a:t> Who sort through large amounts of data to find trends and build visual charts.</a:t>
            </a:r>
          </a:p>
          <a:p>
            <a:pPr lvl="1"/>
            <a:r>
              <a:rPr lang="en-US" b="1" dirty="0">
                <a:latin typeface="Aptos" panose="020B0004020202020204" pitchFamily="34" charset="0"/>
              </a:rPr>
              <a:t>Data Engineers &amp; Database Administrators:</a:t>
            </a:r>
            <a:r>
              <a:rPr lang="en-US" dirty="0">
                <a:latin typeface="Aptos" panose="020B0004020202020204" pitchFamily="34" charset="0"/>
              </a:rPr>
              <a:t> Who build secure computer systems to store information safely.</a:t>
            </a:r>
          </a:p>
          <a:p>
            <a:pPr lvl="1"/>
            <a:r>
              <a:rPr lang="en-US" b="1" dirty="0">
                <a:latin typeface="Aptos" panose="020B0004020202020204" pitchFamily="34" charset="0"/>
              </a:rPr>
              <a:t>Business Analysts &amp; Data Scientists:</a:t>
            </a:r>
            <a:r>
              <a:rPr lang="en-US" dirty="0">
                <a:latin typeface="Aptos" panose="020B0004020202020204" pitchFamily="34" charset="0"/>
              </a:rPr>
              <a:t> Who evaluate the company's performance and use advanced statistics to offer problem-solving advice to leaders.</a:t>
            </a:r>
          </a:p>
        </p:txBody>
      </p:sp>
    </p:spTree>
    <p:extLst>
      <p:ext uri="{BB962C8B-B14F-4D97-AF65-F5344CB8AC3E}">
        <p14:creationId xmlns:p14="http://schemas.microsoft.com/office/powerpoint/2010/main" val="8108229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55AC7-A1AE-66F4-AFF0-C67D23A74EB8}"/>
              </a:ext>
            </a:extLst>
          </p:cNvPr>
          <p:cNvSpPr>
            <a:spLocks noGrp="1"/>
          </p:cNvSpPr>
          <p:nvPr>
            <p:ph type="title"/>
          </p:nvPr>
        </p:nvSpPr>
        <p:spPr/>
        <p:txBody>
          <a:bodyPr>
            <a:noAutofit/>
          </a:bodyPr>
          <a:lstStyle/>
          <a:p>
            <a:r>
              <a:rPr lang="en-US" sz="2800" b="1" dirty="0">
                <a:latin typeface="Aptos" panose="020B0004020202020204" pitchFamily="34" charset="0"/>
              </a:rPr>
              <a:t>The Hidden Traps of Using Data</a:t>
            </a:r>
            <a:br>
              <a:rPr lang="en-US" sz="2800" b="1" dirty="0">
                <a:latin typeface="Aptos" panose="020B0004020202020204" pitchFamily="34" charset="0"/>
              </a:rPr>
            </a:br>
            <a:r>
              <a:rPr lang="en-US" sz="2800" dirty="0">
                <a:latin typeface="Aptos" panose="020B0004020202020204" pitchFamily="34" charset="0"/>
              </a:rPr>
              <a:t>The Goal of DDDM, A False Sense of Security, The Importance of Quality</a:t>
            </a:r>
          </a:p>
        </p:txBody>
      </p:sp>
      <p:sp>
        <p:nvSpPr>
          <p:cNvPr id="3" name="Content Placeholder 2">
            <a:extLst>
              <a:ext uri="{FF2B5EF4-FFF2-40B4-BE49-F238E27FC236}">
                <a16:creationId xmlns:a16="http://schemas.microsoft.com/office/drawing/2014/main" id="{376C83DE-85C3-3DF8-C663-9A53EAB38781}"/>
              </a:ext>
            </a:extLst>
          </p:cNvPr>
          <p:cNvSpPr>
            <a:spLocks noGrp="1"/>
          </p:cNvSpPr>
          <p:nvPr>
            <p:ph idx="1"/>
          </p:nvPr>
        </p:nvSpPr>
        <p:spPr/>
        <p:txBody>
          <a:bodyPr/>
          <a:lstStyle/>
          <a:p>
            <a:r>
              <a:rPr lang="en-US" b="1" dirty="0">
                <a:latin typeface="Aptos" panose="020B0004020202020204" pitchFamily="34" charset="0"/>
              </a:rPr>
              <a:t>The Goal of DDDM:</a:t>
            </a:r>
            <a:r>
              <a:rPr lang="en-US" dirty="0">
                <a:latin typeface="Aptos" panose="020B0004020202020204" pitchFamily="34" charset="0"/>
              </a:rPr>
              <a:t> Data-Driven Decision-Making (DDDM) is meant to help companies make smart choices based on hard facts instead of guessing. It promises to improve accuracy and build confidence among business leaders.</a:t>
            </a:r>
          </a:p>
          <a:p>
            <a:r>
              <a:rPr lang="en-US" b="1" dirty="0">
                <a:latin typeface="Aptos" panose="020B0004020202020204" pitchFamily="34" charset="0"/>
              </a:rPr>
              <a:t>A False Sense of Security:</a:t>
            </a:r>
            <a:r>
              <a:rPr lang="en-US" dirty="0">
                <a:latin typeface="Aptos" panose="020B0004020202020204" pitchFamily="34" charset="0"/>
              </a:rPr>
              <a:t> One of the biggest pitfalls is assuming that just because a decision involves numbers, it must be correct. People can become overly confident in data, forgetting that bad information easily leads to bad decisions.</a:t>
            </a:r>
          </a:p>
          <a:p>
            <a:r>
              <a:rPr lang="en-US" b="1" dirty="0">
                <a:latin typeface="Aptos" panose="020B0004020202020204" pitchFamily="34" charset="0"/>
              </a:rPr>
              <a:t>Untrustworthy Data:</a:t>
            </a:r>
            <a:r>
              <a:rPr lang="en-US" dirty="0">
                <a:latin typeface="Aptos" panose="020B0004020202020204" pitchFamily="34" charset="0"/>
              </a:rPr>
              <a:t> The entire process relies on good ingredients. If the data collected is outdated, biased, incomplete, or full of errors, the entire decision-making process is poisoned from the very beginning.</a:t>
            </a:r>
          </a:p>
        </p:txBody>
      </p:sp>
    </p:spTree>
    <p:extLst>
      <p:ext uri="{BB962C8B-B14F-4D97-AF65-F5344CB8AC3E}">
        <p14:creationId xmlns:p14="http://schemas.microsoft.com/office/powerpoint/2010/main" val="8109887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33ABA-DAC8-C9CC-F23E-4CCEE41F0032}"/>
              </a:ext>
            </a:extLst>
          </p:cNvPr>
          <p:cNvSpPr>
            <a:spLocks noGrp="1"/>
          </p:cNvSpPr>
          <p:nvPr>
            <p:ph type="title"/>
          </p:nvPr>
        </p:nvSpPr>
        <p:spPr/>
        <p:txBody>
          <a:bodyPr>
            <a:noAutofit/>
          </a:bodyPr>
          <a:lstStyle/>
          <a:p>
            <a:r>
              <a:rPr lang="en-US" sz="2800" b="1" dirty="0">
                <a:latin typeface="Aptos" panose="020B0004020202020204" pitchFamily="34" charset="0"/>
              </a:rPr>
              <a:t>Flaws in Analysis and Recommendations</a:t>
            </a:r>
            <a:br>
              <a:rPr lang="en-US" sz="2800" b="1" dirty="0">
                <a:latin typeface="Aptos" panose="020B0004020202020204" pitchFamily="34" charset="0"/>
              </a:rPr>
            </a:br>
            <a:r>
              <a:rPr lang="en-US" sz="2800" dirty="0">
                <a:latin typeface="Aptos" panose="020B0004020202020204" pitchFamily="34" charset="0"/>
              </a:rPr>
              <a:t>Flawed Analysis, The “Streetlight Effect”, Disconnected Advice</a:t>
            </a:r>
          </a:p>
        </p:txBody>
      </p:sp>
      <p:sp>
        <p:nvSpPr>
          <p:cNvPr id="3" name="Content Placeholder 2">
            <a:extLst>
              <a:ext uri="{FF2B5EF4-FFF2-40B4-BE49-F238E27FC236}">
                <a16:creationId xmlns:a16="http://schemas.microsoft.com/office/drawing/2014/main" id="{65C1F8AB-F5FE-6B63-A524-D11EA38DB606}"/>
              </a:ext>
            </a:extLst>
          </p:cNvPr>
          <p:cNvSpPr>
            <a:spLocks noGrp="1"/>
          </p:cNvSpPr>
          <p:nvPr>
            <p:ph idx="1"/>
          </p:nvPr>
        </p:nvSpPr>
        <p:spPr/>
        <p:txBody>
          <a:bodyPr>
            <a:normAutofit/>
          </a:bodyPr>
          <a:lstStyle/>
          <a:p>
            <a:r>
              <a:rPr lang="en-US" b="1" dirty="0">
                <a:latin typeface="Aptos" panose="020B0004020202020204" pitchFamily="34" charset="0"/>
              </a:rPr>
              <a:t>Flawed Analysis:</a:t>
            </a:r>
            <a:r>
              <a:rPr lang="en-US" dirty="0">
                <a:latin typeface="Aptos" panose="020B0004020202020204" pitchFamily="34" charset="0"/>
              </a:rPr>
              <a:t> Sometimes the data is perfectly fine, but the people looking at it make mistakes. Without proper training, employees might misread the numbers, jump to conclusions, or only look for data that supports what they already want to do (Confirmation Bias).</a:t>
            </a:r>
          </a:p>
          <a:p>
            <a:r>
              <a:rPr lang="en-US" b="1" dirty="0">
                <a:latin typeface="Aptos" panose="020B0004020202020204" pitchFamily="34" charset="0"/>
              </a:rPr>
              <a:t>The "Streetlight Effect":</a:t>
            </a:r>
            <a:r>
              <a:rPr lang="en-US" dirty="0">
                <a:latin typeface="Aptos" panose="020B0004020202020204" pitchFamily="34" charset="0"/>
              </a:rPr>
              <a:t> This is a trap where companies only measure and care about things that are easy to track with numbers (like daily clicks). In doing so, they completely ignore harder-to-measure factors (like long-term customer loyalty) that might actually be much more important to the business.</a:t>
            </a:r>
          </a:p>
          <a:p>
            <a:r>
              <a:rPr lang="en-US" b="1" dirty="0">
                <a:latin typeface="Aptos" panose="020B0004020202020204" pitchFamily="34" charset="0"/>
              </a:rPr>
              <a:t>Disconnected Recommendations:</a:t>
            </a:r>
            <a:r>
              <a:rPr lang="en-US" dirty="0">
                <a:latin typeface="Aptos" panose="020B0004020202020204" pitchFamily="34" charset="0"/>
              </a:rPr>
              <a:t> Even if the analysis is perfect, the final advice given to leaders might fail. This happens when the data team doesn't talk to the everyday business workers. They might recommend a solution that looks great on a spreadsheet but is impossible to execute in real life.</a:t>
            </a:r>
          </a:p>
        </p:txBody>
      </p:sp>
    </p:spTree>
    <p:extLst>
      <p:ext uri="{BB962C8B-B14F-4D97-AF65-F5344CB8AC3E}">
        <p14:creationId xmlns:p14="http://schemas.microsoft.com/office/powerpoint/2010/main" val="36558643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C6413-7E9D-ED08-63D6-62678172F05C}"/>
              </a:ext>
            </a:extLst>
          </p:cNvPr>
          <p:cNvSpPr>
            <a:spLocks noGrp="1"/>
          </p:cNvSpPr>
          <p:nvPr>
            <p:ph type="title"/>
          </p:nvPr>
        </p:nvSpPr>
        <p:spPr/>
        <p:txBody>
          <a:bodyPr>
            <a:noAutofit/>
          </a:bodyPr>
          <a:lstStyle/>
          <a:p>
            <a:r>
              <a:rPr lang="en-US" sz="2800" b="1" dirty="0">
                <a:latin typeface="Aptos" panose="020B0004020202020204" pitchFamily="34" charset="0"/>
              </a:rPr>
              <a:t>Finding the Right Balance</a:t>
            </a:r>
            <a:br>
              <a:rPr lang="en-US" sz="2800" b="1" dirty="0">
                <a:latin typeface="Aptos" panose="020B0004020202020204" pitchFamily="34" charset="0"/>
              </a:rPr>
            </a:br>
            <a:r>
              <a:rPr lang="en-US" sz="2800" dirty="0">
                <a:latin typeface="Aptos" panose="020B0004020202020204" pitchFamily="34" charset="0"/>
              </a:rPr>
              <a:t>Forgetting Empathy, The Lack of Learning, Striking a Balance</a:t>
            </a:r>
          </a:p>
        </p:txBody>
      </p:sp>
      <p:sp>
        <p:nvSpPr>
          <p:cNvPr id="3" name="Content Placeholder 2">
            <a:extLst>
              <a:ext uri="{FF2B5EF4-FFF2-40B4-BE49-F238E27FC236}">
                <a16:creationId xmlns:a16="http://schemas.microsoft.com/office/drawing/2014/main" id="{F07D7727-2897-B4F1-6689-37E4111DD5C3}"/>
              </a:ext>
            </a:extLst>
          </p:cNvPr>
          <p:cNvSpPr>
            <a:spLocks noGrp="1"/>
          </p:cNvSpPr>
          <p:nvPr>
            <p:ph idx="1"/>
          </p:nvPr>
        </p:nvSpPr>
        <p:spPr/>
        <p:txBody>
          <a:bodyPr/>
          <a:lstStyle/>
          <a:p>
            <a:r>
              <a:rPr lang="en-US" b="1" dirty="0">
                <a:latin typeface="Aptos" panose="020B0004020202020204" pitchFamily="34" charset="0"/>
              </a:rPr>
              <a:t>Forgetting Empathy:</a:t>
            </a:r>
            <a:r>
              <a:rPr lang="en-US" dirty="0">
                <a:latin typeface="Aptos" panose="020B0004020202020204" pitchFamily="34" charset="0"/>
              </a:rPr>
              <a:t> Data is cold; it cannot tell you how a customer will feel. For example, data might suggest charging a massive cancellation fee to increase profits, but human intuition knows that doing so will permanently anger loyal buyers.</a:t>
            </a:r>
          </a:p>
          <a:p>
            <a:r>
              <a:rPr lang="en-US" b="1" dirty="0">
                <a:latin typeface="Aptos" panose="020B0004020202020204" pitchFamily="34" charset="0"/>
              </a:rPr>
              <a:t>Failing to Learn:</a:t>
            </a:r>
            <a:r>
              <a:rPr lang="en-US" dirty="0">
                <a:latin typeface="Aptos" panose="020B0004020202020204" pitchFamily="34" charset="0"/>
              </a:rPr>
              <a:t> A major pitfall is making a decision, breathing a sigh of relief, and simply moving on. Companies often fail to look back at their data-driven decisions months later to see if they actually worked. Without tracking the results, you cannot learn from your mistakes.</a:t>
            </a:r>
          </a:p>
          <a:p>
            <a:r>
              <a:rPr lang="en-US" b="1" dirty="0">
                <a:latin typeface="Aptos" panose="020B0004020202020204" pitchFamily="34" charset="0"/>
              </a:rPr>
              <a:t>Striking a Balance:</a:t>
            </a:r>
            <a:r>
              <a:rPr lang="en-US" dirty="0">
                <a:latin typeface="Aptos" panose="020B0004020202020204" pitchFamily="34" charset="0"/>
              </a:rPr>
              <a:t> The most successful companies do not rely 100% on data to run their business. They use data to understand the technical side of a problem, but they still rely on human experience, context, and empathy to make the final, holistic decision.</a:t>
            </a:r>
          </a:p>
        </p:txBody>
      </p:sp>
    </p:spTree>
    <p:extLst>
      <p:ext uri="{BB962C8B-B14F-4D97-AF65-F5344CB8AC3E}">
        <p14:creationId xmlns:p14="http://schemas.microsoft.com/office/powerpoint/2010/main" val="34807656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BBF4D-067D-6E2C-B015-8E482415B1A4}"/>
              </a:ext>
            </a:extLst>
          </p:cNvPr>
          <p:cNvSpPr>
            <a:spLocks noGrp="1"/>
          </p:cNvSpPr>
          <p:nvPr>
            <p:ph type="title"/>
          </p:nvPr>
        </p:nvSpPr>
        <p:spPr/>
        <p:txBody>
          <a:bodyPr>
            <a:normAutofit/>
          </a:bodyPr>
          <a:lstStyle/>
          <a:p>
            <a:r>
              <a:rPr lang="en-US" sz="3200" b="1" dirty="0">
                <a:latin typeface="Aptos" panose="020B0004020202020204" pitchFamily="34" charset="0"/>
              </a:rPr>
              <a:t>Table of Contents</a:t>
            </a:r>
          </a:p>
        </p:txBody>
      </p:sp>
      <p:sp>
        <p:nvSpPr>
          <p:cNvPr id="3" name="Content Placeholder 2">
            <a:extLst>
              <a:ext uri="{FF2B5EF4-FFF2-40B4-BE49-F238E27FC236}">
                <a16:creationId xmlns:a16="http://schemas.microsoft.com/office/drawing/2014/main" id="{FEC6A8F8-26BA-B63A-B6CD-C30EA1C55189}"/>
              </a:ext>
            </a:extLst>
          </p:cNvPr>
          <p:cNvSpPr>
            <a:spLocks noGrp="1"/>
          </p:cNvSpPr>
          <p:nvPr>
            <p:ph idx="1"/>
          </p:nvPr>
        </p:nvSpPr>
        <p:spPr>
          <a:xfrm>
            <a:off x="2589212" y="1468877"/>
            <a:ext cx="8915400" cy="4442345"/>
          </a:xfrm>
        </p:spPr>
        <p:txBody>
          <a:bodyPr>
            <a:normAutofit/>
          </a:bodyPr>
          <a:lstStyle/>
          <a:p>
            <a:r>
              <a:rPr lang="en-US" sz="2000" dirty="0">
                <a:latin typeface="Aptos" panose="020B0004020202020204" pitchFamily="34" charset="0"/>
              </a:rPr>
              <a:t>Introduction to Scenario Analysis</a:t>
            </a:r>
          </a:p>
          <a:p>
            <a:r>
              <a:rPr lang="en-US" sz="2000" dirty="0">
                <a:latin typeface="Aptos" panose="020B0004020202020204" pitchFamily="34" charset="0"/>
              </a:rPr>
              <a:t>How It Works in Real Life</a:t>
            </a:r>
          </a:p>
          <a:p>
            <a:r>
              <a:rPr lang="en-US" sz="2000" dirty="0">
                <a:latin typeface="Aptos" panose="020B0004020202020204" pitchFamily="34" charset="0"/>
              </a:rPr>
              <a:t>The Pros and Cons</a:t>
            </a:r>
          </a:p>
        </p:txBody>
      </p:sp>
    </p:spTree>
    <p:extLst>
      <p:ext uri="{BB962C8B-B14F-4D97-AF65-F5344CB8AC3E}">
        <p14:creationId xmlns:p14="http://schemas.microsoft.com/office/powerpoint/2010/main" val="207680035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1BEC5-775F-4E6B-22BF-CE88A92E5B2A}"/>
              </a:ext>
            </a:extLst>
          </p:cNvPr>
          <p:cNvSpPr>
            <a:spLocks noGrp="1"/>
          </p:cNvSpPr>
          <p:nvPr>
            <p:ph type="title"/>
          </p:nvPr>
        </p:nvSpPr>
        <p:spPr/>
        <p:txBody>
          <a:bodyPr>
            <a:normAutofit/>
          </a:bodyPr>
          <a:lstStyle/>
          <a:p>
            <a:r>
              <a:rPr lang="en-US" sz="2800" b="1" dirty="0">
                <a:latin typeface="Aptos" panose="020B0004020202020204" pitchFamily="34" charset="0"/>
              </a:rPr>
              <a:t>What is Scenario Analysis?</a:t>
            </a:r>
            <a:br>
              <a:rPr lang="en-US" sz="2800" b="1" dirty="0">
                <a:latin typeface="Aptos" panose="020B0004020202020204" pitchFamily="34" charset="0"/>
              </a:rPr>
            </a:br>
            <a:r>
              <a:rPr lang="en-US" sz="2800" dirty="0">
                <a:latin typeface="Aptos" panose="020B0004020202020204" pitchFamily="34" charset="0"/>
              </a:rPr>
              <a:t>The Definition, The Three Main Scenarios, Why It is Used</a:t>
            </a:r>
          </a:p>
        </p:txBody>
      </p:sp>
      <p:sp>
        <p:nvSpPr>
          <p:cNvPr id="3" name="Content Placeholder 2">
            <a:extLst>
              <a:ext uri="{FF2B5EF4-FFF2-40B4-BE49-F238E27FC236}">
                <a16:creationId xmlns:a16="http://schemas.microsoft.com/office/drawing/2014/main" id="{136D9D49-4220-0108-010B-3762895AAD09}"/>
              </a:ext>
            </a:extLst>
          </p:cNvPr>
          <p:cNvSpPr>
            <a:spLocks noGrp="1"/>
          </p:cNvSpPr>
          <p:nvPr>
            <p:ph idx="1"/>
          </p:nvPr>
        </p:nvSpPr>
        <p:spPr/>
        <p:txBody>
          <a:bodyPr>
            <a:normAutofit/>
          </a:bodyPr>
          <a:lstStyle/>
          <a:p>
            <a:r>
              <a:rPr lang="en-US" b="1" dirty="0">
                <a:latin typeface="Aptos" panose="020B0004020202020204" pitchFamily="34" charset="0"/>
              </a:rPr>
              <a:t>The Basics:</a:t>
            </a:r>
            <a:r>
              <a:rPr lang="en-US" dirty="0">
                <a:latin typeface="Aptos" panose="020B0004020202020204" pitchFamily="34" charset="0"/>
              </a:rPr>
              <a:t> Scenario analysis is a way of predicting the future. It is a mathematical process used by investors and businesses to estimate what will happen to their money if specific events occur in the world.</a:t>
            </a:r>
          </a:p>
          <a:p>
            <a:r>
              <a:rPr lang="en-US" b="1" dirty="0">
                <a:latin typeface="Aptos" panose="020B0004020202020204" pitchFamily="34" charset="0"/>
              </a:rPr>
              <a:t>The Three Main Scenarios:</a:t>
            </a:r>
            <a:r>
              <a:rPr lang="en-US" dirty="0">
                <a:latin typeface="Aptos" panose="020B0004020202020204" pitchFamily="34" charset="0"/>
              </a:rPr>
              <a:t> Instead of just making one guess, financial experts usually calculate three different outcomes for any situation:</a:t>
            </a:r>
          </a:p>
          <a:p>
            <a:pPr lvl="1"/>
            <a:r>
              <a:rPr lang="en-US" b="1" dirty="0">
                <a:latin typeface="Aptos" panose="020B0004020202020204" pitchFamily="34" charset="0"/>
              </a:rPr>
              <a:t>Base-Case Scenario:</a:t>
            </a:r>
            <a:r>
              <a:rPr lang="en-US" dirty="0">
                <a:latin typeface="Aptos" panose="020B0004020202020204" pitchFamily="34" charset="0"/>
              </a:rPr>
              <a:t> What is most likely to happen based on normal, everyday conditions.</a:t>
            </a:r>
          </a:p>
          <a:p>
            <a:pPr lvl="1"/>
            <a:r>
              <a:rPr lang="en-US" b="1" dirty="0">
                <a:latin typeface="Aptos" panose="020B0004020202020204" pitchFamily="34" charset="0"/>
              </a:rPr>
              <a:t>Worst-Case Scenario:</a:t>
            </a:r>
            <a:r>
              <a:rPr lang="en-US" dirty="0">
                <a:latin typeface="Aptos" panose="020B0004020202020204" pitchFamily="34" charset="0"/>
              </a:rPr>
              <a:t> What will happen if absolutely everything goes wrong.</a:t>
            </a:r>
          </a:p>
          <a:p>
            <a:pPr lvl="1"/>
            <a:r>
              <a:rPr lang="en-US" b="1" dirty="0">
                <a:latin typeface="Aptos" panose="020B0004020202020204" pitchFamily="34" charset="0"/>
              </a:rPr>
              <a:t>Best-Case Scenario:</a:t>
            </a:r>
            <a:r>
              <a:rPr lang="en-US" dirty="0">
                <a:latin typeface="Aptos" panose="020B0004020202020204" pitchFamily="34" charset="0"/>
              </a:rPr>
              <a:t> What will happen if everything goes perfectly.</a:t>
            </a:r>
          </a:p>
          <a:p>
            <a:r>
              <a:rPr lang="en-US" b="1" dirty="0">
                <a:latin typeface="Aptos" panose="020B0004020202020204" pitchFamily="34" charset="0"/>
              </a:rPr>
              <a:t>Why Use It?</a:t>
            </a:r>
            <a:r>
              <a:rPr lang="en-US" dirty="0">
                <a:latin typeface="Aptos" panose="020B0004020202020204" pitchFamily="34" charset="0"/>
              </a:rPr>
              <a:t> It acts like a "financial rehearsal." By calculating what might happen before it actually happens, companies and investors can prepare themselves for the future and avoid being caught completely off guard.</a:t>
            </a:r>
          </a:p>
        </p:txBody>
      </p:sp>
    </p:spTree>
    <p:extLst>
      <p:ext uri="{BB962C8B-B14F-4D97-AF65-F5344CB8AC3E}">
        <p14:creationId xmlns:p14="http://schemas.microsoft.com/office/powerpoint/2010/main" val="228397732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64DC3-970C-149C-7D3F-4277E1DE8EE4}"/>
              </a:ext>
            </a:extLst>
          </p:cNvPr>
          <p:cNvSpPr>
            <a:spLocks noGrp="1"/>
          </p:cNvSpPr>
          <p:nvPr>
            <p:ph type="title"/>
          </p:nvPr>
        </p:nvSpPr>
        <p:spPr/>
        <p:txBody>
          <a:bodyPr>
            <a:noAutofit/>
          </a:bodyPr>
          <a:lstStyle/>
          <a:p>
            <a:r>
              <a:rPr lang="en-US" sz="2800" b="1" dirty="0">
                <a:latin typeface="Aptos" panose="020B0004020202020204" pitchFamily="34" charset="0"/>
              </a:rPr>
              <a:t>Testing the Future and Managing Risk</a:t>
            </a:r>
            <a:br>
              <a:rPr lang="en-US" sz="2800" b="1" dirty="0">
                <a:latin typeface="Aptos" panose="020B0004020202020204" pitchFamily="34" charset="0"/>
              </a:rPr>
            </a:br>
            <a:r>
              <a:rPr lang="en-US" sz="2800" dirty="0">
                <a:latin typeface="Aptos" panose="020B0004020202020204" pitchFamily="34" charset="0"/>
              </a:rPr>
              <a:t>Testing “What-Ifs”, Managing Risk, Personal vs. Business Use</a:t>
            </a:r>
          </a:p>
        </p:txBody>
      </p:sp>
      <p:sp>
        <p:nvSpPr>
          <p:cNvPr id="3" name="Content Placeholder 2">
            <a:extLst>
              <a:ext uri="{FF2B5EF4-FFF2-40B4-BE49-F238E27FC236}">
                <a16:creationId xmlns:a16="http://schemas.microsoft.com/office/drawing/2014/main" id="{7CC599E6-2ABD-5D95-7D53-CD30D1AD27EB}"/>
              </a:ext>
            </a:extLst>
          </p:cNvPr>
          <p:cNvSpPr>
            <a:spLocks noGrp="1"/>
          </p:cNvSpPr>
          <p:nvPr>
            <p:ph idx="1"/>
          </p:nvPr>
        </p:nvSpPr>
        <p:spPr/>
        <p:txBody>
          <a:bodyPr/>
          <a:lstStyle/>
          <a:p>
            <a:r>
              <a:rPr lang="en-US" b="1" dirty="0">
                <a:latin typeface="Aptos" panose="020B0004020202020204" pitchFamily="34" charset="0"/>
              </a:rPr>
              <a:t>Testing "What-Ifs":</a:t>
            </a:r>
            <a:r>
              <a:rPr lang="en-US" dirty="0">
                <a:latin typeface="Aptos" panose="020B0004020202020204" pitchFamily="34" charset="0"/>
              </a:rPr>
              <a:t> Analysts use math to test different real-world situations. For example, they will ask: What happens to our profits if the cost of raw materials suddenly doubles? What happens to our investments if a new president changes the tax laws?</a:t>
            </a:r>
          </a:p>
          <a:p>
            <a:r>
              <a:rPr lang="en-US" b="1" dirty="0">
                <a:latin typeface="Aptos" panose="020B0004020202020204" pitchFamily="34" charset="0"/>
              </a:rPr>
              <a:t>Managing Risk:</a:t>
            </a:r>
            <a:r>
              <a:rPr lang="en-US" dirty="0">
                <a:latin typeface="Aptos" panose="020B0004020202020204" pitchFamily="34" charset="0"/>
              </a:rPr>
              <a:t> The ultimate goal is risk management. By looking closely at the "worst-case scenario," a company can decide if an investment is simply too dangerous to try. It helps them protect their money from massive losses.</a:t>
            </a:r>
          </a:p>
          <a:p>
            <a:r>
              <a:rPr lang="en-US" b="1" dirty="0">
                <a:latin typeface="Aptos" panose="020B0004020202020204" pitchFamily="34" charset="0"/>
              </a:rPr>
              <a:t>Who Uses It?</a:t>
            </a:r>
            <a:r>
              <a:rPr lang="en-US" dirty="0">
                <a:latin typeface="Aptos" panose="020B0004020202020204" pitchFamily="34" charset="0"/>
              </a:rPr>
              <a:t> Large corporations use it to plan their yearly budgets and test new product launches. However, regular people use it too! Anyone calculating how a stock market crash might affect their personal retirement savings is doing a form of scenario analysis.</a:t>
            </a:r>
          </a:p>
        </p:txBody>
      </p:sp>
    </p:spTree>
    <p:extLst>
      <p:ext uri="{BB962C8B-B14F-4D97-AF65-F5344CB8AC3E}">
        <p14:creationId xmlns:p14="http://schemas.microsoft.com/office/powerpoint/2010/main" val="20126193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EB977-0AF1-0E33-6A05-E9BBBD5C4E08}"/>
              </a:ext>
            </a:extLst>
          </p:cNvPr>
          <p:cNvSpPr>
            <a:spLocks noGrp="1"/>
          </p:cNvSpPr>
          <p:nvPr>
            <p:ph type="title"/>
          </p:nvPr>
        </p:nvSpPr>
        <p:spPr/>
        <p:txBody>
          <a:bodyPr>
            <a:noAutofit/>
          </a:bodyPr>
          <a:lstStyle/>
          <a:p>
            <a:r>
              <a:rPr lang="en-US" sz="2800" b="1" dirty="0">
                <a:latin typeface="Aptos" panose="020B0004020202020204" pitchFamily="34" charset="0"/>
              </a:rPr>
              <a:t>The Strengths and Weaknesses of Scenario Analysis</a:t>
            </a:r>
            <a:br>
              <a:rPr lang="en-US" sz="2800" b="1" dirty="0">
                <a:latin typeface="Aptos" panose="020B0004020202020204" pitchFamily="34" charset="0"/>
              </a:rPr>
            </a:br>
            <a:r>
              <a:rPr lang="en-US" sz="2800" dirty="0">
                <a:latin typeface="Aptos" panose="020B0004020202020204" pitchFamily="34" charset="0"/>
              </a:rPr>
              <a:t>The Major Benefits, The Big Flaws, The Unpredictable Future</a:t>
            </a:r>
          </a:p>
        </p:txBody>
      </p:sp>
      <p:sp>
        <p:nvSpPr>
          <p:cNvPr id="3" name="Content Placeholder 2">
            <a:extLst>
              <a:ext uri="{FF2B5EF4-FFF2-40B4-BE49-F238E27FC236}">
                <a16:creationId xmlns:a16="http://schemas.microsoft.com/office/drawing/2014/main" id="{BAEDBE38-B6B0-CF77-BB63-D7F4FFE0694D}"/>
              </a:ext>
            </a:extLst>
          </p:cNvPr>
          <p:cNvSpPr>
            <a:spLocks noGrp="1"/>
          </p:cNvSpPr>
          <p:nvPr>
            <p:ph idx="1"/>
          </p:nvPr>
        </p:nvSpPr>
        <p:spPr/>
        <p:txBody>
          <a:bodyPr/>
          <a:lstStyle/>
          <a:p>
            <a:r>
              <a:rPr lang="en-US" b="1" dirty="0">
                <a:latin typeface="Aptos" panose="020B0004020202020204" pitchFamily="34" charset="0"/>
              </a:rPr>
              <a:t>The Major Benefits:</a:t>
            </a:r>
            <a:r>
              <a:rPr lang="en-US" dirty="0">
                <a:latin typeface="Aptos" panose="020B0004020202020204" pitchFamily="34" charset="0"/>
              </a:rPr>
              <a:t> It forces leaders to be proactive instead of reactive. When a crisis eventually hits, companies that use scenario analysis stay calm and survive because they already created a backup plan months in advance.</a:t>
            </a:r>
          </a:p>
          <a:p>
            <a:r>
              <a:rPr lang="en-US" b="1" dirty="0">
                <a:latin typeface="Aptos" panose="020B0004020202020204" pitchFamily="34" charset="0"/>
              </a:rPr>
              <a:t>The Big Flaws:</a:t>
            </a:r>
            <a:r>
              <a:rPr lang="en-US" dirty="0">
                <a:latin typeface="Aptos" panose="020B0004020202020204" pitchFamily="34" charset="0"/>
              </a:rPr>
              <a:t> It is not a magic crystal ball. A scenario analysis is only a guess, and the math is only as good as the information you put into it. If your assumptions about the future are wrong, your calculations will be totally wrong, too.</a:t>
            </a:r>
          </a:p>
          <a:p>
            <a:r>
              <a:rPr lang="en-US" b="1" dirty="0">
                <a:latin typeface="Aptos" panose="020B0004020202020204" pitchFamily="34" charset="0"/>
              </a:rPr>
              <a:t>The Unpredictable Future:</a:t>
            </a:r>
            <a:r>
              <a:rPr lang="en-US" dirty="0">
                <a:latin typeface="Aptos" panose="020B0004020202020204" pitchFamily="34" charset="0"/>
              </a:rPr>
              <a:t> It is impossible to model everything. Scenario analysis struggles to predict "Black Swan" events—which are massive, completely unexpected global disasters (like a sudden pandemic or a natural disaster) that no one could have possibly planned for.</a:t>
            </a:r>
          </a:p>
        </p:txBody>
      </p:sp>
    </p:spTree>
    <p:extLst>
      <p:ext uri="{BB962C8B-B14F-4D97-AF65-F5344CB8AC3E}">
        <p14:creationId xmlns:p14="http://schemas.microsoft.com/office/powerpoint/2010/main" val="257486566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6B741-5F08-F11E-9B38-31A2F8392E5A}"/>
              </a:ext>
            </a:extLst>
          </p:cNvPr>
          <p:cNvSpPr>
            <a:spLocks noGrp="1"/>
          </p:cNvSpPr>
          <p:nvPr>
            <p:ph type="title"/>
          </p:nvPr>
        </p:nvSpPr>
        <p:spPr/>
        <p:txBody>
          <a:bodyPr>
            <a:normAutofit/>
          </a:bodyPr>
          <a:lstStyle/>
          <a:p>
            <a:r>
              <a:rPr lang="en-US" sz="3200" b="1" dirty="0">
                <a:latin typeface="Aptos" panose="020B0004020202020204" pitchFamily="34" charset="0"/>
              </a:rPr>
              <a:t>Table of Contents</a:t>
            </a:r>
          </a:p>
        </p:txBody>
      </p:sp>
      <p:sp>
        <p:nvSpPr>
          <p:cNvPr id="3" name="Content Placeholder 2">
            <a:extLst>
              <a:ext uri="{FF2B5EF4-FFF2-40B4-BE49-F238E27FC236}">
                <a16:creationId xmlns:a16="http://schemas.microsoft.com/office/drawing/2014/main" id="{4ECCEEF8-3B9A-2C6C-F330-DCA2130FA96D}"/>
              </a:ext>
            </a:extLst>
          </p:cNvPr>
          <p:cNvSpPr>
            <a:spLocks noGrp="1"/>
          </p:cNvSpPr>
          <p:nvPr>
            <p:ph idx="1"/>
          </p:nvPr>
        </p:nvSpPr>
        <p:spPr>
          <a:xfrm>
            <a:off x="2589212" y="1459149"/>
            <a:ext cx="8915400" cy="5175115"/>
          </a:xfrm>
        </p:spPr>
        <p:txBody>
          <a:bodyPr>
            <a:normAutofit/>
          </a:bodyPr>
          <a:lstStyle/>
          <a:p>
            <a:r>
              <a:rPr lang="en-US" sz="2000" dirty="0">
                <a:latin typeface="Aptos" panose="020B0004020202020204" pitchFamily="34" charset="0"/>
              </a:rPr>
              <a:t>The Rulebook for Your Data</a:t>
            </a:r>
          </a:p>
          <a:p>
            <a:r>
              <a:rPr lang="en-US" sz="2000" dirty="0">
                <a:latin typeface="Aptos" panose="020B0004020202020204" pitchFamily="34" charset="0"/>
              </a:rPr>
              <a:t>The Core Goals of Governance</a:t>
            </a:r>
          </a:p>
          <a:p>
            <a:r>
              <a:rPr lang="en-US" sz="2000" dirty="0">
                <a:latin typeface="Aptos" panose="020B0004020202020204" pitchFamily="34" charset="0"/>
              </a:rPr>
              <a:t>The Benefits of Doing it Right</a:t>
            </a:r>
          </a:p>
          <a:p>
            <a:r>
              <a:rPr lang="en-US" sz="2000" dirty="0">
                <a:latin typeface="Aptos" panose="020B0004020202020204" pitchFamily="34" charset="0"/>
              </a:rPr>
              <a:t>The Basics of Data Governance</a:t>
            </a:r>
          </a:p>
          <a:p>
            <a:r>
              <a:rPr lang="en-US" sz="2000" dirty="0">
                <a:latin typeface="Aptos" panose="020B0004020202020204" pitchFamily="34" charset="0"/>
              </a:rPr>
              <a:t>The Three Pillars of Success</a:t>
            </a:r>
          </a:p>
          <a:p>
            <a:r>
              <a:rPr lang="en-US" sz="2000" dirty="0">
                <a:latin typeface="Aptos" panose="020B0004020202020204" pitchFamily="34" charset="0"/>
              </a:rPr>
              <a:t>Why Businesses Need It</a:t>
            </a:r>
          </a:p>
          <a:p>
            <a:r>
              <a:rPr lang="en-US" sz="2000" dirty="0">
                <a:latin typeface="Aptos" panose="020B0004020202020204" pitchFamily="34" charset="0"/>
              </a:rPr>
              <a:t>Building the Rulebook</a:t>
            </a:r>
          </a:p>
          <a:p>
            <a:r>
              <a:rPr lang="en-US" sz="2000" dirty="0">
                <a:latin typeface="Aptos" panose="020B0004020202020204" pitchFamily="34" charset="0"/>
              </a:rPr>
              <a:t>Essential Policies Every Business Needs</a:t>
            </a:r>
          </a:p>
          <a:p>
            <a:r>
              <a:rPr lang="en-US" sz="2000" dirty="0">
                <a:latin typeface="Aptos" panose="020B0004020202020204" pitchFamily="34" charset="0"/>
              </a:rPr>
              <a:t>Making the Rules Stick</a:t>
            </a:r>
          </a:p>
          <a:p>
            <a:r>
              <a:rPr lang="en-US" sz="2000" dirty="0">
                <a:latin typeface="Aptos" panose="020B0004020202020204" pitchFamily="34" charset="0"/>
              </a:rPr>
              <a:t>Introduction to Data Ethics</a:t>
            </a:r>
          </a:p>
          <a:p>
            <a:r>
              <a:rPr lang="en-US" sz="2000" dirty="0">
                <a:latin typeface="Aptos" panose="020B0004020202020204" pitchFamily="34" charset="0"/>
              </a:rPr>
              <a:t>The Core Principles in Practice</a:t>
            </a:r>
          </a:p>
          <a:p>
            <a:r>
              <a:rPr lang="en-US" sz="2000" dirty="0">
                <a:latin typeface="Aptos" panose="020B0004020202020204" pitchFamily="34" charset="0"/>
              </a:rPr>
              <a:t>Fairness and Responsibility</a:t>
            </a:r>
          </a:p>
        </p:txBody>
      </p:sp>
    </p:spTree>
    <p:extLst>
      <p:ext uri="{BB962C8B-B14F-4D97-AF65-F5344CB8AC3E}">
        <p14:creationId xmlns:p14="http://schemas.microsoft.com/office/powerpoint/2010/main" val="7943245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75B52-226B-B71E-6E48-3706903CFB0C}"/>
              </a:ext>
            </a:extLst>
          </p:cNvPr>
          <p:cNvSpPr>
            <a:spLocks noGrp="1"/>
          </p:cNvSpPr>
          <p:nvPr>
            <p:ph type="title"/>
          </p:nvPr>
        </p:nvSpPr>
        <p:spPr/>
        <p:txBody>
          <a:bodyPr>
            <a:normAutofit/>
          </a:bodyPr>
          <a:lstStyle/>
          <a:p>
            <a:r>
              <a:rPr lang="en-US" sz="3200" b="1" dirty="0">
                <a:latin typeface="Aptos" panose="020B0004020202020204" pitchFamily="34" charset="0"/>
              </a:rPr>
              <a:t>Table of Contents</a:t>
            </a:r>
          </a:p>
        </p:txBody>
      </p:sp>
      <p:sp>
        <p:nvSpPr>
          <p:cNvPr id="3" name="Content Placeholder 2">
            <a:extLst>
              <a:ext uri="{FF2B5EF4-FFF2-40B4-BE49-F238E27FC236}">
                <a16:creationId xmlns:a16="http://schemas.microsoft.com/office/drawing/2014/main" id="{9F40F77F-FADA-473A-1170-1AD6269CBA89}"/>
              </a:ext>
            </a:extLst>
          </p:cNvPr>
          <p:cNvSpPr>
            <a:spLocks noGrp="1"/>
          </p:cNvSpPr>
          <p:nvPr>
            <p:ph idx="1"/>
          </p:nvPr>
        </p:nvSpPr>
        <p:spPr>
          <a:xfrm>
            <a:off x="2589212" y="1439693"/>
            <a:ext cx="8915400" cy="5223753"/>
          </a:xfrm>
        </p:spPr>
        <p:txBody>
          <a:bodyPr>
            <a:noAutofit/>
          </a:bodyPr>
          <a:lstStyle/>
          <a:p>
            <a:r>
              <a:rPr lang="en-US" sz="2000" dirty="0">
                <a:latin typeface="Aptos" panose="020B0004020202020204" pitchFamily="34" charset="0"/>
              </a:rPr>
              <a:t>Introduction to Ethical Data Collection</a:t>
            </a:r>
          </a:p>
          <a:p>
            <a:r>
              <a:rPr lang="en-US" sz="2000" dirty="0">
                <a:latin typeface="Aptos" panose="020B0004020202020204" pitchFamily="34" charset="0"/>
              </a:rPr>
              <a:t>The Core Principles of Ethics</a:t>
            </a:r>
          </a:p>
          <a:p>
            <a:r>
              <a:rPr lang="en-US" sz="2000" dirty="0">
                <a:latin typeface="Aptos" panose="020B0004020202020204" pitchFamily="34" charset="0"/>
              </a:rPr>
              <a:t>The Business Advantage</a:t>
            </a:r>
          </a:p>
          <a:p>
            <a:r>
              <a:rPr lang="en-US" sz="2000" dirty="0">
                <a:latin typeface="Aptos" panose="020B0004020202020204" pitchFamily="34" charset="0"/>
              </a:rPr>
              <a:t>The Foundation of Data Ethics</a:t>
            </a:r>
          </a:p>
          <a:p>
            <a:r>
              <a:rPr lang="en-US" sz="2000" dirty="0">
                <a:latin typeface="Aptos" panose="020B0004020202020204" pitchFamily="34" charset="0"/>
              </a:rPr>
              <a:t>Protecting Privacy and Ensuring Quality</a:t>
            </a:r>
          </a:p>
          <a:p>
            <a:r>
              <a:rPr lang="en-US" sz="2000" dirty="0">
                <a:latin typeface="Aptos" panose="020B0004020202020204" pitchFamily="34" charset="0"/>
              </a:rPr>
              <a:t>Responsibility and Fairness</a:t>
            </a:r>
          </a:p>
          <a:p>
            <a:r>
              <a:rPr lang="en-US" sz="2000" dirty="0">
                <a:latin typeface="Aptos" panose="020B0004020202020204" pitchFamily="34" charset="0"/>
              </a:rPr>
              <a:t>Introduction to Privacy Laws</a:t>
            </a:r>
          </a:p>
          <a:p>
            <a:r>
              <a:rPr lang="en-US" sz="2000" dirty="0">
                <a:latin typeface="Aptos" panose="020B0004020202020204" pitchFamily="34" charset="0"/>
              </a:rPr>
              <a:t>Key Differences Between the Laws</a:t>
            </a:r>
          </a:p>
          <a:p>
            <a:r>
              <a:rPr lang="en-US" sz="2000" dirty="0">
                <a:latin typeface="Aptos" panose="020B0004020202020204" pitchFamily="34" charset="0"/>
              </a:rPr>
              <a:t>Fines and Overlaps</a:t>
            </a:r>
          </a:p>
          <a:p>
            <a:r>
              <a:rPr lang="en-US" sz="2000" dirty="0">
                <a:latin typeface="Aptos" panose="020B0004020202020204" pitchFamily="34" charset="0"/>
              </a:rPr>
              <a:t>Rethinking Data Responsibility</a:t>
            </a:r>
          </a:p>
          <a:p>
            <a:r>
              <a:rPr lang="en-US" sz="2000" dirty="0">
                <a:latin typeface="Aptos" panose="020B0004020202020204" pitchFamily="34" charset="0"/>
              </a:rPr>
              <a:t>Building the Foundation</a:t>
            </a:r>
          </a:p>
          <a:p>
            <a:r>
              <a:rPr lang="en-US" sz="2000" dirty="0">
                <a:latin typeface="Aptos" panose="020B0004020202020204" pitchFamily="34" charset="0"/>
              </a:rPr>
              <a:t>Putting It Into Action</a:t>
            </a:r>
          </a:p>
          <a:p>
            <a:endParaRPr lang="en-US" sz="2000" dirty="0">
              <a:latin typeface="Aptos" panose="020B0004020202020204" pitchFamily="34" charset="0"/>
            </a:endParaRPr>
          </a:p>
        </p:txBody>
      </p:sp>
    </p:spTree>
    <p:extLst>
      <p:ext uri="{BB962C8B-B14F-4D97-AF65-F5344CB8AC3E}">
        <p14:creationId xmlns:p14="http://schemas.microsoft.com/office/powerpoint/2010/main" val="1044706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47AE9-9482-EF3B-D5C4-B21FE288A61F}"/>
              </a:ext>
            </a:extLst>
          </p:cNvPr>
          <p:cNvSpPr>
            <a:spLocks noGrp="1"/>
          </p:cNvSpPr>
          <p:nvPr>
            <p:ph type="title"/>
          </p:nvPr>
        </p:nvSpPr>
        <p:spPr/>
        <p:txBody>
          <a:bodyPr>
            <a:noAutofit/>
          </a:bodyPr>
          <a:lstStyle/>
          <a:p>
            <a:r>
              <a:rPr lang="en-US" sz="2800" b="1" dirty="0">
                <a:latin typeface="Aptos" panose="020B0004020202020204" pitchFamily="34" charset="0"/>
              </a:rPr>
              <a:t>What is Data Governance?</a:t>
            </a:r>
            <a:br>
              <a:rPr lang="en-US" sz="2800" b="1" dirty="0">
                <a:latin typeface="Aptos" panose="020B0004020202020204" pitchFamily="34" charset="0"/>
              </a:rPr>
            </a:br>
            <a:r>
              <a:rPr lang="en-US" sz="2800" dirty="0">
                <a:latin typeface="Aptos" panose="020B0004020202020204" pitchFamily="34" charset="0"/>
              </a:rPr>
              <a:t>The Definition, Why We Need Rules, People vs. Technology</a:t>
            </a:r>
          </a:p>
        </p:txBody>
      </p:sp>
      <p:sp>
        <p:nvSpPr>
          <p:cNvPr id="3" name="Content Placeholder 2">
            <a:extLst>
              <a:ext uri="{FF2B5EF4-FFF2-40B4-BE49-F238E27FC236}">
                <a16:creationId xmlns:a16="http://schemas.microsoft.com/office/drawing/2014/main" id="{F7604ABD-FC15-8EED-9EDE-0F09BCAF9F41}"/>
              </a:ext>
            </a:extLst>
          </p:cNvPr>
          <p:cNvSpPr>
            <a:spLocks noGrp="1"/>
          </p:cNvSpPr>
          <p:nvPr>
            <p:ph idx="1"/>
          </p:nvPr>
        </p:nvSpPr>
        <p:spPr/>
        <p:txBody>
          <a:bodyPr/>
          <a:lstStyle/>
          <a:p>
            <a:r>
              <a:rPr lang="en-US" b="1" dirty="0">
                <a:latin typeface="Aptos" panose="020B0004020202020204" pitchFamily="34" charset="0"/>
              </a:rPr>
              <a:t>What is it?</a:t>
            </a:r>
            <a:r>
              <a:rPr lang="en-US" dirty="0">
                <a:latin typeface="Aptos" panose="020B0004020202020204" pitchFamily="34" charset="0"/>
              </a:rPr>
              <a:t> Data Governance is essentially the "rulebook" for how a company handles its information. It is a set of policies, rules, and procedures that ensure a company's data is accurate, completely secure, and used responsibly by everyone.</a:t>
            </a:r>
          </a:p>
          <a:p>
            <a:r>
              <a:rPr lang="en-US" b="1" dirty="0">
                <a:latin typeface="Aptos" panose="020B0004020202020204" pitchFamily="34" charset="0"/>
              </a:rPr>
              <a:t>Why Do We Need Rules?</a:t>
            </a:r>
            <a:r>
              <a:rPr lang="en-US" dirty="0">
                <a:latin typeface="Aptos" panose="020B0004020202020204" pitchFamily="34" charset="0"/>
              </a:rPr>
              <a:t> Today, businesses collect an overwhelming amount of data (like customer emails, financial records, and sales numbers). Without strict rules, this data becomes a chaotic, unorganized mess that is incredibly vulnerable to hackers and legal fines.</a:t>
            </a:r>
          </a:p>
          <a:p>
            <a:r>
              <a:rPr lang="en-US" b="1" dirty="0">
                <a:latin typeface="Aptos" panose="020B0004020202020204" pitchFamily="34" charset="0"/>
              </a:rPr>
              <a:t>People and Process (Not Just Tech):</a:t>
            </a:r>
            <a:r>
              <a:rPr lang="en-US" dirty="0">
                <a:latin typeface="Aptos" panose="020B0004020202020204" pitchFamily="34" charset="0"/>
              </a:rPr>
              <a:t> Data Governance is not simply a piece of software you buy. While technology helps, governance is primarily about people—assigning clear roles so everyone knows exactly who is allowed to create, edit, or view specific pieces of information.</a:t>
            </a:r>
          </a:p>
        </p:txBody>
      </p:sp>
    </p:spTree>
    <p:extLst>
      <p:ext uri="{BB962C8B-B14F-4D97-AF65-F5344CB8AC3E}">
        <p14:creationId xmlns:p14="http://schemas.microsoft.com/office/powerpoint/2010/main" val="143637712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97A25-9524-1444-5D2A-DC2567E491E0}"/>
              </a:ext>
            </a:extLst>
          </p:cNvPr>
          <p:cNvSpPr>
            <a:spLocks noGrp="1"/>
          </p:cNvSpPr>
          <p:nvPr>
            <p:ph type="title"/>
          </p:nvPr>
        </p:nvSpPr>
        <p:spPr/>
        <p:txBody>
          <a:bodyPr>
            <a:normAutofit/>
          </a:bodyPr>
          <a:lstStyle/>
          <a:p>
            <a:r>
              <a:rPr lang="en-US" sz="2800" b="1" dirty="0">
                <a:latin typeface="Aptos" panose="020B0004020202020204" pitchFamily="34" charset="0"/>
              </a:rPr>
              <a:t>What Does Data Governance Actually Do?</a:t>
            </a:r>
            <a:br>
              <a:rPr lang="en-US" sz="2800" b="1" dirty="0">
                <a:latin typeface="Aptos" panose="020B0004020202020204" pitchFamily="34" charset="0"/>
              </a:rPr>
            </a:br>
            <a:r>
              <a:rPr lang="en-US" sz="2800" dirty="0">
                <a:latin typeface="Aptos" panose="020B0004020202020204" pitchFamily="34" charset="0"/>
              </a:rPr>
              <a:t>Ensuring Quality, Maintaining Security, Legal Compliance</a:t>
            </a:r>
          </a:p>
        </p:txBody>
      </p:sp>
      <p:sp>
        <p:nvSpPr>
          <p:cNvPr id="3" name="Content Placeholder 2">
            <a:extLst>
              <a:ext uri="{FF2B5EF4-FFF2-40B4-BE49-F238E27FC236}">
                <a16:creationId xmlns:a16="http://schemas.microsoft.com/office/drawing/2014/main" id="{3B17F17A-C173-5E43-2D1D-5FDB3D3D4620}"/>
              </a:ext>
            </a:extLst>
          </p:cNvPr>
          <p:cNvSpPr>
            <a:spLocks noGrp="1"/>
          </p:cNvSpPr>
          <p:nvPr>
            <p:ph idx="1"/>
          </p:nvPr>
        </p:nvSpPr>
        <p:spPr/>
        <p:txBody>
          <a:bodyPr/>
          <a:lstStyle/>
          <a:p>
            <a:r>
              <a:rPr lang="en-US" b="1" dirty="0">
                <a:latin typeface="Aptos" panose="020B0004020202020204" pitchFamily="34" charset="0"/>
              </a:rPr>
              <a:t>Ensuring High Quality:</a:t>
            </a:r>
            <a:r>
              <a:rPr lang="en-US" dirty="0">
                <a:latin typeface="Aptos" panose="020B0004020202020204" pitchFamily="34" charset="0"/>
              </a:rPr>
              <a:t> Bad data leads to bad decisions. Governance sets strict standards to ensure the data a company relies on is clean, accurate, complete, and trustworthy.</a:t>
            </a:r>
          </a:p>
          <a:p>
            <a:r>
              <a:rPr lang="en-US" b="1" dirty="0">
                <a:latin typeface="Aptos" panose="020B0004020202020204" pitchFamily="34" charset="0"/>
              </a:rPr>
              <a:t>Maintaining Security:</a:t>
            </a:r>
            <a:r>
              <a:rPr lang="en-US" dirty="0">
                <a:latin typeface="Aptos" panose="020B0004020202020204" pitchFamily="34" charset="0"/>
              </a:rPr>
              <a:t> A major goal is protecting sensitive information. Governance dictates exactly who has access to what. For example, it ensures the marketing team cannot accidentally open a file containing the private medical records of employees.</a:t>
            </a:r>
          </a:p>
          <a:p>
            <a:r>
              <a:rPr lang="en-US" b="1" dirty="0">
                <a:latin typeface="Aptos" panose="020B0004020202020204" pitchFamily="34" charset="0"/>
              </a:rPr>
              <a:t>Legal Compliance:</a:t>
            </a:r>
            <a:r>
              <a:rPr lang="en-US" dirty="0">
                <a:latin typeface="Aptos" panose="020B0004020202020204" pitchFamily="34" charset="0"/>
              </a:rPr>
              <a:t> Governments around the world have strict laws about data privacy (like GDPR in Europe). A strong governance program ensures the company perfectly follows these complex legal rules, protecting the business from massive, multi-million-dollar lawsuits.</a:t>
            </a:r>
          </a:p>
        </p:txBody>
      </p:sp>
    </p:spTree>
    <p:extLst>
      <p:ext uri="{BB962C8B-B14F-4D97-AF65-F5344CB8AC3E}">
        <p14:creationId xmlns:p14="http://schemas.microsoft.com/office/powerpoint/2010/main" val="28113239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BA652-6AC8-B1ED-B590-10987BB0470B}"/>
              </a:ext>
            </a:extLst>
          </p:cNvPr>
          <p:cNvSpPr>
            <a:spLocks noGrp="1"/>
          </p:cNvSpPr>
          <p:nvPr>
            <p:ph type="title"/>
          </p:nvPr>
        </p:nvSpPr>
        <p:spPr/>
        <p:txBody>
          <a:bodyPr>
            <a:noAutofit/>
          </a:bodyPr>
          <a:lstStyle/>
          <a:p>
            <a:r>
              <a:rPr lang="en-US" sz="2800" b="1" dirty="0">
                <a:latin typeface="Aptos" panose="020B0004020202020204" pitchFamily="34" charset="0"/>
              </a:rPr>
              <a:t>Why Data Governance is Good for Business</a:t>
            </a:r>
            <a:br>
              <a:rPr lang="en-US" sz="2800" b="1" dirty="0">
                <a:latin typeface="Aptos" panose="020B0004020202020204" pitchFamily="34" charset="0"/>
              </a:rPr>
            </a:br>
            <a:r>
              <a:rPr lang="en-US" sz="2800" dirty="0">
                <a:latin typeface="Aptos" panose="020B0004020202020204" pitchFamily="34" charset="0"/>
              </a:rPr>
              <a:t>Building Trust, Better Decision-Making, Breaking Down “Silos”</a:t>
            </a:r>
          </a:p>
        </p:txBody>
      </p:sp>
      <p:sp>
        <p:nvSpPr>
          <p:cNvPr id="3" name="Content Placeholder 2">
            <a:extLst>
              <a:ext uri="{FF2B5EF4-FFF2-40B4-BE49-F238E27FC236}">
                <a16:creationId xmlns:a16="http://schemas.microsoft.com/office/drawing/2014/main" id="{95527E5D-D6B6-33DE-F30E-C0F96C28E756}"/>
              </a:ext>
            </a:extLst>
          </p:cNvPr>
          <p:cNvSpPr>
            <a:spLocks noGrp="1"/>
          </p:cNvSpPr>
          <p:nvPr>
            <p:ph idx="1"/>
          </p:nvPr>
        </p:nvSpPr>
        <p:spPr/>
        <p:txBody>
          <a:bodyPr/>
          <a:lstStyle/>
          <a:p>
            <a:r>
              <a:rPr lang="en-US" b="1" dirty="0">
                <a:latin typeface="Aptos" panose="020B0004020202020204" pitchFamily="34" charset="0"/>
              </a:rPr>
              <a:t>Building Trust:</a:t>
            </a:r>
            <a:r>
              <a:rPr lang="en-US" dirty="0">
                <a:latin typeface="Aptos" panose="020B0004020202020204" pitchFamily="34" charset="0"/>
              </a:rPr>
              <a:t> When a company has a solid governance program, its leaders never have to second-guess the numbers in their reports. Furthermore, customers trust the company more because they know their private information is being handled safely.</a:t>
            </a:r>
          </a:p>
          <a:p>
            <a:r>
              <a:rPr lang="en-US" b="1" dirty="0">
                <a:latin typeface="Aptos" panose="020B0004020202020204" pitchFamily="34" charset="0"/>
              </a:rPr>
              <a:t>Better Decision-Making:</a:t>
            </a:r>
            <a:r>
              <a:rPr lang="en-US" dirty="0">
                <a:latin typeface="Aptos" panose="020B0004020202020204" pitchFamily="34" charset="0"/>
              </a:rPr>
              <a:t> With clean, organized data, a business can spot trends, save money, and make smart, strategic decisions much faster than their competitors.</a:t>
            </a:r>
          </a:p>
          <a:p>
            <a:r>
              <a:rPr lang="en-US" b="1" dirty="0">
                <a:latin typeface="Aptos" panose="020B0004020202020204" pitchFamily="34" charset="0"/>
              </a:rPr>
              <a:t>Breaking Down Silos:</a:t>
            </a:r>
            <a:r>
              <a:rPr lang="en-US" dirty="0">
                <a:latin typeface="Aptos" panose="020B0004020202020204" pitchFamily="34" charset="0"/>
              </a:rPr>
              <a:t> In the past, different departments (like HR and Sales) would hoard their own data in isolated "silos." Governance forces the whole company to use the same standardized system, making it incredibly easy for teams to share information safely and work together as one unified group.</a:t>
            </a:r>
          </a:p>
        </p:txBody>
      </p:sp>
    </p:spTree>
    <p:extLst>
      <p:ext uri="{BB962C8B-B14F-4D97-AF65-F5344CB8AC3E}">
        <p14:creationId xmlns:p14="http://schemas.microsoft.com/office/powerpoint/2010/main" val="337989113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4B6BD-FD52-A1F0-A113-E04657FAE450}"/>
              </a:ext>
            </a:extLst>
          </p:cNvPr>
          <p:cNvSpPr>
            <a:spLocks noGrp="1"/>
          </p:cNvSpPr>
          <p:nvPr>
            <p:ph type="title"/>
          </p:nvPr>
        </p:nvSpPr>
        <p:spPr/>
        <p:txBody>
          <a:bodyPr>
            <a:normAutofit/>
          </a:bodyPr>
          <a:lstStyle/>
          <a:p>
            <a:r>
              <a:rPr lang="en-US" sz="2800" b="1" dirty="0">
                <a:latin typeface="Aptos" panose="020B0004020202020204" pitchFamily="34" charset="0"/>
              </a:rPr>
              <a:t>What is Data Governance?</a:t>
            </a:r>
            <a:br>
              <a:rPr lang="en-US" sz="2800" b="1" dirty="0">
                <a:latin typeface="Aptos" panose="020B0004020202020204" pitchFamily="34" charset="0"/>
              </a:rPr>
            </a:br>
            <a:r>
              <a:rPr lang="en-US" sz="2800" dirty="0">
                <a:latin typeface="Aptos" panose="020B0004020202020204" pitchFamily="34" charset="0"/>
              </a:rPr>
              <a:t>Definition, Data as an Asset, The “Rulebook” Concept</a:t>
            </a:r>
          </a:p>
        </p:txBody>
      </p:sp>
      <p:sp>
        <p:nvSpPr>
          <p:cNvPr id="3" name="Content Placeholder 2">
            <a:extLst>
              <a:ext uri="{FF2B5EF4-FFF2-40B4-BE49-F238E27FC236}">
                <a16:creationId xmlns:a16="http://schemas.microsoft.com/office/drawing/2014/main" id="{405D1BD2-E7A8-A9E9-B103-BDA2F5865790}"/>
              </a:ext>
            </a:extLst>
          </p:cNvPr>
          <p:cNvSpPr>
            <a:spLocks noGrp="1"/>
          </p:cNvSpPr>
          <p:nvPr>
            <p:ph idx="1"/>
          </p:nvPr>
        </p:nvSpPr>
        <p:spPr/>
        <p:txBody>
          <a:bodyPr/>
          <a:lstStyle/>
          <a:p>
            <a:r>
              <a:rPr lang="en-US" b="1" dirty="0">
                <a:latin typeface="Aptos" panose="020B0004020202020204" pitchFamily="34" charset="0"/>
              </a:rPr>
              <a:t>The Big Picture:</a:t>
            </a:r>
            <a:r>
              <a:rPr lang="en-US" dirty="0">
                <a:latin typeface="Aptos" panose="020B0004020202020204" pitchFamily="34" charset="0"/>
              </a:rPr>
              <a:t> Data Governance is a collection of rules, processes, and standards that a company uses to manage its information. It ensures that data is high-quality, secure, and easy to find.</a:t>
            </a:r>
          </a:p>
          <a:p>
            <a:r>
              <a:rPr lang="en-US" b="1" dirty="0">
                <a:latin typeface="Aptos" panose="020B0004020202020204" pitchFamily="34" charset="0"/>
              </a:rPr>
              <a:t>Data as an Asset:</a:t>
            </a:r>
            <a:r>
              <a:rPr lang="en-US" dirty="0">
                <a:latin typeface="Aptos" panose="020B0004020202020204" pitchFamily="34" charset="0"/>
              </a:rPr>
              <a:t> Just like a company looks after its money or its buildings, it must look after its data. Governance treats data as a valuable resource that needs to be protected and organized.</a:t>
            </a:r>
          </a:p>
          <a:p>
            <a:r>
              <a:rPr lang="en-US" b="1" dirty="0">
                <a:latin typeface="Aptos" panose="020B0004020202020204" pitchFamily="34" charset="0"/>
              </a:rPr>
              <a:t>The Rulebook:</a:t>
            </a:r>
            <a:r>
              <a:rPr lang="en-US" dirty="0">
                <a:latin typeface="Aptos" panose="020B0004020202020204" pitchFamily="34" charset="0"/>
              </a:rPr>
              <a:t> Think of it as a "master plan." It decides who is responsible for specific data, how that data should be stored, and who is allowed to see it. Without these rules, a company’s information becomes a messy and dangerous "data swamp."</a:t>
            </a:r>
          </a:p>
        </p:txBody>
      </p:sp>
    </p:spTree>
    <p:extLst>
      <p:ext uri="{BB962C8B-B14F-4D97-AF65-F5344CB8AC3E}">
        <p14:creationId xmlns:p14="http://schemas.microsoft.com/office/powerpoint/2010/main" val="14321554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50277-63AB-3CB5-5480-F8E12175B9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EBFD8E-D1BB-3572-626C-E2C97B7838B6}"/>
              </a:ext>
            </a:extLst>
          </p:cNvPr>
          <p:cNvSpPr>
            <a:spLocks noGrp="1"/>
          </p:cNvSpPr>
          <p:nvPr>
            <p:ph type="title"/>
          </p:nvPr>
        </p:nvSpPr>
        <p:spPr/>
        <p:txBody>
          <a:bodyPr>
            <a:normAutofit/>
          </a:bodyPr>
          <a:lstStyle/>
          <a:p>
            <a:r>
              <a:rPr lang="en-US" sz="2800" b="1" dirty="0">
                <a:latin typeface="Aptos" panose="020B0004020202020204" pitchFamily="34" charset="0"/>
              </a:rPr>
              <a:t>How Data Governance Works</a:t>
            </a:r>
            <a:br>
              <a:rPr lang="en-US" sz="2800" b="1" dirty="0">
                <a:latin typeface="Aptos" panose="020B0004020202020204" pitchFamily="34" charset="0"/>
              </a:rPr>
            </a:br>
            <a:r>
              <a:rPr lang="en-US" sz="2800" dirty="0">
                <a:latin typeface="Aptos" panose="020B0004020202020204" pitchFamily="34" charset="0"/>
              </a:rPr>
              <a:t>People, Processes, and Technology</a:t>
            </a:r>
          </a:p>
        </p:txBody>
      </p:sp>
      <p:sp>
        <p:nvSpPr>
          <p:cNvPr id="3" name="Content Placeholder 2">
            <a:extLst>
              <a:ext uri="{FF2B5EF4-FFF2-40B4-BE49-F238E27FC236}">
                <a16:creationId xmlns:a16="http://schemas.microsoft.com/office/drawing/2014/main" id="{07D9DB95-973A-BB03-7359-5D204E7A6117}"/>
              </a:ext>
            </a:extLst>
          </p:cNvPr>
          <p:cNvSpPr>
            <a:spLocks noGrp="1"/>
          </p:cNvSpPr>
          <p:nvPr>
            <p:ph idx="1"/>
          </p:nvPr>
        </p:nvSpPr>
        <p:spPr/>
        <p:txBody>
          <a:bodyPr/>
          <a:lstStyle/>
          <a:p>
            <a:r>
              <a:rPr lang="en-US" b="1" dirty="0">
                <a:latin typeface="Aptos" panose="020B0004020202020204" pitchFamily="34" charset="0"/>
              </a:rPr>
              <a:t>People:</a:t>
            </a:r>
            <a:r>
              <a:rPr lang="en-US" dirty="0">
                <a:latin typeface="Aptos" panose="020B0004020202020204" pitchFamily="34" charset="0"/>
              </a:rPr>
              <a:t> Governance isn't just for computers; it’s about people. It assigns roles like "Data Stewards" (who look after data quality) and "Data Owners" (who are responsible for the data's security).</a:t>
            </a:r>
          </a:p>
          <a:p>
            <a:r>
              <a:rPr lang="en-US" b="1" dirty="0">
                <a:latin typeface="Aptos" panose="020B0004020202020204" pitchFamily="34" charset="0"/>
              </a:rPr>
              <a:t>Processes:</a:t>
            </a:r>
            <a:r>
              <a:rPr lang="en-US" dirty="0">
                <a:latin typeface="Aptos" panose="020B0004020202020204" pitchFamily="34" charset="0"/>
              </a:rPr>
              <a:t> This refers to the actual steps taken to manage data. For example: How do we fix a typo in a customer’s address? How do we delete old files safely? Having a standard process ensures everyone does things the same way.</a:t>
            </a:r>
          </a:p>
          <a:p>
            <a:r>
              <a:rPr lang="en-US" b="1" dirty="0">
                <a:latin typeface="Aptos" panose="020B0004020202020204" pitchFamily="34" charset="0"/>
              </a:rPr>
              <a:t>Technology:</a:t>
            </a:r>
            <a:r>
              <a:rPr lang="en-US" dirty="0">
                <a:latin typeface="Aptos" panose="020B0004020202020204" pitchFamily="34" charset="0"/>
              </a:rPr>
              <a:t> These are the tools and software used to enforce the rules. This includes security software to block hackers, tools to automatically find errors in spreadsheets, and systems that track where data comes from.</a:t>
            </a:r>
          </a:p>
        </p:txBody>
      </p:sp>
    </p:spTree>
    <p:extLst>
      <p:ext uri="{BB962C8B-B14F-4D97-AF65-F5344CB8AC3E}">
        <p14:creationId xmlns:p14="http://schemas.microsoft.com/office/powerpoint/2010/main" val="291666537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8B260-C0F3-B76D-B785-5D46291996EA}"/>
              </a:ext>
            </a:extLst>
          </p:cNvPr>
          <p:cNvSpPr>
            <a:spLocks noGrp="1"/>
          </p:cNvSpPr>
          <p:nvPr>
            <p:ph type="title"/>
          </p:nvPr>
        </p:nvSpPr>
        <p:spPr/>
        <p:txBody>
          <a:bodyPr>
            <a:normAutofit/>
          </a:bodyPr>
          <a:lstStyle/>
          <a:p>
            <a:r>
              <a:rPr lang="en-US" sz="2800" b="1" dirty="0">
                <a:latin typeface="Aptos" panose="020B0004020202020204" pitchFamily="34" charset="0"/>
              </a:rPr>
              <a:t>The Benefits and Risks</a:t>
            </a:r>
            <a:br>
              <a:rPr lang="en-US" sz="2800" b="1" dirty="0">
                <a:latin typeface="Aptos" panose="020B0004020202020204" pitchFamily="34" charset="0"/>
              </a:rPr>
            </a:br>
            <a:r>
              <a:rPr lang="en-US" sz="2800" dirty="0">
                <a:latin typeface="Aptos" panose="020B0004020202020204" pitchFamily="34" charset="0"/>
              </a:rPr>
              <a:t>Better Decisions, Security, and Legal Compliance</a:t>
            </a:r>
          </a:p>
        </p:txBody>
      </p:sp>
      <p:sp>
        <p:nvSpPr>
          <p:cNvPr id="3" name="Content Placeholder 2">
            <a:extLst>
              <a:ext uri="{FF2B5EF4-FFF2-40B4-BE49-F238E27FC236}">
                <a16:creationId xmlns:a16="http://schemas.microsoft.com/office/drawing/2014/main" id="{455ADD8C-89CA-6B4A-1148-8E83D9A36A1F}"/>
              </a:ext>
            </a:extLst>
          </p:cNvPr>
          <p:cNvSpPr>
            <a:spLocks noGrp="1"/>
          </p:cNvSpPr>
          <p:nvPr>
            <p:ph idx="1"/>
          </p:nvPr>
        </p:nvSpPr>
        <p:spPr/>
        <p:txBody>
          <a:bodyPr>
            <a:normAutofit/>
          </a:bodyPr>
          <a:lstStyle/>
          <a:p>
            <a:r>
              <a:rPr lang="en-US" b="1" dirty="0">
                <a:latin typeface="Aptos" panose="020B0004020202020204" pitchFamily="34" charset="0"/>
              </a:rPr>
              <a:t>Making Better Choices:</a:t>
            </a:r>
            <a:r>
              <a:rPr lang="en-US" dirty="0">
                <a:latin typeface="Aptos" panose="020B0004020202020204" pitchFamily="34" charset="0"/>
              </a:rPr>
              <a:t> When data is clean and organized, business leaders can trust the reports they see. This leads to smarter decisions based on facts rather than guesses.</a:t>
            </a:r>
          </a:p>
          <a:p>
            <a:r>
              <a:rPr lang="en-US" b="1" dirty="0">
                <a:latin typeface="Aptos" panose="020B0004020202020204" pitchFamily="34" charset="0"/>
              </a:rPr>
              <a:t>Cybersecurity &amp; Privacy:</a:t>
            </a:r>
            <a:r>
              <a:rPr lang="en-US" dirty="0">
                <a:latin typeface="Aptos" panose="020B0004020202020204" pitchFamily="34" charset="0"/>
              </a:rPr>
              <a:t> Data Governance is a shield. It ensures that sensitive information (like credit card numbers or passwords) is encrypted and hidden from people who shouldn't see it.</a:t>
            </a:r>
          </a:p>
          <a:p>
            <a:r>
              <a:rPr lang="en-US" b="1" dirty="0">
                <a:latin typeface="Aptos" panose="020B0004020202020204" pitchFamily="34" charset="0"/>
              </a:rPr>
              <a:t>Staying Out of Trouble:</a:t>
            </a:r>
            <a:r>
              <a:rPr lang="en-US" dirty="0">
                <a:latin typeface="Aptos" panose="020B0004020202020204" pitchFamily="34" charset="0"/>
              </a:rPr>
              <a:t> Governments have strict laws about how companies handle personal info. Good governance ensures the company follows these laws, helping them avoid massive fines and protecting their reputation.</a:t>
            </a:r>
          </a:p>
          <a:p>
            <a:r>
              <a:rPr lang="en-US" b="1" dirty="0">
                <a:latin typeface="Aptos" panose="020B0004020202020204" pitchFamily="34" charset="0"/>
              </a:rPr>
              <a:t>Efficiency:</a:t>
            </a:r>
            <a:r>
              <a:rPr lang="en-US" dirty="0">
                <a:latin typeface="Aptos" panose="020B0004020202020204" pitchFamily="34" charset="0"/>
              </a:rPr>
              <a:t> Instead of employees wasting hours looking for the "correct" version of a file, governance makes sure the right information is always in the right place.</a:t>
            </a:r>
          </a:p>
        </p:txBody>
      </p:sp>
    </p:spTree>
    <p:extLst>
      <p:ext uri="{BB962C8B-B14F-4D97-AF65-F5344CB8AC3E}">
        <p14:creationId xmlns:p14="http://schemas.microsoft.com/office/powerpoint/2010/main" val="9400681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2F431-0C42-A701-E635-0150328AAEA4}"/>
              </a:ext>
            </a:extLst>
          </p:cNvPr>
          <p:cNvSpPr>
            <a:spLocks noGrp="1"/>
          </p:cNvSpPr>
          <p:nvPr>
            <p:ph type="title"/>
          </p:nvPr>
        </p:nvSpPr>
        <p:spPr/>
        <p:txBody>
          <a:bodyPr>
            <a:noAutofit/>
          </a:bodyPr>
          <a:lstStyle/>
          <a:p>
            <a:r>
              <a:rPr lang="en-US" sz="2800" b="1" dirty="0">
                <a:latin typeface="Aptos" panose="020B0004020202020204" pitchFamily="34" charset="0"/>
              </a:rPr>
              <a:t>What is a Data Governance Policy?</a:t>
            </a:r>
            <a:br>
              <a:rPr lang="en-US" sz="2800" b="1" dirty="0">
                <a:latin typeface="Aptos" panose="020B0004020202020204" pitchFamily="34" charset="0"/>
              </a:rPr>
            </a:br>
            <a:r>
              <a:rPr lang="en-US" sz="2800" dirty="0">
                <a:latin typeface="Aptos" panose="020B0004020202020204" pitchFamily="34" charset="0"/>
              </a:rPr>
              <a:t>The Definition, Why Policies Matter, The “Traffic Laws” of Data</a:t>
            </a:r>
          </a:p>
        </p:txBody>
      </p:sp>
      <p:sp>
        <p:nvSpPr>
          <p:cNvPr id="3" name="Content Placeholder 2">
            <a:extLst>
              <a:ext uri="{FF2B5EF4-FFF2-40B4-BE49-F238E27FC236}">
                <a16:creationId xmlns:a16="http://schemas.microsoft.com/office/drawing/2014/main" id="{88035271-1CC1-6AB3-4291-E5EA374356A3}"/>
              </a:ext>
            </a:extLst>
          </p:cNvPr>
          <p:cNvSpPr>
            <a:spLocks noGrp="1"/>
          </p:cNvSpPr>
          <p:nvPr>
            <p:ph idx="1"/>
          </p:nvPr>
        </p:nvSpPr>
        <p:spPr/>
        <p:txBody>
          <a:bodyPr/>
          <a:lstStyle/>
          <a:p>
            <a:r>
              <a:rPr lang="en-US" b="1" dirty="0">
                <a:latin typeface="Aptos" panose="020B0004020202020204" pitchFamily="34" charset="0"/>
              </a:rPr>
              <a:t>The Definition:</a:t>
            </a:r>
            <a:r>
              <a:rPr lang="en-US" dirty="0">
                <a:latin typeface="Aptos" panose="020B0004020202020204" pitchFamily="34" charset="0"/>
              </a:rPr>
              <a:t> A data governance policy is a formal, written document. It clearly states the absolute rules for how a company will manage, protect, and use its information.</a:t>
            </a:r>
          </a:p>
          <a:p>
            <a:r>
              <a:rPr lang="en-US" b="1" dirty="0">
                <a:latin typeface="Aptos" panose="020B0004020202020204" pitchFamily="34" charset="0"/>
              </a:rPr>
              <a:t>Why They Matter:</a:t>
            </a:r>
            <a:r>
              <a:rPr lang="en-US" dirty="0">
                <a:latin typeface="Aptos" panose="020B0004020202020204" pitchFamily="34" charset="0"/>
              </a:rPr>
              <a:t> Policies are not meant to slow people down; they exist to prevent chaos. Without clear, written rules, every employee will handle information differently, leading to massive errors, messy computer systems, and security risks.</a:t>
            </a:r>
          </a:p>
          <a:p>
            <a:r>
              <a:rPr lang="en-US" b="1" dirty="0">
                <a:latin typeface="Aptos" panose="020B0004020202020204" pitchFamily="34" charset="0"/>
              </a:rPr>
              <a:t>The "Traffic Laws" of Data:</a:t>
            </a:r>
            <a:r>
              <a:rPr lang="en-US" dirty="0">
                <a:latin typeface="Aptos" panose="020B0004020202020204" pitchFamily="34" charset="0"/>
              </a:rPr>
              <a:t> Think of these policies like traffic laws. They establish the speed limits and the stop signs for information. They clearly tell employees what they must do, what they should do, and what they are strictly forbidden from doing with company data.</a:t>
            </a:r>
          </a:p>
        </p:txBody>
      </p:sp>
    </p:spTree>
    <p:extLst>
      <p:ext uri="{BB962C8B-B14F-4D97-AF65-F5344CB8AC3E}">
        <p14:creationId xmlns:p14="http://schemas.microsoft.com/office/powerpoint/2010/main" val="256990540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A530E-B501-5F8A-87F9-7CDE4E2EBDE4}"/>
              </a:ext>
            </a:extLst>
          </p:cNvPr>
          <p:cNvSpPr>
            <a:spLocks noGrp="1"/>
          </p:cNvSpPr>
          <p:nvPr>
            <p:ph type="title"/>
          </p:nvPr>
        </p:nvSpPr>
        <p:spPr/>
        <p:txBody>
          <a:bodyPr>
            <a:noAutofit/>
          </a:bodyPr>
          <a:lstStyle/>
          <a:p>
            <a:r>
              <a:rPr lang="en-US" sz="2800" b="1" dirty="0">
                <a:latin typeface="Aptos" panose="020B0004020202020204" pitchFamily="34" charset="0"/>
              </a:rPr>
              <a:t>The Foundation of Data Governance</a:t>
            </a:r>
            <a:br>
              <a:rPr lang="en-US" sz="2800" b="1" dirty="0">
                <a:latin typeface="Aptos" panose="020B0004020202020204" pitchFamily="34" charset="0"/>
              </a:rPr>
            </a:br>
            <a:r>
              <a:rPr lang="en-US" sz="2800" dirty="0">
                <a:latin typeface="Aptos" panose="020B0004020202020204" pitchFamily="34" charset="0"/>
              </a:rPr>
              <a:t>Data Ownership, Data Quality, Data Security &amp; Privacy</a:t>
            </a:r>
          </a:p>
        </p:txBody>
      </p:sp>
      <p:sp>
        <p:nvSpPr>
          <p:cNvPr id="3" name="Content Placeholder 2">
            <a:extLst>
              <a:ext uri="{FF2B5EF4-FFF2-40B4-BE49-F238E27FC236}">
                <a16:creationId xmlns:a16="http://schemas.microsoft.com/office/drawing/2014/main" id="{F0E0031D-6CBE-897C-6550-650A5D747CD1}"/>
              </a:ext>
            </a:extLst>
          </p:cNvPr>
          <p:cNvSpPr>
            <a:spLocks noGrp="1"/>
          </p:cNvSpPr>
          <p:nvPr>
            <p:ph idx="1"/>
          </p:nvPr>
        </p:nvSpPr>
        <p:spPr/>
        <p:txBody>
          <a:bodyPr/>
          <a:lstStyle/>
          <a:p>
            <a:r>
              <a:rPr lang="en-US" b="1" dirty="0">
                <a:latin typeface="Aptos" panose="020B0004020202020204" pitchFamily="34" charset="0"/>
              </a:rPr>
              <a:t>Data Ownership and Stewardship:</a:t>
            </a:r>
            <a:r>
              <a:rPr lang="en-US" dirty="0">
                <a:latin typeface="Aptos" panose="020B0004020202020204" pitchFamily="34" charset="0"/>
              </a:rPr>
              <a:t> This policy answers the question: "Who is in charge?" It clearly assigns responsibility, stating exactly which employee or department is responsible for keeping specific sets of data accurate and safe.</a:t>
            </a:r>
          </a:p>
          <a:p>
            <a:r>
              <a:rPr lang="en-US" b="1" dirty="0">
                <a:latin typeface="Aptos" panose="020B0004020202020204" pitchFamily="34" charset="0"/>
              </a:rPr>
              <a:t>Data Quality Standards:</a:t>
            </a:r>
            <a:r>
              <a:rPr lang="en-US" dirty="0">
                <a:latin typeface="Aptos" panose="020B0004020202020204" pitchFamily="34" charset="0"/>
              </a:rPr>
              <a:t> This policy demands accuracy. It sets the rules for how data must be entered (e.g., "All phone numbers must include a specific area code format"). It ensures that the information the business relies on is clean and trustworthy.</a:t>
            </a:r>
          </a:p>
          <a:p>
            <a:r>
              <a:rPr lang="en-US" b="1" dirty="0">
                <a:latin typeface="Aptos" panose="020B0004020202020204" pitchFamily="34" charset="0"/>
              </a:rPr>
              <a:t>Data Security and Privacy:</a:t>
            </a:r>
            <a:r>
              <a:rPr lang="en-US" dirty="0">
                <a:latin typeface="Aptos" panose="020B0004020202020204" pitchFamily="34" charset="0"/>
              </a:rPr>
              <a:t> This is the most critical policy. It dictates exactly who is allowed to view sensitive information and explains the strict steps required to protect data from hackers or accidental leaks, ensuring the company obeys government privacy laws.</a:t>
            </a:r>
          </a:p>
        </p:txBody>
      </p:sp>
    </p:spTree>
    <p:extLst>
      <p:ext uri="{BB962C8B-B14F-4D97-AF65-F5344CB8AC3E}">
        <p14:creationId xmlns:p14="http://schemas.microsoft.com/office/powerpoint/2010/main" val="148583391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A8FBE-A70A-80A5-C75B-1347C013BAB1}"/>
              </a:ext>
            </a:extLst>
          </p:cNvPr>
          <p:cNvSpPr>
            <a:spLocks noGrp="1"/>
          </p:cNvSpPr>
          <p:nvPr>
            <p:ph type="title"/>
          </p:nvPr>
        </p:nvSpPr>
        <p:spPr/>
        <p:txBody>
          <a:bodyPr>
            <a:noAutofit/>
          </a:bodyPr>
          <a:lstStyle/>
          <a:p>
            <a:r>
              <a:rPr lang="en-US" sz="2800" b="1" dirty="0">
                <a:latin typeface="Aptos" panose="020B0004020202020204" pitchFamily="34" charset="0"/>
              </a:rPr>
              <a:t>How to Write and Enforce Good Policies</a:t>
            </a:r>
            <a:br>
              <a:rPr lang="en-US" sz="2800" b="1" dirty="0">
                <a:latin typeface="Aptos" panose="020B0004020202020204" pitchFamily="34" charset="0"/>
              </a:rPr>
            </a:br>
            <a:r>
              <a:rPr lang="en-US" sz="2800" dirty="0">
                <a:latin typeface="Aptos" panose="020B0004020202020204" pitchFamily="34" charset="0"/>
              </a:rPr>
              <a:t>Keep it Simple, Clear Consequences, Constant Review</a:t>
            </a:r>
          </a:p>
        </p:txBody>
      </p:sp>
      <p:sp>
        <p:nvSpPr>
          <p:cNvPr id="3" name="Content Placeholder 2">
            <a:extLst>
              <a:ext uri="{FF2B5EF4-FFF2-40B4-BE49-F238E27FC236}">
                <a16:creationId xmlns:a16="http://schemas.microsoft.com/office/drawing/2014/main" id="{3AFA7A05-4D04-A565-A1C7-F55C98571FAA}"/>
              </a:ext>
            </a:extLst>
          </p:cNvPr>
          <p:cNvSpPr>
            <a:spLocks noGrp="1"/>
          </p:cNvSpPr>
          <p:nvPr>
            <p:ph idx="1"/>
          </p:nvPr>
        </p:nvSpPr>
        <p:spPr/>
        <p:txBody>
          <a:bodyPr/>
          <a:lstStyle/>
          <a:p>
            <a:r>
              <a:rPr lang="en-US" b="1" dirty="0">
                <a:latin typeface="Aptos" panose="020B0004020202020204" pitchFamily="34" charset="0"/>
              </a:rPr>
              <a:t>Keep it Simple and Clear:</a:t>
            </a:r>
            <a:r>
              <a:rPr lang="en-US" dirty="0">
                <a:latin typeface="Aptos" panose="020B0004020202020204" pitchFamily="34" charset="0"/>
              </a:rPr>
              <a:t> A policy is useless if no one can understand it. Good data policies are written in plain, everyday language (not confusing "IT jargon") so that every worker in the company knows exactly what is expected of them.</a:t>
            </a:r>
          </a:p>
          <a:p>
            <a:r>
              <a:rPr lang="en-US" b="1" dirty="0">
                <a:latin typeface="Aptos" panose="020B0004020202020204" pitchFamily="34" charset="0"/>
              </a:rPr>
              <a:t>Clear Consequences:</a:t>
            </a:r>
            <a:r>
              <a:rPr lang="en-US" dirty="0">
                <a:latin typeface="Aptos" panose="020B0004020202020204" pitchFamily="34" charset="0"/>
              </a:rPr>
              <a:t> A rule without a consequence is just a suggestion. Strong policies clearly explain what will happen if an employee ignores the rules, ensuring that the entire company takes data protection seriously.</a:t>
            </a:r>
          </a:p>
          <a:p>
            <a:r>
              <a:rPr lang="en-US" b="1" dirty="0">
                <a:latin typeface="Aptos" panose="020B0004020202020204" pitchFamily="34" charset="0"/>
              </a:rPr>
              <a:t>Constant Review:</a:t>
            </a:r>
            <a:r>
              <a:rPr lang="en-US" dirty="0">
                <a:latin typeface="Aptos" panose="020B0004020202020204" pitchFamily="34" charset="0"/>
              </a:rPr>
              <a:t> Business technology changes rapidly. A policy written five years ago might be useless today. Companies must regularly review and update their data "rulebook" to keep up with new software, new business goals, and new legal requirements.</a:t>
            </a:r>
          </a:p>
        </p:txBody>
      </p:sp>
    </p:spTree>
    <p:extLst>
      <p:ext uri="{BB962C8B-B14F-4D97-AF65-F5344CB8AC3E}">
        <p14:creationId xmlns:p14="http://schemas.microsoft.com/office/powerpoint/2010/main" val="7724537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0B487-07F0-61F7-4804-3CD6ED68BDA1}"/>
              </a:ext>
            </a:extLst>
          </p:cNvPr>
          <p:cNvSpPr>
            <a:spLocks noGrp="1"/>
          </p:cNvSpPr>
          <p:nvPr>
            <p:ph type="title"/>
          </p:nvPr>
        </p:nvSpPr>
        <p:spPr/>
        <p:txBody>
          <a:bodyPr>
            <a:noAutofit/>
          </a:bodyPr>
          <a:lstStyle/>
          <a:p>
            <a:r>
              <a:rPr lang="en-US" sz="2800" b="1" dirty="0">
                <a:latin typeface="Aptos" panose="020B0004020202020204" pitchFamily="34" charset="0"/>
              </a:rPr>
              <a:t>What is Data Ethics and Why Does It Matter?</a:t>
            </a:r>
            <a:br>
              <a:rPr lang="en-US" sz="2800" b="1" dirty="0">
                <a:latin typeface="Aptos" panose="020B0004020202020204" pitchFamily="34" charset="0"/>
              </a:rPr>
            </a:br>
            <a:r>
              <a:rPr lang="en-US" sz="2800" dirty="0">
                <a:latin typeface="Aptos" panose="020B0004020202020204" pitchFamily="34" charset="0"/>
              </a:rPr>
              <a:t>The Definition of Data Ethics, Law vs. Ethics, The Five Core Principles</a:t>
            </a:r>
          </a:p>
        </p:txBody>
      </p:sp>
      <p:sp>
        <p:nvSpPr>
          <p:cNvPr id="3" name="Content Placeholder 2">
            <a:extLst>
              <a:ext uri="{FF2B5EF4-FFF2-40B4-BE49-F238E27FC236}">
                <a16:creationId xmlns:a16="http://schemas.microsoft.com/office/drawing/2014/main" id="{0B1FE700-B832-BB5C-7D86-5857BFDACDCB}"/>
              </a:ext>
            </a:extLst>
          </p:cNvPr>
          <p:cNvSpPr>
            <a:spLocks noGrp="1"/>
          </p:cNvSpPr>
          <p:nvPr>
            <p:ph idx="1"/>
          </p:nvPr>
        </p:nvSpPr>
        <p:spPr/>
        <p:txBody>
          <a:bodyPr/>
          <a:lstStyle/>
          <a:p>
            <a:r>
              <a:rPr lang="en-US" b="1" dirty="0">
                <a:latin typeface="Aptos" panose="020B0004020202020204" pitchFamily="34" charset="0"/>
              </a:rPr>
              <a:t>What is Data Ethics?</a:t>
            </a:r>
            <a:r>
              <a:rPr lang="en-US" dirty="0">
                <a:latin typeface="Aptos" panose="020B0004020202020204" pitchFamily="34" charset="0"/>
              </a:rPr>
              <a:t> It is a set of moral rules for how we collect, share, and use information. It focuses on doing what is "right," not just what is technically possible.</a:t>
            </a:r>
          </a:p>
          <a:p>
            <a:r>
              <a:rPr lang="en-US" b="1" dirty="0">
                <a:latin typeface="Aptos" panose="020B0004020202020204" pitchFamily="34" charset="0"/>
              </a:rPr>
              <a:t>Law vs. Ethics:</a:t>
            </a:r>
            <a:r>
              <a:rPr lang="en-US" dirty="0">
                <a:latin typeface="Aptos" panose="020B0004020202020204" pitchFamily="34" charset="0"/>
              </a:rPr>
              <a:t> Just because something is legal doesn't mean it is ethical. Data ethics asks: "Even if we can do this with the data, should we?“</a:t>
            </a:r>
          </a:p>
          <a:p>
            <a:r>
              <a:rPr lang="en-US" b="1" dirty="0">
                <a:latin typeface="Aptos" panose="020B0004020202020204" pitchFamily="34" charset="0"/>
              </a:rPr>
              <a:t>The Foundation:</a:t>
            </a:r>
            <a:r>
              <a:rPr lang="en-US" dirty="0">
                <a:latin typeface="Aptos" panose="020B0004020202020204" pitchFamily="34" charset="0"/>
              </a:rPr>
              <a:t> Good data ethics builds trust between a company and its customers. When people feel their information is handled with respect, they are more likely to support the business.</a:t>
            </a:r>
          </a:p>
        </p:txBody>
      </p:sp>
    </p:spTree>
    <p:extLst>
      <p:ext uri="{BB962C8B-B14F-4D97-AF65-F5344CB8AC3E}">
        <p14:creationId xmlns:p14="http://schemas.microsoft.com/office/powerpoint/2010/main" val="4803535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EC755-0F80-589F-57DD-42B89410BF70}"/>
              </a:ext>
            </a:extLst>
          </p:cNvPr>
          <p:cNvSpPr>
            <a:spLocks noGrp="1"/>
          </p:cNvSpPr>
          <p:nvPr>
            <p:ph type="title"/>
          </p:nvPr>
        </p:nvSpPr>
        <p:spPr/>
        <p:txBody>
          <a:bodyPr>
            <a:normAutofit/>
          </a:bodyPr>
          <a:lstStyle/>
          <a:p>
            <a:r>
              <a:rPr lang="en-US" sz="2800" b="1" dirty="0">
                <a:latin typeface="Aptos" panose="020B0004020202020204" pitchFamily="34" charset="0"/>
              </a:rPr>
              <a:t>Respecting the Individual</a:t>
            </a:r>
            <a:br>
              <a:rPr lang="en-US" sz="2800" b="1" dirty="0">
                <a:latin typeface="Aptos" panose="020B0004020202020204" pitchFamily="34" charset="0"/>
              </a:rPr>
            </a:br>
            <a:r>
              <a:rPr lang="en-US" sz="2800" dirty="0">
                <a:latin typeface="Aptos" panose="020B0004020202020204" pitchFamily="34" charset="0"/>
              </a:rPr>
              <a:t>Data Ownership, Transparency, and Privacy</a:t>
            </a:r>
          </a:p>
        </p:txBody>
      </p:sp>
      <p:sp>
        <p:nvSpPr>
          <p:cNvPr id="3" name="Content Placeholder 2">
            <a:extLst>
              <a:ext uri="{FF2B5EF4-FFF2-40B4-BE49-F238E27FC236}">
                <a16:creationId xmlns:a16="http://schemas.microsoft.com/office/drawing/2014/main" id="{C7D33268-DB3C-BB52-471A-4144C1044547}"/>
              </a:ext>
            </a:extLst>
          </p:cNvPr>
          <p:cNvSpPr>
            <a:spLocks noGrp="1"/>
          </p:cNvSpPr>
          <p:nvPr>
            <p:ph idx="1"/>
          </p:nvPr>
        </p:nvSpPr>
        <p:spPr/>
        <p:txBody>
          <a:bodyPr/>
          <a:lstStyle/>
          <a:p>
            <a:r>
              <a:rPr lang="en-US" b="1" dirty="0">
                <a:latin typeface="Aptos" panose="020B0004020202020204" pitchFamily="34" charset="0"/>
              </a:rPr>
              <a:t>Ownership:</a:t>
            </a:r>
            <a:r>
              <a:rPr lang="en-US" dirty="0">
                <a:latin typeface="Aptos" panose="020B0004020202020204" pitchFamily="34" charset="0"/>
              </a:rPr>
              <a:t> This is the idea that individuals own their own data. Companies should always ask for permission before collecting info and give people a way to "opt-out" if they change their minds.</a:t>
            </a:r>
          </a:p>
          <a:p>
            <a:r>
              <a:rPr lang="en-US" b="1" dirty="0">
                <a:latin typeface="Aptos" panose="020B0004020202020204" pitchFamily="34" charset="0"/>
              </a:rPr>
              <a:t>Transparency:</a:t>
            </a:r>
            <a:r>
              <a:rPr lang="en-US" dirty="0">
                <a:latin typeface="Aptos" panose="020B0004020202020204" pitchFamily="34" charset="0"/>
              </a:rPr>
              <a:t> Being honest is key. Companies must tell users exactly what data is being collected and, more importantly, how it will be used. There should be no "hidden" uses for information.</a:t>
            </a:r>
          </a:p>
          <a:p>
            <a:r>
              <a:rPr lang="en-US" b="1" dirty="0">
                <a:latin typeface="Aptos" panose="020B0004020202020204" pitchFamily="34" charset="0"/>
              </a:rPr>
              <a:t>Privacy:</a:t>
            </a:r>
            <a:r>
              <a:rPr lang="en-US" dirty="0">
                <a:latin typeface="Aptos" panose="020B0004020202020204" pitchFamily="34" charset="0"/>
              </a:rPr>
              <a:t> This is about protection. Information should only be seen by the people who need it to do their jobs. Personal details should be kept secret and scrambled (encrypted) so hackers cannot read them.</a:t>
            </a:r>
          </a:p>
        </p:txBody>
      </p:sp>
    </p:spTree>
    <p:extLst>
      <p:ext uri="{BB962C8B-B14F-4D97-AF65-F5344CB8AC3E}">
        <p14:creationId xmlns:p14="http://schemas.microsoft.com/office/powerpoint/2010/main" val="56002852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F267A-07A3-A30D-C410-08889DC67E34}"/>
              </a:ext>
            </a:extLst>
          </p:cNvPr>
          <p:cNvSpPr>
            <a:spLocks noGrp="1"/>
          </p:cNvSpPr>
          <p:nvPr>
            <p:ph type="title"/>
          </p:nvPr>
        </p:nvSpPr>
        <p:spPr/>
        <p:txBody>
          <a:bodyPr>
            <a:noAutofit/>
          </a:bodyPr>
          <a:lstStyle/>
          <a:p>
            <a:r>
              <a:rPr lang="en-US" sz="2800" b="1" dirty="0">
                <a:latin typeface="Aptos" panose="020B0004020202020204" pitchFamily="34" charset="0"/>
              </a:rPr>
              <a:t>Avoiding Bias and Being Accountable</a:t>
            </a:r>
            <a:br>
              <a:rPr lang="en-US" sz="2800" b="1" dirty="0">
                <a:latin typeface="Aptos" panose="020B0004020202020204" pitchFamily="34" charset="0"/>
              </a:rPr>
            </a:br>
            <a:r>
              <a:rPr lang="en-US" sz="2800" dirty="0">
                <a:latin typeface="Aptos" panose="020B0004020202020204" pitchFamily="34" charset="0"/>
              </a:rPr>
              <a:t>Intention and Outcomes, Algorithmic Bias, Accountability</a:t>
            </a:r>
          </a:p>
        </p:txBody>
      </p:sp>
      <p:sp>
        <p:nvSpPr>
          <p:cNvPr id="3" name="Content Placeholder 2">
            <a:extLst>
              <a:ext uri="{FF2B5EF4-FFF2-40B4-BE49-F238E27FC236}">
                <a16:creationId xmlns:a16="http://schemas.microsoft.com/office/drawing/2014/main" id="{CBD73BF3-733D-50D6-C9AF-97C29993E28B}"/>
              </a:ext>
            </a:extLst>
          </p:cNvPr>
          <p:cNvSpPr>
            <a:spLocks noGrp="1"/>
          </p:cNvSpPr>
          <p:nvPr>
            <p:ph idx="1"/>
          </p:nvPr>
        </p:nvSpPr>
        <p:spPr/>
        <p:txBody>
          <a:bodyPr/>
          <a:lstStyle/>
          <a:p>
            <a:r>
              <a:rPr lang="en-US" b="1" dirty="0">
                <a:latin typeface="Aptos" panose="020B0004020202020204" pitchFamily="34" charset="0"/>
              </a:rPr>
              <a:t>Intention and Outcomes:</a:t>
            </a:r>
            <a:r>
              <a:rPr lang="en-US" dirty="0">
                <a:latin typeface="Aptos" panose="020B0004020202020204" pitchFamily="34" charset="0"/>
              </a:rPr>
              <a:t> Before starting a project, a company must ask: "Is our goal to help the customer, or just to make money at their expense?" Even if the intention is good, they must also watch out for accidental bad outcomes.</a:t>
            </a:r>
          </a:p>
          <a:p>
            <a:r>
              <a:rPr lang="en-US" b="1" dirty="0">
                <a:latin typeface="Aptos" panose="020B0004020202020204" pitchFamily="34" charset="0"/>
              </a:rPr>
              <a:t>Algorithmic Bias:</a:t>
            </a:r>
            <a:r>
              <a:rPr lang="en-US" dirty="0">
                <a:latin typeface="Aptos" panose="020B0004020202020204" pitchFamily="34" charset="0"/>
              </a:rPr>
              <a:t> Sometimes, computer programs (AI) can be "unfair" if the data used to train them is one-sided. For example, a hiring tool might accidentally ignore women or certain ethnicities if it only looks at old data from the past.</a:t>
            </a:r>
          </a:p>
          <a:p>
            <a:r>
              <a:rPr lang="en-US" b="1" dirty="0">
                <a:latin typeface="Aptos" panose="020B0004020202020204" pitchFamily="34" charset="0"/>
              </a:rPr>
              <a:t>Accountability:</a:t>
            </a:r>
            <a:r>
              <a:rPr lang="en-US" dirty="0">
                <a:latin typeface="Aptos" panose="020B0004020202020204" pitchFamily="34" charset="0"/>
              </a:rPr>
              <a:t> If a mistake happens—like a data leak or a biased decision—the company must take responsibility. They should have a plan to fix the error, apologize to those affected, and ensure it never happens again.</a:t>
            </a:r>
          </a:p>
        </p:txBody>
      </p:sp>
    </p:spTree>
    <p:extLst>
      <p:ext uri="{BB962C8B-B14F-4D97-AF65-F5344CB8AC3E}">
        <p14:creationId xmlns:p14="http://schemas.microsoft.com/office/powerpoint/2010/main" val="226986709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48651-D3ED-EDDE-45E9-6C3CEF6607B3}"/>
              </a:ext>
            </a:extLst>
          </p:cNvPr>
          <p:cNvSpPr>
            <a:spLocks noGrp="1"/>
          </p:cNvSpPr>
          <p:nvPr>
            <p:ph type="title"/>
          </p:nvPr>
        </p:nvSpPr>
        <p:spPr/>
        <p:txBody>
          <a:bodyPr>
            <a:noAutofit/>
          </a:bodyPr>
          <a:lstStyle/>
          <a:p>
            <a:r>
              <a:rPr lang="en-US" sz="2800" b="1" dirty="0">
                <a:latin typeface="Aptos" panose="020B0004020202020204" pitchFamily="34" charset="0"/>
              </a:rPr>
              <a:t>What is Ethical Data Collection?</a:t>
            </a:r>
            <a:br>
              <a:rPr lang="en-US" sz="2800" b="1" dirty="0">
                <a:latin typeface="Aptos" panose="020B0004020202020204" pitchFamily="34" charset="0"/>
              </a:rPr>
            </a:br>
            <a:r>
              <a:rPr lang="en-US" sz="2800" dirty="0">
                <a:latin typeface="Aptos" panose="020B0004020202020204" pitchFamily="34" charset="0"/>
              </a:rPr>
              <a:t>The Definition, The Shift in Perspective, Why Trust Matters</a:t>
            </a:r>
          </a:p>
        </p:txBody>
      </p:sp>
      <p:sp>
        <p:nvSpPr>
          <p:cNvPr id="3" name="Content Placeholder 2">
            <a:extLst>
              <a:ext uri="{FF2B5EF4-FFF2-40B4-BE49-F238E27FC236}">
                <a16:creationId xmlns:a16="http://schemas.microsoft.com/office/drawing/2014/main" id="{BD940840-D282-5218-09AD-C328658A1E61}"/>
              </a:ext>
            </a:extLst>
          </p:cNvPr>
          <p:cNvSpPr>
            <a:spLocks noGrp="1"/>
          </p:cNvSpPr>
          <p:nvPr>
            <p:ph idx="1"/>
          </p:nvPr>
        </p:nvSpPr>
        <p:spPr/>
        <p:txBody>
          <a:bodyPr/>
          <a:lstStyle/>
          <a:p>
            <a:r>
              <a:rPr lang="en-US" b="1" dirty="0">
                <a:latin typeface="Aptos" panose="020B0004020202020204" pitchFamily="34" charset="0"/>
              </a:rPr>
              <a:t>The Basics:</a:t>
            </a:r>
            <a:r>
              <a:rPr lang="en-US" dirty="0">
                <a:latin typeface="Aptos" panose="020B0004020202020204" pitchFamily="34" charset="0"/>
              </a:rPr>
              <a:t> Ethical data collection is the practice of gathering information in a way that is honest, transparent, and respects the rights of the people providing that data. It is about doing the right thing, not just following the law.</a:t>
            </a:r>
          </a:p>
          <a:p>
            <a:r>
              <a:rPr lang="en-US" b="1" dirty="0">
                <a:latin typeface="Aptos" panose="020B0004020202020204" pitchFamily="34" charset="0"/>
              </a:rPr>
              <a:t>A New Priority:</a:t>
            </a:r>
            <a:r>
              <a:rPr lang="en-US" dirty="0">
                <a:latin typeface="Aptos" panose="020B0004020202020204" pitchFamily="34" charset="0"/>
              </a:rPr>
              <a:t> In the past, companies often tried to collect as much data as possible without thinking about the consequences. Today, people are much more aware of their digital footprints, making ethical practices a requirement for any successful business.</a:t>
            </a:r>
          </a:p>
          <a:p>
            <a:r>
              <a:rPr lang="en-US" b="1" dirty="0">
                <a:latin typeface="Aptos" panose="020B0004020202020204" pitchFamily="34" charset="0"/>
              </a:rPr>
              <a:t>The Foundation of Trust:</a:t>
            </a:r>
            <a:r>
              <a:rPr lang="en-US" dirty="0">
                <a:latin typeface="Aptos" panose="020B0004020202020204" pitchFamily="34" charset="0"/>
              </a:rPr>
              <a:t> When a company is open about how they collect and use information, it builds a strong bond with its customers. This trust makes people feel safe and more willing to share their information in the future.</a:t>
            </a:r>
          </a:p>
        </p:txBody>
      </p:sp>
    </p:spTree>
    <p:extLst>
      <p:ext uri="{BB962C8B-B14F-4D97-AF65-F5344CB8AC3E}">
        <p14:creationId xmlns:p14="http://schemas.microsoft.com/office/powerpoint/2010/main" val="158155421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C9747-FDE4-95C8-B464-F19059773F6A}"/>
              </a:ext>
            </a:extLst>
          </p:cNvPr>
          <p:cNvSpPr>
            <a:spLocks noGrp="1"/>
          </p:cNvSpPr>
          <p:nvPr>
            <p:ph type="title"/>
          </p:nvPr>
        </p:nvSpPr>
        <p:spPr/>
        <p:txBody>
          <a:bodyPr>
            <a:noAutofit/>
          </a:bodyPr>
          <a:lstStyle/>
          <a:p>
            <a:r>
              <a:rPr lang="en-US" sz="2800" b="1" dirty="0">
                <a:latin typeface="Aptos" panose="020B0004020202020204" pitchFamily="34" charset="0"/>
              </a:rPr>
              <a:t>How to Collect Data the Right Way</a:t>
            </a:r>
            <a:br>
              <a:rPr lang="en-US" sz="2800" b="1" dirty="0">
                <a:latin typeface="Aptos" panose="020B0004020202020204" pitchFamily="34" charset="0"/>
              </a:rPr>
            </a:br>
            <a:r>
              <a:rPr lang="en-US" sz="2800" dirty="0">
                <a:latin typeface="Aptos" panose="020B0004020202020204" pitchFamily="34" charset="0"/>
              </a:rPr>
              <a:t>Informed Consent, Transparency, Data Minimization</a:t>
            </a:r>
          </a:p>
        </p:txBody>
      </p:sp>
      <p:sp>
        <p:nvSpPr>
          <p:cNvPr id="3" name="Content Placeholder 2">
            <a:extLst>
              <a:ext uri="{FF2B5EF4-FFF2-40B4-BE49-F238E27FC236}">
                <a16:creationId xmlns:a16="http://schemas.microsoft.com/office/drawing/2014/main" id="{9E855CED-10ED-DBFC-AEC6-CD3F7B405026}"/>
              </a:ext>
            </a:extLst>
          </p:cNvPr>
          <p:cNvSpPr>
            <a:spLocks noGrp="1"/>
          </p:cNvSpPr>
          <p:nvPr>
            <p:ph idx="1"/>
          </p:nvPr>
        </p:nvSpPr>
        <p:spPr/>
        <p:txBody>
          <a:bodyPr/>
          <a:lstStyle/>
          <a:p>
            <a:r>
              <a:rPr lang="en-US" b="1" dirty="0">
                <a:latin typeface="Aptos" panose="020B0004020202020204" pitchFamily="34" charset="0"/>
              </a:rPr>
              <a:t>Informed Consent:</a:t>
            </a:r>
            <a:r>
              <a:rPr lang="en-US" dirty="0">
                <a:latin typeface="Aptos" panose="020B0004020202020204" pitchFamily="34" charset="0"/>
              </a:rPr>
              <a:t> You should never collect data in secret. Ethical collection means asking for permission first and clearly explaining what you are doing. Users should always have a choice to say "no.“</a:t>
            </a:r>
          </a:p>
          <a:p>
            <a:r>
              <a:rPr lang="en-US" b="1" dirty="0">
                <a:latin typeface="Aptos" panose="020B0004020202020204" pitchFamily="34" charset="0"/>
              </a:rPr>
              <a:t>Total Transparency:</a:t>
            </a:r>
            <a:r>
              <a:rPr lang="en-US" dirty="0">
                <a:latin typeface="Aptos" panose="020B0004020202020204" pitchFamily="34" charset="0"/>
              </a:rPr>
              <a:t> Companies must be clear about their intentions. This means providing easy-to-read privacy policies instead of long documents filled with confusing legal language. People should know exactly who is looking at their data and why.</a:t>
            </a:r>
          </a:p>
          <a:p>
            <a:r>
              <a:rPr lang="en-US" b="1" dirty="0">
                <a:latin typeface="Aptos" panose="020B0004020202020204" pitchFamily="34" charset="0"/>
              </a:rPr>
              <a:t>Data Minimization:</a:t>
            </a:r>
            <a:r>
              <a:rPr lang="en-US" dirty="0">
                <a:latin typeface="Aptos" panose="020B0004020202020204" pitchFamily="34" charset="0"/>
              </a:rPr>
              <a:t> Just because you can collect information doesn't mean you should. The ethical approach is to only collect the specific pieces of data you absolutely need to solve a problem or provide a service. This reduces the risk if a data leak ever happens.</a:t>
            </a:r>
          </a:p>
        </p:txBody>
      </p:sp>
    </p:spTree>
    <p:extLst>
      <p:ext uri="{BB962C8B-B14F-4D97-AF65-F5344CB8AC3E}">
        <p14:creationId xmlns:p14="http://schemas.microsoft.com/office/powerpoint/2010/main" val="126709465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E965F-2A35-5E40-15F3-73D4F1291C33}"/>
              </a:ext>
            </a:extLst>
          </p:cNvPr>
          <p:cNvSpPr>
            <a:spLocks noGrp="1"/>
          </p:cNvSpPr>
          <p:nvPr>
            <p:ph type="title"/>
          </p:nvPr>
        </p:nvSpPr>
        <p:spPr/>
        <p:txBody>
          <a:bodyPr>
            <a:noAutofit/>
          </a:bodyPr>
          <a:lstStyle/>
          <a:p>
            <a:r>
              <a:rPr lang="en-US" sz="2800" b="1" dirty="0">
                <a:latin typeface="Aptos" panose="020B0004020202020204" pitchFamily="34" charset="0"/>
              </a:rPr>
              <a:t>Why Ethical Data is Good for Business</a:t>
            </a:r>
            <a:br>
              <a:rPr lang="en-US" sz="2800" b="1" dirty="0">
                <a:latin typeface="Aptos" panose="020B0004020202020204" pitchFamily="34" charset="0"/>
              </a:rPr>
            </a:br>
            <a:r>
              <a:rPr lang="en-US" sz="2800" dirty="0">
                <a:latin typeface="Aptos" panose="020B0004020202020204" pitchFamily="34" charset="0"/>
              </a:rPr>
              <a:t>Protecting Your Reputation, Avoiding Legal Trouble, Better Information Quality</a:t>
            </a:r>
          </a:p>
        </p:txBody>
      </p:sp>
      <p:sp>
        <p:nvSpPr>
          <p:cNvPr id="3" name="Content Placeholder 2">
            <a:extLst>
              <a:ext uri="{FF2B5EF4-FFF2-40B4-BE49-F238E27FC236}">
                <a16:creationId xmlns:a16="http://schemas.microsoft.com/office/drawing/2014/main" id="{A46BCE43-08AA-43F2-30E9-60984FD68741}"/>
              </a:ext>
            </a:extLst>
          </p:cNvPr>
          <p:cNvSpPr>
            <a:spLocks noGrp="1"/>
          </p:cNvSpPr>
          <p:nvPr>
            <p:ph idx="1"/>
          </p:nvPr>
        </p:nvSpPr>
        <p:spPr/>
        <p:txBody>
          <a:bodyPr/>
          <a:lstStyle/>
          <a:p>
            <a:r>
              <a:rPr lang="en-US" b="1" dirty="0">
                <a:latin typeface="Aptos" panose="020B0004020202020204" pitchFamily="34" charset="0"/>
              </a:rPr>
              <a:t>Protecting Your Brand:</a:t>
            </a:r>
            <a:r>
              <a:rPr lang="en-US" dirty="0">
                <a:latin typeface="Aptos" panose="020B0004020202020204" pitchFamily="34" charset="0"/>
              </a:rPr>
              <a:t> One bad headline about a data scandal can ruin a company's reputation for years. By being ethical from the start, a business protects its "brand image" and keeps its customers loyal.</a:t>
            </a:r>
          </a:p>
          <a:p>
            <a:r>
              <a:rPr lang="en-US" b="1" dirty="0">
                <a:latin typeface="Aptos" panose="020B0004020202020204" pitchFamily="34" charset="0"/>
              </a:rPr>
              <a:t>Staying Safe Legally:</a:t>
            </a:r>
            <a:r>
              <a:rPr lang="en-US" dirty="0">
                <a:latin typeface="Aptos" panose="020B0004020202020204" pitchFamily="34" charset="0"/>
              </a:rPr>
              <a:t> Governments around the world have created strict rules (like GDPR) to protect citizens. Following ethical standards ensures a company is automatically following these laws, helping them avoid massive fines and court cases.</a:t>
            </a:r>
          </a:p>
          <a:p>
            <a:r>
              <a:rPr lang="en-US" b="1" dirty="0">
                <a:latin typeface="Aptos" panose="020B0004020202020204" pitchFamily="34" charset="0"/>
              </a:rPr>
              <a:t>Higher Quality Results:</a:t>
            </a:r>
            <a:r>
              <a:rPr lang="en-US" dirty="0">
                <a:latin typeface="Aptos" panose="020B0004020202020204" pitchFamily="34" charset="0"/>
              </a:rPr>
              <a:t> When people trust a company, they provide more accurate and honest information. This means the "clean" data the company collects is much more useful for making smart business decisions compared to data gathered through trickery or force.</a:t>
            </a:r>
          </a:p>
        </p:txBody>
      </p:sp>
    </p:spTree>
    <p:extLst>
      <p:ext uri="{BB962C8B-B14F-4D97-AF65-F5344CB8AC3E}">
        <p14:creationId xmlns:p14="http://schemas.microsoft.com/office/powerpoint/2010/main" val="42873922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14FCB-3433-5989-6A81-6392D8A77380}"/>
              </a:ext>
            </a:extLst>
          </p:cNvPr>
          <p:cNvSpPr>
            <a:spLocks noGrp="1"/>
          </p:cNvSpPr>
          <p:nvPr>
            <p:ph type="title"/>
          </p:nvPr>
        </p:nvSpPr>
        <p:spPr/>
        <p:txBody>
          <a:bodyPr>
            <a:normAutofit/>
          </a:bodyPr>
          <a:lstStyle/>
          <a:p>
            <a:r>
              <a:rPr lang="en-US" sz="2800" b="1" dirty="0">
                <a:latin typeface="Aptos" panose="020B0004020202020204" pitchFamily="34" charset="0"/>
              </a:rPr>
              <a:t>Respecting the individual</a:t>
            </a:r>
            <a:br>
              <a:rPr lang="en-US" sz="2800" b="1" dirty="0">
                <a:latin typeface="Aptos" panose="020B0004020202020204" pitchFamily="34" charset="0"/>
              </a:rPr>
            </a:br>
            <a:r>
              <a:rPr lang="en-US" sz="2800" dirty="0">
                <a:latin typeface="Aptos" panose="020B0004020202020204" pitchFamily="34" charset="0"/>
              </a:rPr>
              <a:t>Informed Consent, Transparency, Data Ownership</a:t>
            </a:r>
          </a:p>
        </p:txBody>
      </p:sp>
      <p:sp>
        <p:nvSpPr>
          <p:cNvPr id="3" name="Content Placeholder 2">
            <a:extLst>
              <a:ext uri="{FF2B5EF4-FFF2-40B4-BE49-F238E27FC236}">
                <a16:creationId xmlns:a16="http://schemas.microsoft.com/office/drawing/2014/main" id="{ECDCF8CD-2E4A-D805-2698-073979F5B6B4}"/>
              </a:ext>
            </a:extLst>
          </p:cNvPr>
          <p:cNvSpPr>
            <a:spLocks noGrp="1"/>
          </p:cNvSpPr>
          <p:nvPr>
            <p:ph idx="1"/>
          </p:nvPr>
        </p:nvSpPr>
        <p:spPr/>
        <p:txBody>
          <a:bodyPr/>
          <a:lstStyle/>
          <a:p>
            <a:r>
              <a:rPr lang="en-US" b="1" dirty="0">
                <a:latin typeface="Aptos" panose="020B0004020202020204" pitchFamily="34" charset="0"/>
              </a:rPr>
              <a:t>Asking for Permission (Informed Consent):</a:t>
            </a:r>
            <a:r>
              <a:rPr lang="en-US" dirty="0">
                <a:latin typeface="Aptos" panose="020B0004020202020204" pitchFamily="34" charset="0"/>
              </a:rPr>
              <a:t> Before collecting any information, a company must ask the person first. It is not enough to just have a button; the person needs to know exactly what they are agreeing to.</a:t>
            </a:r>
          </a:p>
          <a:p>
            <a:r>
              <a:rPr lang="en-US" b="1" dirty="0">
                <a:latin typeface="Aptos" panose="020B0004020202020204" pitchFamily="34" charset="0"/>
              </a:rPr>
              <a:t>Being Open (Transparency):</a:t>
            </a:r>
            <a:r>
              <a:rPr lang="en-US" dirty="0">
                <a:latin typeface="Aptos" panose="020B0004020202020204" pitchFamily="34" charset="0"/>
              </a:rPr>
              <a:t> Companies should never hide what they are doing with data. They must provide clear, simple explanations about why they need the information and where it is going. No secret tracking allowed!</a:t>
            </a:r>
          </a:p>
          <a:p>
            <a:r>
              <a:rPr lang="en-US" b="1" dirty="0">
                <a:latin typeface="Aptos" panose="020B0004020202020204" pitchFamily="34" charset="0"/>
              </a:rPr>
              <a:t>Who Owns the Data? (Ownership):</a:t>
            </a:r>
            <a:r>
              <a:rPr lang="en-US" dirty="0">
                <a:latin typeface="Aptos" panose="020B0004020202020204" pitchFamily="34" charset="0"/>
              </a:rPr>
              <a:t> This principle says that data belongs to the person it describes, not the company that collects it. If a person wants their data deleted or moved, the company should respect that choice.</a:t>
            </a:r>
          </a:p>
        </p:txBody>
      </p:sp>
    </p:spTree>
    <p:extLst>
      <p:ext uri="{BB962C8B-B14F-4D97-AF65-F5344CB8AC3E}">
        <p14:creationId xmlns:p14="http://schemas.microsoft.com/office/powerpoint/2010/main" val="24352840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96594-AAF4-9DC2-6695-CF67A641AA64}"/>
              </a:ext>
            </a:extLst>
          </p:cNvPr>
          <p:cNvSpPr>
            <a:spLocks noGrp="1"/>
          </p:cNvSpPr>
          <p:nvPr>
            <p:ph type="title"/>
          </p:nvPr>
        </p:nvSpPr>
        <p:spPr/>
        <p:txBody>
          <a:bodyPr>
            <a:normAutofit/>
          </a:bodyPr>
          <a:lstStyle/>
          <a:p>
            <a:r>
              <a:rPr lang="en-US" sz="2800" b="1" dirty="0">
                <a:latin typeface="Aptos" panose="020B0004020202020204" pitchFamily="34" charset="0"/>
              </a:rPr>
              <a:t>Keeping Information Safe and Accurate</a:t>
            </a:r>
            <a:br>
              <a:rPr lang="en-US" sz="2800" b="1" dirty="0">
                <a:latin typeface="Aptos" panose="020B0004020202020204" pitchFamily="34" charset="0"/>
              </a:rPr>
            </a:br>
            <a:r>
              <a:rPr lang="en-US" sz="2800" dirty="0">
                <a:latin typeface="Aptos" panose="020B0004020202020204" pitchFamily="34" charset="0"/>
              </a:rPr>
              <a:t>Data Privacy, Data Accuracy, Security</a:t>
            </a:r>
          </a:p>
        </p:txBody>
      </p:sp>
      <p:sp>
        <p:nvSpPr>
          <p:cNvPr id="3" name="Content Placeholder 2">
            <a:extLst>
              <a:ext uri="{FF2B5EF4-FFF2-40B4-BE49-F238E27FC236}">
                <a16:creationId xmlns:a16="http://schemas.microsoft.com/office/drawing/2014/main" id="{31664F30-922F-B67A-B1EF-91B62B862331}"/>
              </a:ext>
            </a:extLst>
          </p:cNvPr>
          <p:cNvSpPr>
            <a:spLocks noGrp="1"/>
          </p:cNvSpPr>
          <p:nvPr>
            <p:ph idx="1"/>
          </p:nvPr>
        </p:nvSpPr>
        <p:spPr/>
        <p:txBody>
          <a:bodyPr/>
          <a:lstStyle/>
          <a:p>
            <a:r>
              <a:rPr lang="en-US" b="1" dirty="0">
                <a:latin typeface="Aptos" panose="020B0004020202020204" pitchFamily="34" charset="0"/>
              </a:rPr>
              <a:t>Keeping Secrets (Privacy):</a:t>
            </a:r>
            <a:r>
              <a:rPr lang="en-US" dirty="0">
                <a:latin typeface="Aptos" panose="020B0004020202020204" pitchFamily="34" charset="0"/>
              </a:rPr>
              <a:t> Even if a company has permission to use data, they must protect the person’s identity. This means removing names or scrambling details so that hackers or strangers cannot figure out who the person is.</a:t>
            </a:r>
          </a:p>
          <a:p>
            <a:r>
              <a:rPr lang="en-US" b="1" dirty="0">
                <a:latin typeface="Aptos" panose="020B0004020202020204" pitchFamily="34" charset="0"/>
              </a:rPr>
              <a:t>The Importance of Truth (Accuracy):</a:t>
            </a:r>
            <a:r>
              <a:rPr lang="en-US" dirty="0">
                <a:latin typeface="Aptos" panose="020B0004020202020204" pitchFamily="34" charset="0"/>
              </a:rPr>
              <a:t> Collecting data is useless if the information is wrong. Companies must have a process to check that the data is correct and up-to-date. Using incorrect data can lead to unfair decisions that hurt people.</a:t>
            </a:r>
          </a:p>
          <a:p>
            <a:r>
              <a:rPr lang="en-US" b="1" dirty="0">
                <a:latin typeface="Aptos" panose="020B0004020202020204" pitchFamily="34" charset="0"/>
              </a:rPr>
              <a:t>Strong Protection (Security):</a:t>
            </a:r>
            <a:r>
              <a:rPr lang="en-US" dirty="0">
                <a:latin typeface="Aptos" panose="020B0004020202020204" pitchFamily="34" charset="0"/>
              </a:rPr>
              <a:t> Information must be locked away behind digital "walls." If a company collects your data, it is their job to make sure it doesn't get stolen or leaked.</a:t>
            </a:r>
          </a:p>
        </p:txBody>
      </p:sp>
    </p:spTree>
    <p:extLst>
      <p:ext uri="{BB962C8B-B14F-4D97-AF65-F5344CB8AC3E}">
        <p14:creationId xmlns:p14="http://schemas.microsoft.com/office/powerpoint/2010/main" val="395910433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76000-1AC3-1B90-81BC-0CB456F80137}"/>
              </a:ext>
            </a:extLst>
          </p:cNvPr>
          <p:cNvSpPr>
            <a:spLocks noGrp="1"/>
          </p:cNvSpPr>
          <p:nvPr>
            <p:ph type="title"/>
          </p:nvPr>
        </p:nvSpPr>
        <p:spPr/>
        <p:txBody>
          <a:bodyPr>
            <a:noAutofit/>
          </a:bodyPr>
          <a:lstStyle/>
          <a:p>
            <a:r>
              <a:rPr lang="en-US" sz="2800" b="1" dirty="0">
                <a:latin typeface="Aptos" panose="020B0004020202020204" pitchFamily="34" charset="0"/>
              </a:rPr>
              <a:t>Being Fair and Accountable</a:t>
            </a:r>
            <a:br>
              <a:rPr lang="en-US" sz="2800" b="1" dirty="0">
                <a:latin typeface="Aptos" panose="020B0004020202020204" pitchFamily="34" charset="0"/>
              </a:rPr>
            </a:br>
            <a:r>
              <a:rPr lang="en-US" sz="2800" dirty="0">
                <a:latin typeface="Aptos" panose="020B0004020202020204" pitchFamily="34" charset="0"/>
              </a:rPr>
              <a:t>Avoiding Bias, Taking Responsibility (Accountability)</a:t>
            </a:r>
          </a:p>
        </p:txBody>
      </p:sp>
      <p:sp>
        <p:nvSpPr>
          <p:cNvPr id="3" name="Content Placeholder 2">
            <a:extLst>
              <a:ext uri="{FF2B5EF4-FFF2-40B4-BE49-F238E27FC236}">
                <a16:creationId xmlns:a16="http://schemas.microsoft.com/office/drawing/2014/main" id="{0ABB201C-EFF2-EE8A-14F9-D6BAD54B4001}"/>
              </a:ext>
            </a:extLst>
          </p:cNvPr>
          <p:cNvSpPr>
            <a:spLocks noGrp="1"/>
          </p:cNvSpPr>
          <p:nvPr>
            <p:ph idx="1"/>
          </p:nvPr>
        </p:nvSpPr>
        <p:spPr/>
        <p:txBody>
          <a:bodyPr/>
          <a:lstStyle/>
          <a:p>
            <a:r>
              <a:rPr lang="en-US" b="1" dirty="0">
                <a:latin typeface="Aptos" panose="020B0004020202020204" pitchFamily="34" charset="0"/>
              </a:rPr>
              <a:t>Treating Everyone Fairly (Avoiding Bias):</a:t>
            </a:r>
            <a:r>
              <a:rPr lang="en-US" dirty="0">
                <a:latin typeface="Aptos" panose="020B0004020202020204" pitchFamily="34" charset="0"/>
              </a:rPr>
              <a:t> Data should not be used to discriminate against people based on things like their race, gender, or age. Companies must check their computer programs to make sure they aren't accidentally being "unfair" to certain groups of people.</a:t>
            </a:r>
          </a:p>
          <a:p>
            <a:r>
              <a:rPr lang="en-US" b="1" dirty="0">
                <a:latin typeface="Aptos" panose="020B0004020202020204" pitchFamily="34" charset="0"/>
              </a:rPr>
              <a:t>Taking Responsibility (Accountability):</a:t>
            </a:r>
            <a:r>
              <a:rPr lang="en-US" dirty="0">
                <a:latin typeface="Aptos" panose="020B0004020202020204" pitchFamily="34" charset="0"/>
              </a:rPr>
              <a:t> If something goes wrong—like a data leak or a mistake in a report—the company must own up to it. They need to have a clear person or team in charge who is responsible for fixing the problem.</a:t>
            </a:r>
          </a:p>
          <a:p>
            <a:r>
              <a:rPr lang="en-US" b="1" dirty="0">
                <a:latin typeface="Aptos" panose="020B0004020202020204" pitchFamily="34" charset="0"/>
              </a:rPr>
              <a:t>Doing Good, Not Just "Not Bad":</a:t>
            </a:r>
            <a:r>
              <a:rPr lang="en-US" dirty="0">
                <a:latin typeface="Aptos" panose="020B0004020202020204" pitchFamily="34" charset="0"/>
              </a:rPr>
              <a:t> Data ethics isn't just about avoiding trouble; it’s about using information to help people and make the world a better or more efficient place.</a:t>
            </a:r>
          </a:p>
        </p:txBody>
      </p:sp>
    </p:spTree>
    <p:extLst>
      <p:ext uri="{BB962C8B-B14F-4D97-AF65-F5344CB8AC3E}">
        <p14:creationId xmlns:p14="http://schemas.microsoft.com/office/powerpoint/2010/main" val="394424145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AAF13-38FA-CDA6-CE06-6E6040B99DA8}"/>
              </a:ext>
            </a:extLst>
          </p:cNvPr>
          <p:cNvSpPr>
            <a:spLocks noGrp="1"/>
          </p:cNvSpPr>
          <p:nvPr>
            <p:ph type="title"/>
          </p:nvPr>
        </p:nvSpPr>
        <p:spPr/>
        <p:txBody>
          <a:bodyPr>
            <a:normAutofit/>
          </a:bodyPr>
          <a:lstStyle/>
          <a:p>
            <a:r>
              <a:rPr lang="en-US" sz="2800" b="1" dirty="0">
                <a:latin typeface="Aptos" panose="020B0004020202020204" pitchFamily="34" charset="0"/>
              </a:rPr>
              <a:t>What are GDPR and CCPA?</a:t>
            </a:r>
            <a:br>
              <a:rPr lang="en-US" sz="2800" b="1" dirty="0">
                <a:latin typeface="Aptos" panose="020B0004020202020204" pitchFamily="34" charset="0"/>
              </a:rPr>
            </a:br>
            <a:r>
              <a:rPr lang="en-US" sz="2800" dirty="0">
                <a:latin typeface="Aptos" panose="020B0004020202020204" pitchFamily="34" charset="0"/>
              </a:rPr>
              <a:t>The Core Purpose, GDPR (Europe), CCPA (California) </a:t>
            </a:r>
          </a:p>
        </p:txBody>
      </p:sp>
      <p:sp>
        <p:nvSpPr>
          <p:cNvPr id="3" name="Content Placeholder 2">
            <a:extLst>
              <a:ext uri="{FF2B5EF4-FFF2-40B4-BE49-F238E27FC236}">
                <a16:creationId xmlns:a16="http://schemas.microsoft.com/office/drawing/2014/main" id="{607019F8-8513-17A5-921E-5C651FA2B17F}"/>
              </a:ext>
            </a:extLst>
          </p:cNvPr>
          <p:cNvSpPr>
            <a:spLocks noGrp="1"/>
          </p:cNvSpPr>
          <p:nvPr>
            <p:ph idx="1"/>
          </p:nvPr>
        </p:nvSpPr>
        <p:spPr/>
        <p:txBody>
          <a:bodyPr/>
          <a:lstStyle/>
          <a:p>
            <a:r>
              <a:rPr lang="en-US" b="1" dirty="0">
                <a:latin typeface="Aptos" panose="020B0004020202020204" pitchFamily="34" charset="0"/>
              </a:rPr>
              <a:t>The Big Picture:</a:t>
            </a:r>
            <a:r>
              <a:rPr lang="en-US" dirty="0">
                <a:latin typeface="Aptos" panose="020B0004020202020204" pitchFamily="34" charset="0"/>
              </a:rPr>
              <a:t> In the modern digital world, companies collect massive amounts of personal information. The GDPR and CCPA are two of the strictest laws in the world designed to protect everyday people and give them control over their own data.</a:t>
            </a:r>
          </a:p>
          <a:p>
            <a:r>
              <a:rPr lang="en-US" b="1" dirty="0">
                <a:latin typeface="Aptos" panose="020B0004020202020204" pitchFamily="34" charset="0"/>
              </a:rPr>
              <a:t>What is the GDPR?</a:t>
            </a:r>
            <a:r>
              <a:rPr lang="en-US" dirty="0">
                <a:latin typeface="Aptos" panose="020B0004020202020204" pitchFamily="34" charset="0"/>
              </a:rPr>
              <a:t> The General Data Protection Regulation (GDPR) is a massive privacy law created by the European Union (EU) in 2018. It protects anyone living in the EU, even if the company collecting their data is based in another country.</a:t>
            </a:r>
          </a:p>
          <a:p>
            <a:r>
              <a:rPr lang="en-US" b="1" dirty="0">
                <a:latin typeface="Aptos" panose="020B0004020202020204" pitchFamily="34" charset="0"/>
              </a:rPr>
              <a:t>What is the CCPA?</a:t>
            </a:r>
            <a:r>
              <a:rPr lang="en-US" dirty="0">
                <a:latin typeface="Aptos" panose="020B0004020202020204" pitchFamily="34" charset="0"/>
              </a:rPr>
              <a:t> The California Consumer Privacy Act (CCPA) is a state law passed in California in 2020. While it only applies to residents of California, because the state's economy is so large, it impacts businesses all over the United States.</a:t>
            </a:r>
          </a:p>
        </p:txBody>
      </p:sp>
    </p:spTree>
    <p:extLst>
      <p:ext uri="{BB962C8B-B14F-4D97-AF65-F5344CB8AC3E}">
        <p14:creationId xmlns:p14="http://schemas.microsoft.com/office/powerpoint/2010/main" val="340661967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5C3A6-16D1-82F9-514C-1DF3365DADFA}"/>
              </a:ext>
            </a:extLst>
          </p:cNvPr>
          <p:cNvSpPr>
            <a:spLocks noGrp="1"/>
          </p:cNvSpPr>
          <p:nvPr>
            <p:ph type="title"/>
          </p:nvPr>
        </p:nvSpPr>
        <p:spPr/>
        <p:txBody>
          <a:bodyPr>
            <a:noAutofit/>
          </a:bodyPr>
          <a:lstStyle/>
          <a:p>
            <a:r>
              <a:rPr lang="en-US" sz="2800" b="1" dirty="0">
                <a:latin typeface="Aptos" panose="020B0004020202020204" pitchFamily="34" charset="0"/>
              </a:rPr>
              <a:t>How Do They Differ?</a:t>
            </a:r>
            <a:br>
              <a:rPr lang="en-US" sz="2800" b="1" dirty="0">
                <a:latin typeface="Aptos" panose="020B0004020202020204" pitchFamily="34" charset="0"/>
              </a:rPr>
            </a:br>
            <a:r>
              <a:rPr lang="en-US" sz="2800" dirty="0">
                <a:latin typeface="Aptos" panose="020B0004020202020204" pitchFamily="34" charset="0"/>
              </a:rPr>
              <a:t>The Main Focus, Who Must Follow the Rules, Asking for Permission</a:t>
            </a:r>
          </a:p>
        </p:txBody>
      </p:sp>
      <p:sp>
        <p:nvSpPr>
          <p:cNvPr id="3" name="Content Placeholder 2">
            <a:extLst>
              <a:ext uri="{FF2B5EF4-FFF2-40B4-BE49-F238E27FC236}">
                <a16:creationId xmlns:a16="http://schemas.microsoft.com/office/drawing/2014/main" id="{1B27E29E-8FC4-F95A-21A2-1FE1B1E449BB}"/>
              </a:ext>
            </a:extLst>
          </p:cNvPr>
          <p:cNvSpPr>
            <a:spLocks noGrp="1"/>
          </p:cNvSpPr>
          <p:nvPr>
            <p:ph idx="1"/>
          </p:nvPr>
        </p:nvSpPr>
        <p:spPr>
          <a:xfrm>
            <a:off x="2589212" y="2133599"/>
            <a:ext cx="8915400" cy="4636851"/>
          </a:xfrm>
        </p:spPr>
        <p:txBody>
          <a:bodyPr>
            <a:normAutofit/>
          </a:bodyPr>
          <a:lstStyle/>
          <a:p>
            <a:r>
              <a:rPr lang="en-US" b="1" dirty="0">
                <a:latin typeface="Aptos" panose="020B0004020202020204" pitchFamily="34" charset="0"/>
              </a:rPr>
              <a:t>The Main Focus:</a:t>
            </a:r>
            <a:r>
              <a:rPr lang="en-US" dirty="0">
                <a:latin typeface="Aptos" panose="020B0004020202020204" pitchFamily="34" charset="0"/>
              </a:rPr>
              <a:t> The GDPR is broad; it protects the general "privacy rights" of individuals. The CCPA is more specific; it focuses heavily on stopping companies from selling a consumer’s private information to other businesses without permission.</a:t>
            </a:r>
          </a:p>
          <a:p>
            <a:r>
              <a:rPr lang="en-US" b="1" dirty="0">
                <a:latin typeface="Aptos" panose="020B0004020202020204" pitchFamily="34" charset="0"/>
              </a:rPr>
              <a:t>Who Must Follow the Rules?</a:t>
            </a:r>
          </a:p>
          <a:p>
            <a:pPr lvl="1"/>
            <a:r>
              <a:rPr lang="en-US" b="1" dirty="0">
                <a:latin typeface="Aptos" panose="020B0004020202020204" pitchFamily="34" charset="0"/>
              </a:rPr>
              <a:t>GDPR:</a:t>
            </a:r>
            <a:r>
              <a:rPr lang="en-US" dirty="0">
                <a:latin typeface="Aptos" panose="020B0004020202020204" pitchFamily="34" charset="0"/>
              </a:rPr>
              <a:t> Applies to almost every business, large or small, that collects data from people in the EU.</a:t>
            </a:r>
          </a:p>
          <a:p>
            <a:pPr lvl="1"/>
            <a:r>
              <a:rPr lang="en-US" b="1" dirty="0">
                <a:latin typeface="Aptos" panose="020B0004020202020204" pitchFamily="34" charset="0"/>
              </a:rPr>
              <a:t>CCPA:</a:t>
            </a:r>
            <a:r>
              <a:rPr lang="en-US" dirty="0">
                <a:latin typeface="Aptos" panose="020B0004020202020204" pitchFamily="34" charset="0"/>
              </a:rPr>
              <a:t> Generally only applies to medium or large businesses that make millions in revenue or buy/sell massive lists of consumer data.</a:t>
            </a:r>
          </a:p>
          <a:p>
            <a:r>
              <a:rPr lang="en-US" b="1" dirty="0">
                <a:latin typeface="Aptos" panose="020B0004020202020204" pitchFamily="34" charset="0"/>
              </a:rPr>
              <a:t>Asking for Permission (Opt-In vs. Opt-Out):</a:t>
            </a:r>
          </a:p>
          <a:p>
            <a:pPr lvl="1"/>
            <a:r>
              <a:rPr lang="en-US" b="1" dirty="0">
                <a:latin typeface="Aptos" panose="020B0004020202020204" pitchFamily="34" charset="0"/>
              </a:rPr>
              <a:t>GDPR (Opt-In):</a:t>
            </a:r>
            <a:r>
              <a:rPr lang="en-US" dirty="0">
                <a:latin typeface="Aptos" panose="020B0004020202020204" pitchFamily="34" charset="0"/>
              </a:rPr>
              <a:t> A company must ask for your explicit permission before they can collect your data.</a:t>
            </a:r>
          </a:p>
          <a:p>
            <a:pPr lvl="1"/>
            <a:r>
              <a:rPr lang="en-US" b="1" dirty="0">
                <a:latin typeface="Aptos" panose="020B0004020202020204" pitchFamily="34" charset="0"/>
              </a:rPr>
              <a:t>CCPA (Opt-Out):</a:t>
            </a:r>
            <a:r>
              <a:rPr lang="en-US" dirty="0">
                <a:latin typeface="Aptos" panose="020B0004020202020204" pitchFamily="34" charset="0"/>
              </a:rPr>
              <a:t> A company can collect your data without asking, but they must provide a clear link on their website allowing you to easily say "Do Not Sell My Personal Information."</a:t>
            </a:r>
          </a:p>
        </p:txBody>
      </p:sp>
    </p:spTree>
    <p:extLst>
      <p:ext uri="{BB962C8B-B14F-4D97-AF65-F5344CB8AC3E}">
        <p14:creationId xmlns:p14="http://schemas.microsoft.com/office/powerpoint/2010/main" val="422821475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F8436-E5C9-0184-4F48-1A422462634C}"/>
              </a:ext>
            </a:extLst>
          </p:cNvPr>
          <p:cNvSpPr>
            <a:spLocks noGrp="1"/>
          </p:cNvSpPr>
          <p:nvPr>
            <p:ph type="title"/>
          </p:nvPr>
        </p:nvSpPr>
        <p:spPr/>
        <p:txBody>
          <a:bodyPr>
            <a:noAutofit/>
          </a:bodyPr>
          <a:lstStyle/>
          <a:p>
            <a:r>
              <a:rPr lang="en-US" sz="2800" b="1" dirty="0">
                <a:latin typeface="Aptos" panose="020B0004020202020204" pitchFamily="34" charset="0"/>
              </a:rPr>
              <a:t>The Consequences and Commonalities</a:t>
            </a:r>
            <a:br>
              <a:rPr lang="en-US" sz="2800" b="1" dirty="0">
                <a:latin typeface="Aptos" panose="020B0004020202020204" pitchFamily="34" charset="0"/>
              </a:rPr>
            </a:br>
            <a:r>
              <a:rPr lang="en-US" sz="2800" dirty="0">
                <a:latin typeface="Aptos" panose="020B0004020202020204" pitchFamily="34" charset="0"/>
              </a:rPr>
              <a:t>Shared Rights, The Cost of Breaking the Law, Why Companies Must Care</a:t>
            </a:r>
          </a:p>
        </p:txBody>
      </p:sp>
      <p:sp>
        <p:nvSpPr>
          <p:cNvPr id="3" name="Content Placeholder 2">
            <a:extLst>
              <a:ext uri="{FF2B5EF4-FFF2-40B4-BE49-F238E27FC236}">
                <a16:creationId xmlns:a16="http://schemas.microsoft.com/office/drawing/2014/main" id="{D9FC146C-A10B-6935-64F6-FCE80AA3B601}"/>
              </a:ext>
            </a:extLst>
          </p:cNvPr>
          <p:cNvSpPr>
            <a:spLocks noGrp="1"/>
          </p:cNvSpPr>
          <p:nvPr>
            <p:ph idx="1"/>
          </p:nvPr>
        </p:nvSpPr>
        <p:spPr/>
        <p:txBody>
          <a:bodyPr>
            <a:normAutofit lnSpcReduction="10000"/>
          </a:bodyPr>
          <a:lstStyle/>
          <a:p>
            <a:r>
              <a:rPr lang="en-US" b="1" dirty="0">
                <a:latin typeface="Aptos" panose="020B0004020202020204" pitchFamily="34" charset="0"/>
              </a:rPr>
              <a:t>Shared Rights:</a:t>
            </a:r>
            <a:r>
              <a:rPr lang="en-US" dirty="0">
                <a:latin typeface="Aptos" panose="020B0004020202020204" pitchFamily="34" charset="0"/>
              </a:rPr>
              <a:t> Despite their differences, both laws give people similar superpowers over their data. Under both laws, you have the right to ask a company to show you exactly what data they have on you, and the right to demand they permanently delete it.</a:t>
            </a:r>
          </a:p>
          <a:p>
            <a:r>
              <a:rPr lang="en-US" b="1" dirty="0">
                <a:latin typeface="Aptos" panose="020B0004020202020204" pitchFamily="34" charset="0"/>
              </a:rPr>
              <a:t>The Cost of Breaking the Law:</a:t>
            </a:r>
            <a:r>
              <a:rPr lang="en-US" dirty="0">
                <a:latin typeface="Aptos" panose="020B0004020202020204" pitchFamily="34" charset="0"/>
              </a:rPr>
              <a:t> Both laws carry massive punishments for companies that ignore the rules.</a:t>
            </a:r>
          </a:p>
          <a:p>
            <a:pPr lvl="1"/>
            <a:r>
              <a:rPr lang="en-US" b="1" dirty="0">
                <a:latin typeface="Aptos" panose="020B0004020202020204" pitchFamily="34" charset="0"/>
              </a:rPr>
              <a:t>GDPR:</a:t>
            </a:r>
            <a:r>
              <a:rPr lang="en-US" dirty="0">
                <a:latin typeface="Aptos" panose="020B0004020202020204" pitchFamily="34" charset="0"/>
              </a:rPr>
              <a:t> Fines can reach up to €20 million or 4% of a company's total global revenue (which can mean billions for huge tech companies).</a:t>
            </a:r>
          </a:p>
          <a:p>
            <a:pPr lvl="1"/>
            <a:r>
              <a:rPr lang="en-US" b="1" dirty="0">
                <a:latin typeface="Aptos" panose="020B0004020202020204" pitchFamily="34" charset="0"/>
              </a:rPr>
              <a:t>CCPA:</a:t>
            </a:r>
            <a:r>
              <a:rPr lang="en-US" dirty="0">
                <a:latin typeface="Aptos" panose="020B0004020202020204" pitchFamily="34" charset="0"/>
              </a:rPr>
              <a:t> Fines are usually given "per violation," meaning thousands of dollars for every single customer record that was mishandled.</a:t>
            </a:r>
          </a:p>
          <a:p>
            <a:r>
              <a:rPr lang="en-US" b="1" dirty="0">
                <a:latin typeface="Aptos" panose="020B0004020202020204" pitchFamily="34" charset="0"/>
              </a:rPr>
              <a:t>Why Companies Must Care:</a:t>
            </a:r>
            <a:r>
              <a:rPr lang="en-US" dirty="0">
                <a:latin typeface="Aptos" panose="020B0004020202020204" pitchFamily="34" charset="0"/>
              </a:rPr>
              <a:t> Navigating these laws is complex. If a business operates globally or online, they often have to figure out how to obey both sets of rules simultaneously to protect their customers and their profits.</a:t>
            </a:r>
          </a:p>
        </p:txBody>
      </p:sp>
    </p:spTree>
    <p:extLst>
      <p:ext uri="{BB962C8B-B14F-4D97-AF65-F5344CB8AC3E}">
        <p14:creationId xmlns:p14="http://schemas.microsoft.com/office/powerpoint/2010/main" val="127985764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51317-5587-9ECD-6E71-D3819046E853}"/>
              </a:ext>
            </a:extLst>
          </p:cNvPr>
          <p:cNvSpPr>
            <a:spLocks noGrp="1"/>
          </p:cNvSpPr>
          <p:nvPr>
            <p:ph type="title"/>
          </p:nvPr>
        </p:nvSpPr>
        <p:spPr/>
        <p:txBody>
          <a:bodyPr>
            <a:noAutofit/>
          </a:bodyPr>
          <a:lstStyle/>
          <a:p>
            <a:r>
              <a:rPr lang="en-US" sz="2800" b="1" dirty="0">
                <a:latin typeface="Aptos" panose="020B0004020202020204" pitchFamily="34" charset="0"/>
              </a:rPr>
              <a:t>Moving Beyond Basic Rules: Compliance vs. Culture</a:t>
            </a:r>
            <a:br>
              <a:rPr lang="en-US" sz="2800" b="1" dirty="0">
                <a:latin typeface="Aptos" panose="020B0004020202020204" pitchFamily="34" charset="0"/>
              </a:rPr>
            </a:br>
            <a:r>
              <a:rPr lang="en-US" sz="2800" dirty="0">
                <a:latin typeface="Aptos" panose="020B0004020202020204" pitchFamily="34" charset="0"/>
              </a:rPr>
              <a:t>The Problem with “Checklists”, What is a Data Culture?, The Real Value</a:t>
            </a:r>
          </a:p>
        </p:txBody>
      </p:sp>
      <p:sp>
        <p:nvSpPr>
          <p:cNvPr id="3" name="Content Placeholder 2">
            <a:extLst>
              <a:ext uri="{FF2B5EF4-FFF2-40B4-BE49-F238E27FC236}">
                <a16:creationId xmlns:a16="http://schemas.microsoft.com/office/drawing/2014/main" id="{C87A5872-5D19-F2BD-E6D9-95E8571751E2}"/>
              </a:ext>
            </a:extLst>
          </p:cNvPr>
          <p:cNvSpPr>
            <a:spLocks noGrp="1"/>
          </p:cNvSpPr>
          <p:nvPr>
            <p:ph idx="1"/>
          </p:nvPr>
        </p:nvSpPr>
        <p:spPr/>
        <p:txBody>
          <a:bodyPr>
            <a:normAutofit/>
          </a:bodyPr>
          <a:lstStyle/>
          <a:p>
            <a:r>
              <a:rPr lang="en-US" b="1" dirty="0">
                <a:latin typeface="Aptos" panose="020B0004020202020204" pitchFamily="34" charset="0"/>
              </a:rPr>
              <a:t>The Problem with "Checklists":</a:t>
            </a:r>
            <a:r>
              <a:rPr lang="en-US" dirty="0">
                <a:latin typeface="Aptos" panose="020B0004020202020204" pitchFamily="34" charset="0"/>
              </a:rPr>
              <a:t> Many businesses treat data protection like a chore. They do the bare minimum required to pass a legal "checklist" (compliance) just to avoid getting fined by the government. However, this minimalist approach leaves the company vulnerable to mistakes and hacks.</a:t>
            </a:r>
          </a:p>
          <a:p>
            <a:r>
              <a:rPr lang="en-US" b="1" dirty="0">
                <a:latin typeface="Aptos" panose="020B0004020202020204" pitchFamily="34" charset="0"/>
              </a:rPr>
              <a:t>What is a Data Culture?</a:t>
            </a:r>
            <a:r>
              <a:rPr lang="en-US" dirty="0">
                <a:latin typeface="Aptos" panose="020B0004020202020204" pitchFamily="34" charset="0"/>
              </a:rPr>
              <a:t> True responsible data practice isn't just about following rules; it’s about building a company culture. It means every single employee—from the CEO to the intern—understands the value of privacy and naturally wants to protect customer information.</a:t>
            </a:r>
          </a:p>
          <a:p>
            <a:r>
              <a:rPr lang="en-US" b="1" dirty="0">
                <a:latin typeface="Aptos" panose="020B0004020202020204" pitchFamily="34" charset="0"/>
              </a:rPr>
              <a:t>The Real Value:</a:t>
            </a:r>
            <a:r>
              <a:rPr lang="en-US" dirty="0">
                <a:latin typeface="Aptos" panose="020B0004020202020204" pitchFamily="34" charset="0"/>
              </a:rPr>
              <a:t> Shifting from a checklist mentality to a cultural mindset builds massive trust with customers. When people know a company genuinely respects their privacy, they remain loyal, giving the business a massive advantage over its competitors.</a:t>
            </a:r>
          </a:p>
        </p:txBody>
      </p:sp>
    </p:spTree>
    <p:extLst>
      <p:ext uri="{BB962C8B-B14F-4D97-AF65-F5344CB8AC3E}">
        <p14:creationId xmlns:p14="http://schemas.microsoft.com/office/powerpoint/2010/main" val="259209855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52756-35A2-B5E9-26F6-418390B38D29}"/>
              </a:ext>
            </a:extLst>
          </p:cNvPr>
          <p:cNvSpPr>
            <a:spLocks noGrp="1"/>
          </p:cNvSpPr>
          <p:nvPr>
            <p:ph type="title"/>
          </p:nvPr>
        </p:nvSpPr>
        <p:spPr/>
        <p:txBody>
          <a:bodyPr>
            <a:normAutofit/>
          </a:bodyPr>
          <a:lstStyle/>
          <a:p>
            <a:r>
              <a:rPr lang="en-US" sz="2800" b="1" dirty="0">
                <a:latin typeface="Aptos" panose="020B0004020202020204" pitchFamily="34" charset="0"/>
              </a:rPr>
              <a:t>How to Build Responsible Data Practices</a:t>
            </a:r>
            <a:br>
              <a:rPr lang="en-US" sz="2800" b="1" dirty="0">
                <a:latin typeface="Aptos" panose="020B0004020202020204" pitchFamily="34" charset="0"/>
              </a:rPr>
            </a:br>
            <a:r>
              <a:rPr lang="en-US" sz="2800" dirty="0">
                <a:latin typeface="Aptos" panose="020B0004020202020204" pitchFamily="34" charset="0"/>
              </a:rPr>
              <a:t>Leadership, Clear Policies, Education</a:t>
            </a:r>
          </a:p>
        </p:txBody>
      </p:sp>
      <p:sp>
        <p:nvSpPr>
          <p:cNvPr id="3" name="Content Placeholder 2">
            <a:extLst>
              <a:ext uri="{FF2B5EF4-FFF2-40B4-BE49-F238E27FC236}">
                <a16:creationId xmlns:a16="http://schemas.microsoft.com/office/drawing/2014/main" id="{DA2F67CE-2E0B-866C-DF85-43D08DD7B99A}"/>
              </a:ext>
            </a:extLst>
          </p:cNvPr>
          <p:cNvSpPr>
            <a:spLocks noGrp="1"/>
          </p:cNvSpPr>
          <p:nvPr>
            <p:ph idx="1"/>
          </p:nvPr>
        </p:nvSpPr>
        <p:spPr/>
        <p:txBody>
          <a:bodyPr/>
          <a:lstStyle/>
          <a:p>
            <a:r>
              <a:rPr lang="en-US" b="1" dirty="0">
                <a:latin typeface="Aptos" panose="020B0004020202020204" pitchFamily="34" charset="0"/>
              </a:rPr>
              <a:t>It Starts at the Top:</a:t>
            </a:r>
            <a:r>
              <a:rPr lang="en-US" dirty="0">
                <a:latin typeface="Aptos" panose="020B0004020202020204" pitchFamily="34" charset="0"/>
              </a:rPr>
              <a:t> For a culture to change, the leaders must care. If the CEO and management team actively talk about privacy and treat it as a top priority, the rest of the employees will naturally follow their example.</a:t>
            </a:r>
          </a:p>
          <a:p>
            <a:r>
              <a:rPr lang="en-US" b="1" dirty="0">
                <a:latin typeface="Aptos" panose="020B0004020202020204" pitchFamily="34" charset="0"/>
              </a:rPr>
              <a:t>Clear, Simple Policies:</a:t>
            </a:r>
            <a:r>
              <a:rPr lang="en-US" dirty="0">
                <a:latin typeface="Aptos" panose="020B0004020202020204" pitchFamily="34" charset="0"/>
              </a:rPr>
              <a:t> Employees cannot follow the rules if the rules are confusing. Companies must throw out dense legal jargon and create simple, easy-to-read guidelines that explain exactly how to handle data safely every day.</a:t>
            </a:r>
          </a:p>
          <a:p>
            <a:r>
              <a:rPr lang="en-US" b="1" dirty="0">
                <a:latin typeface="Aptos" panose="020B0004020202020204" pitchFamily="34" charset="0"/>
              </a:rPr>
              <a:t>Education and Training:</a:t>
            </a:r>
            <a:r>
              <a:rPr lang="en-US" dirty="0">
                <a:latin typeface="Aptos" panose="020B0004020202020204" pitchFamily="34" charset="0"/>
              </a:rPr>
              <a:t> You cannot just give an employee a manual and expect perfection. Businesses must provide ongoing, engaging training to ensure every worker knows how to spot security threats (like phishing emails) and understands the ethical way to collect information.</a:t>
            </a:r>
          </a:p>
        </p:txBody>
      </p:sp>
    </p:spTree>
    <p:extLst>
      <p:ext uri="{BB962C8B-B14F-4D97-AF65-F5344CB8AC3E}">
        <p14:creationId xmlns:p14="http://schemas.microsoft.com/office/powerpoint/2010/main" val="14730279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3C07F-B4FB-AB05-356E-C8301C260D3D}"/>
              </a:ext>
            </a:extLst>
          </p:cNvPr>
          <p:cNvSpPr>
            <a:spLocks noGrp="1"/>
          </p:cNvSpPr>
          <p:nvPr>
            <p:ph type="title"/>
          </p:nvPr>
        </p:nvSpPr>
        <p:spPr/>
        <p:txBody>
          <a:bodyPr>
            <a:noAutofit/>
          </a:bodyPr>
          <a:lstStyle/>
          <a:p>
            <a:r>
              <a:rPr lang="en-US" sz="2800" b="1" dirty="0">
                <a:latin typeface="Aptos" panose="020B0004020202020204" pitchFamily="34" charset="0"/>
              </a:rPr>
              <a:t>Daily Habits for a Secure Future</a:t>
            </a:r>
            <a:br>
              <a:rPr lang="en-US" sz="2800" b="1" dirty="0">
                <a:latin typeface="Aptos" panose="020B0004020202020204" pitchFamily="34" charset="0"/>
              </a:rPr>
            </a:br>
            <a:r>
              <a:rPr lang="en-US" sz="2800" dirty="0">
                <a:latin typeface="Aptos" panose="020B0004020202020204" pitchFamily="34" charset="0"/>
              </a:rPr>
              <a:t>Privacy by Design, Data Minimization, Transparency</a:t>
            </a:r>
          </a:p>
        </p:txBody>
      </p:sp>
      <p:sp>
        <p:nvSpPr>
          <p:cNvPr id="3" name="Content Placeholder 2">
            <a:extLst>
              <a:ext uri="{FF2B5EF4-FFF2-40B4-BE49-F238E27FC236}">
                <a16:creationId xmlns:a16="http://schemas.microsoft.com/office/drawing/2014/main" id="{A473A644-2453-A02E-7035-723609A32D07}"/>
              </a:ext>
            </a:extLst>
          </p:cNvPr>
          <p:cNvSpPr>
            <a:spLocks noGrp="1"/>
          </p:cNvSpPr>
          <p:nvPr>
            <p:ph idx="1"/>
          </p:nvPr>
        </p:nvSpPr>
        <p:spPr/>
        <p:txBody>
          <a:bodyPr/>
          <a:lstStyle/>
          <a:p>
            <a:r>
              <a:rPr lang="en-US" b="1" dirty="0">
                <a:latin typeface="Aptos" panose="020B0004020202020204" pitchFamily="34" charset="0"/>
              </a:rPr>
              <a:t>Privacy by Design:</a:t>
            </a:r>
            <a:r>
              <a:rPr lang="en-US" dirty="0">
                <a:latin typeface="Aptos" panose="020B0004020202020204" pitchFamily="34" charset="0"/>
              </a:rPr>
              <a:t> This means privacy is built into the product from day one. Instead of creating a new app and adding security as an afterthought, engineers design the app so that privacy is the default setting for every user.</a:t>
            </a:r>
          </a:p>
          <a:p>
            <a:r>
              <a:rPr lang="en-US" b="1" dirty="0">
                <a:latin typeface="Aptos" panose="020B0004020202020204" pitchFamily="34" charset="0"/>
              </a:rPr>
              <a:t>Data Minimization:</a:t>
            </a:r>
            <a:r>
              <a:rPr lang="en-US" dirty="0">
                <a:latin typeface="Aptos" panose="020B0004020202020204" pitchFamily="34" charset="0"/>
              </a:rPr>
              <a:t> This is the habit of taking only what you need. If a company only needs a customer's email address to send a newsletter, they shouldn't ask for the customer's phone number or home address. Less data collected means less risk.</a:t>
            </a:r>
          </a:p>
          <a:p>
            <a:r>
              <a:rPr lang="en-US" b="1" dirty="0">
                <a:latin typeface="Aptos" panose="020B0004020202020204" pitchFamily="34" charset="0"/>
              </a:rPr>
              <a:t>Radical Transparency:</a:t>
            </a:r>
            <a:r>
              <a:rPr lang="en-US" dirty="0">
                <a:latin typeface="Aptos" panose="020B0004020202020204" pitchFamily="34" charset="0"/>
              </a:rPr>
              <a:t> A responsible culture isn't afraid of the truth. If a mistake happens or data is leaked, the company doesn't hide it. They act quickly, notify the affected customers immediately, and explain exactly how they plan to fix the problem.</a:t>
            </a:r>
          </a:p>
        </p:txBody>
      </p:sp>
    </p:spTree>
    <p:extLst>
      <p:ext uri="{BB962C8B-B14F-4D97-AF65-F5344CB8AC3E}">
        <p14:creationId xmlns:p14="http://schemas.microsoft.com/office/powerpoint/2010/main" val="248113687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7BB66-57CE-BF3F-74B3-42CAFDBBF7E5}"/>
              </a:ext>
            </a:extLst>
          </p:cNvPr>
          <p:cNvSpPr>
            <a:spLocks noGrp="1"/>
          </p:cNvSpPr>
          <p:nvPr>
            <p:ph type="title"/>
          </p:nvPr>
        </p:nvSpPr>
        <p:spPr>
          <a:xfrm>
            <a:off x="2592925" y="2266544"/>
            <a:ext cx="8911687" cy="3346316"/>
          </a:xfrm>
        </p:spPr>
        <p:txBody>
          <a:bodyPr>
            <a:normAutofit/>
          </a:bodyPr>
          <a:lstStyle/>
          <a:p>
            <a:pPr algn="ctr"/>
            <a:r>
              <a:rPr lang="en-US" sz="7200" dirty="0">
                <a:latin typeface="Aptos" panose="020B0004020202020204" pitchFamily="34" charset="0"/>
              </a:rPr>
              <a:t>Thank You</a:t>
            </a:r>
          </a:p>
        </p:txBody>
      </p:sp>
      <p:sp>
        <p:nvSpPr>
          <p:cNvPr id="3" name="Content Placeholder 2">
            <a:extLst>
              <a:ext uri="{FF2B5EF4-FFF2-40B4-BE49-F238E27FC236}">
                <a16:creationId xmlns:a16="http://schemas.microsoft.com/office/drawing/2014/main" id="{A3660017-61F0-5672-3B93-78F3EF85AB1F}"/>
              </a:ext>
            </a:extLst>
          </p:cNvPr>
          <p:cNvSpPr>
            <a:spLocks noGrp="1"/>
          </p:cNvSpPr>
          <p:nvPr>
            <p:ph idx="1"/>
          </p:nvPr>
        </p:nvSpPr>
        <p:spPr>
          <a:xfrm>
            <a:off x="2589212" y="5710136"/>
            <a:ext cx="8915400" cy="201086"/>
          </a:xfrm>
        </p:spPr>
        <p:txBody>
          <a:bodyPr>
            <a:normAutofit fontScale="40000" lnSpcReduction="20000"/>
          </a:bodyPr>
          <a:lstStyle/>
          <a:p>
            <a:endParaRPr lang="en-US" dirty="0"/>
          </a:p>
        </p:txBody>
      </p:sp>
    </p:spTree>
    <p:extLst>
      <p:ext uri="{BB962C8B-B14F-4D97-AF65-F5344CB8AC3E}">
        <p14:creationId xmlns:p14="http://schemas.microsoft.com/office/powerpoint/2010/main" val="157970190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3855</TotalTime>
  <Words>15905</Words>
  <Application>Microsoft Office PowerPoint</Application>
  <PresentationFormat>Widescreen</PresentationFormat>
  <Paragraphs>785</Paragraphs>
  <Slides>98</Slides>
  <Notes>96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98</vt:i4>
      </vt:variant>
    </vt:vector>
  </HeadingPairs>
  <TitlesOfParts>
    <vt:vector size="104" baseType="lpstr">
      <vt:lpstr>Aptos</vt:lpstr>
      <vt:lpstr>Arial</vt:lpstr>
      <vt:lpstr>Calibri</vt:lpstr>
      <vt:lpstr>Century Gothic</vt:lpstr>
      <vt:lpstr>Wingdings 3</vt:lpstr>
      <vt:lpstr>Wisp</vt:lpstr>
      <vt:lpstr>From Raw Data to Real Results How Technology and Ethics Drive Modern Business</vt:lpstr>
      <vt:lpstr>Table of Contents</vt:lpstr>
      <vt:lpstr>What is Information Technology (IT) ? IT Basics, Hardware vs. Software, The Importance of IT</vt:lpstr>
      <vt:lpstr>The Core Functions of IT IT Governance, IT Operations, Network &amp; Device Management</vt:lpstr>
      <vt:lpstr>Cybersecurity and Data Protection Cybersecurity, Data Access, Backup &amp; Recovery</vt:lpstr>
      <vt:lpstr>How IT Improves Daily Operations Efficiency, Communication, Data Management</vt:lpstr>
      <vt:lpstr>Reaching Customers and Beating the Competition Customer Engagement, Innovation, Supply Chain Management</vt:lpstr>
      <vt:lpstr>Protection and Cost Savings Cybersecurity, Risk Management, Cost Reduction</vt:lpstr>
      <vt:lpstr>What is Enterprise Resource Planning (ERP) ? The Definition of ERP, How It Works, The “Central Nervous System” of a Business</vt:lpstr>
      <vt:lpstr>The Benefits and Challenges of ERP Increased Efficiency, Better Teamwork, Common Weaknesses</vt:lpstr>
      <vt:lpstr>Different Systems for Different Needs Cloud vs. On-Premise, Small Business Options, ERP vs. CRM</vt:lpstr>
      <vt:lpstr>Why Business and Technology Need to Work Together What is “Alignment” ?, The Secret to Outperforming Competitors, The Big Question</vt:lpstr>
      <vt:lpstr>Different types of IT Strategies The “Essential” Strategy, The “Innovative” Strategy, Finding the Best Fit</vt:lpstr>
      <vt:lpstr>How to Achieve the Best Alignment The Study’s Big Finding, The Value of “Progressive” IT, The Main Takeaway</vt:lpstr>
      <vt:lpstr>Table of Contents</vt:lpstr>
      <vt:lpstr>Table of Contents</vt:lpstr>
      <vt:lpstr>Structured Data: The Organized Filling Cabinet What is Big Data ? Defining Structured Data, Strengths and Weaknesses</vt:lpstr>
      <vt:lpstr>Semi-Structured Data: The Best of Both Worlds Defining Semi-Structured Data, How It is Organized, Common Examples</vt:lpstr>
      <vt:lpstr>Unstructured Data: Free-Flowing Information Defining Unstructured Data, The Challenge of Searching, Common Examples</vt:lpstr>
      <vt:lpstr>Where Does Business Data Come From ? The Need for Data, Internal Data, Advantages of Internal Data</vt:lpstr>
      <vt:lpstr>Third-Party Analytics and External Data Third-Party Tools, External Data, Why Outside Information Matters</vt:lpstr>
      <vt:lpstr>Open Data and APIs Open Data, The Challenges of Free Data, Connecting Apps with APIs</vt:lpstr>
      <vt:lpstr>What is Data Collection ? The Definition, Why It Matters, Primary vs. Secondary Data</vt:lpstr>
      <vt:lpstr>How to Collect Data the Right Way Setting Goals, Finding Sources, Quality Control</vt:lpstr>
      <vt:lpstr>Popular Data Collection Methods Surveys, Interviews, Observation, Technology</vt:lpstr>
      <vt:lpstr>What is Data Lifecycle Management (DLM) ? The Definition of DLM, The Three Main Goals, Why It Matters</vt:lpstr>
      <vt:lpstr>The Journey of Data Collection, Storage &amp; Processing, Sharing, Archiving &amp; Deletion</vt:lpstr>
      <vt:lpstr>Making DLM Work for Business Key Strategies, The Big Benefits, Essential Tools</vt:lpstr>
      <vt:lpstr>Understanding Data Integrity vs. Data Quality What is Data Integrity ? What is Data Quality ? The Main Difference</vt:lpstr>
      <vt:lpstr>Measuring Quality and Protecting Integrity The Dimensions of Quality, Types of Integrity, Real-World Examples</vt:lpstr>
      <vt:lpstr>Best Practices for Data Management The Benefits, Cleaning Data, Security and Rules</vt:lpstr>
      <vt:lpstr>Table of Contents</vt:lpstr>
      <vt:lpstr>What is a Business Analyst ? The Core Role, Bridging the Gap, The Main Goal</vt:lpstr>
      <vt:lpstr>What Do Business Analysts Do Every Day ? Gathering Requirements, Defining Solutions, Data Analysis, Process Improvement</vt:lpstr>
      <vt:lpstr>How Business Analysts Make It Happen Clear Communication, Testing Solutions, Essential Tools</vt:lpstr>
      <vt:lpstr>What is a Business Analytics Professional ? The Core Focus, Business Analyst vs. Business Analytics Professional</vt:lpstr>
      <vt:lpstr>Top Skills Needed in Business Analytics Soft Skills (Personality Traits), Hard Skills (Technical Tools)</vt:lpstr>
      <vt:lpstr>The Four Types of Analytics Descriptive, Diagnostic, Predictive, Prescriptive</vt:lpstr>
      <vt:lpstr>Agile vs. Waterfall: The Basics What is Waterfall? What is Agile? The Main Focus</vt:lpstr>
      <vt:lpstr>How They Differ Day-to-Day Planning &amp; Scope, Speed &amp; Delivery, Flexibility &amp; Testing</vt:lpstr>
      <vt:lpstr>When to Use Agile vs. Waterfall Best Fit for Waterfall, Best Fit for Agile, The Final Decision</vt:lpstr>
      <vt:lpstr>What is Stakeholder Management? Who are Stakeholders? The True Definition, The Big Benefits</vt:lpstr>
      <vt:lpstr>Analyzing and Mapping Your Stakeholders Understanding Needs, Gathering Data, Stakeholder Mapping</vt:lpstr>
      <vt:lpstr>Creating Your Management Plan The Stakeholder Management Plan, Key Questions to Ask, Tracking Changes</vt:lpstr>
      <vt:lpstr>Table of Contents</vt:lpstr>
      <vt:lpstr>What is Raw Data? The Definition, Common Examples, Key Characteristics</vt:lpstr>
      <vt:lpstr>What is Processed Data? The Definition, How It Transforms, Key Characteristics</vt:lpstr>
      <vt:lpstr>The Key Difference and Real-World Value A Quick Comparison, The Importance of Processing, The Ultimate Goal</vt:lpstr>
      <vt:lpstr>Getting Started with Better Information Management The Core Challenge, Starting Small, Creating a Shared Vocabulary</vt:lpstr>
      <vt:lpstr>Embedding Rules and Building Good Habits Updating Tools, Governing the System, Information Hygiene</vt:lpstr>
      <vt:lpstr>Tracking Impact and Expanding the Strategy Measuring Data Quality, Measuring Business Value, Scaling UP</vt:lpstr>
      <vt:lpstr>The Power of Information in Decision Making Resource Allocation, Risk Management, Market &amp; Policy Decisions</vt:lpstr>
      <vt:lpstr>The Problem of “Asymmetric Information” The Definition, Adverse Selection, Moral Hazard</vt:lpstr>
      <vt:lpstr>Overcoming Information Challenges The Cost of Data, Screening and Signaling, Government Rules</vt:lpstr>
      <vt:lpstr>Table of Contents</vt:lpstr>
      <vt:lpstr>What is Data-Driven Decision-Making (DDDM)? The Definition, DDDM vs. Traditional Methods, The Core Benefits</vt:lpstr>
      <vt:lpstr>5 Steps to Implementing Data-Driven Decisions Finding the Need, Gathering Data, Taking Action </vt:lpstr>
      <vt:lpstr>How to Ensure Data Success Data Quality, The Role of Technology, Real-World Examples</vt:lpstr>
      <vt:lpstr>What is Data-Driven Decision Making (DDDM)? The Definition, The Problem with Guessing, The Main Benefits</vt:lpstr>
      <vt:lpstr>Getting Started: Goals and Data Gathering Defining the Goal, Making a Hypothesis, Identifying Data Needs</vt:lpstr>
      <vt:lpstr>Processing Information and Making the Call Collecting the Data, Analyzing Information, Making the Decision</vt:lpstr>
      <vt:lpstr>Understanding Data-Driven Decisions The Definition, “Gut Feelings” vs. Data, The Main Benefits</vt:lpstr>
      <vt:lpstr>How to Put Data into Action Asking the Right Questions, Collecting Data, Taking Action</vt:lpstr>
      <vt:lpstr>Data in Action and Who Makes It Happen Big Business Success Stories, Essential Data Careers</vt:lpstr>
      <vt:lpstr>The Hidden Traps of Using Data The Goal of DDDM, A False Sense of Security, The Importance of Quality</vt:lpstr>
      <vt:lpstr>Flaws in Analysis and Recommendations Flawed Analysis, The “Streetlight Effect”, Disconnected Advice</vt:lpstr>
      <vt:lpstr>Finding the Right Balance Forgetting Empathy, The Lack of Learning, Striking a Balance</vt:lpstr>
      <vt:lpstr>Table of Contents</vt:lpstr>
      <vt:lpstr>What is Scenario Analysis? The Definition, The Three Main Scenarios, Why It is Used</vt:lpstr>
      <vt:lpstr>Testing the Future and Managing Risk Testing “What-Ifs”, Managing Risk, Personal vs. Business Use</vt:lpstr>
      <vt:lpstr>The Strengths and Weaknesses of Scenario Analysis The Major Benefits, The Big Flaws, The Unpredictable Future</vt:lpstr>
      <vt:lpstr>Table of Contents</vt:lpstr>
      <vt:lpstr>Table of Contents</vt:lpstr>
      <vt:lpstr>What is Data Governance? The Definition, Why We Need Rules, People vs. Technology</vt:lpstr>
      <vt:lpstr>What Does Data Governance Actually Do? Ensuring Quality, Maintaining Security, Legal Compliance</vt:lpstr>
      <vt:lpstr>Why Data Governance is Good for Business Building Trust, Better Decision-Making, Breaking Down “Silos”</vt:lpstr>
      <vt:lpstr>What is Data Governance? Definition, Data as an Asset, The “Rulebook” Concept</vt:lpstr>
      <vt:lpstr>How Data Governance Works People, Processes, and Technology</vt:lpstr>
      <vt:lpstr>The Benefits and Risks Better Decisions, Security, and Legal Compliance</vt:lpstr>
      <vt:lpstr>What is a Data Governance Policy? The Definition, Why Policies Matter, The “Traffic Laws” of Data</vt:lpstr>
      <vt:lpstr>The Foundation of Data Governance Data Ownership, Data Quality, Data Security &amp; Privacy</vt:lpstr>
      <vt:lpstr>How to Write and Enforce Good Policies Keep it Simple, Clear Consequences, Constant Review</vt:lpstr>
      <vt:lpstr>What is Data Ethics and Why Does It Matter? The Definition of Data Ethics, Law vs. Ethics, The Five Core Principles</vt:lpstr>
      <vt:lpstr>Respecting the Individual Data Ownership, Transparency, and Privacy</vt:lpstr>
      <vt:lpstr>Avoiding Bias and Being Accountable Intention and Outcomes, Algorithmic Bias, Accountability</vt:lpstr>
      <vt:lpstr>What is Ethical Data Collection? The Definition, The Shift in Perspective, Why Trust Matters</vt:lpstr>
      <vt:lpstr>How to Collect Data the Right Way Informed Consent, Transparency, Data Minimization</vt:lpstr>
      <vt:lpstr>Why Ethical Data is Good for Business Protecting Your Reputation, Avoiding Legal Trouble, Better Information Quality</vt:lpstr>
      <vt:lpstr>Respecting the individual Informed Consent, Transparency, Data Ownership</vt:lpstr>
      <vt:lpstr>Keeping Information Safe and Accurate Data Privacy, Data Accuracy, Security</vt:lpstr>
      <vt:lpstr>Being Fair and Accountable Avoiding Bias, Taking Responsibility (Accountability)</vt:lpstr>
      <vt:lpstr>What are GDPR and CCPA? The Core Purpose, GDPR (Europe), CCPA (California) </vt:lpstr>
      <vt:lpstr>How Do They Differ? The Main Focus, Who Must Follow the Rules, Asking for Permission</vt:lpstr>
      <vt:lpstr>The Consequences and Commonalities Shared Rights, The Cost of Breaking the Law, Why Companies Must Care</vt:lpstr>
      <vt:lpstr>Moving Beyond Basic Rules: Compliance vs. Culture The Problem with “Checklists”, What is a Data Culture?, The Real Value</vt:lpstr>
      <vt:lpstr>How to Build Responsible Data Practices Leadership, Clear Policies, Education</vt:lpstr>
      <vt:lpstr>Daily Habits for a Secure Future Privacy by Design, Data Minimization, Transparency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SAMIRAN PARUA</dc:creator>
  <cp:lastModifiedBy>SAMIRAN PARUA</cp:lastModifiedBy>
  <cp:revision>5</cp:revision>
  <dcterms:created xsi:type="dcterms:W3CDTF">2026-05-09T11:31:24Z</dcterms:created>
  <dcterms:modified xsi:type="dcterms:W3CDTF">2026-05-13T19:40:09Z</dcterms:modified>
</cp:coreProperties>
</file>